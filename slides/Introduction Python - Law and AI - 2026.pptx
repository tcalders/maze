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ink/inkAction1.xml" ContentType="application/vnd.ms-office.inkAction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48" r:id="rId2"/>
  </p:sldMasterIdLst>
  <p:notesMasterIdLst>
    <p:notesMasterId r:id="rId111"/>
  </p:notesMasterIdLst>
  <p:sldIdLst>
    <p:sldId id="282" r:id="rId3"/>
    <p:sldId id="531" r:id="rId4"/>
    <p:sldId id="507" r:id="rId5"/>
    <p:sldId id="528" r:id="rId6"/>
    <p:sldId id="576" r:id="rId7"/>
    <p:sldId id="437" r:id="rId8"/>
    <p:sldId id="438" r:id="rId9"/>
    <p:sldId id="459" r:id="rId10"/>
    <p:sldId id="516" r:id="rId11"/>
    <p:sldId id="439" r:id="rId12"/>
    <p:sldId id="441" r:id="rId13"/>
    <p:sldId id="442" r:id="rId14"/>
    <p:sldId id="444" r:id="rId15"/>
    <p:sldId id="445" r:id="rId16"/>
    <p:sldId id="489" r:id="rId17"/>
    <p:sldId id="446" r:id="rId18"/>
    <p:sldId id="443" r:id="rId19"/>
    <p:sldId id="462" r:id="rId20"/>
    <p:sldId id="463" r:id="rId21"/>
    <p:sldId id="464" r:id="rId22"/>
    <p:sldId id="467" r:id="rId23"/>
    <p:sldId id="468" r:id="rId24"/>
    <p:sldId id="452" r:id="rId25"/>
    <p:sldId id="490" r:id="rId26"/>
    <p:sldId id="493" r:id="rId27"/>
    <p:sldId id="491" r:id="rId28"/>
    <p:sldId id="492" r:id="rId29"/>
    <p:sldId id="500" r:id="rId30"/>
    <p:sldId id="494" r:id="rId31"/>
    <p:sldId id="495" r:id="rId32"/>
    <p:sldId id="496" r:id="rId33"/>
    <p:sldId id="501" r:id="rId34"/>
    <p:sldId id="497" r:id="rId35"/>
    <p:sldId id="502" r:id="rId36"/>
    <p:sldId id="503" r:id="rId37"/>
    <p:sldId id="504" r:id="rId38"/>
    <p:sldId id="505" r:id="rId39"/>
    <p:sldId id="498" r:id="rId40"/>
    <p:sldId id="499" r:id="rId41"/>
    <p:sldId id="453" r:id="rId42"/>
    <p:sldId id="488" r:id="rId43"/>
    <p:sldId id="487" r:id="rId44"/>
    <p:sldId id="475" r:id="rId45"/>
    <p:sldId id="506" r:id="rId46"/>
    <p:sldId id="486" r:id="rId47"/>
    <p:sldId id="517" r:id="rId48"/>
    <p:sldId id="533" r:id="rId49"/>
    <p:sldId id="577" r:id="rId50"/>
    <p:sldId id="454" r:id="rId51"/>
    <p:sldId id="469" r:id="rId52"/>
    <p:sldId id="519" r:id="rId53"/>
    <p:sldId id="520" r:id="rId54"/>
    <p:sldId id="521" r:id="rId55"/>
    <p:sldId id="523" r:id="rId56"/>
    <p:sldId id="522" r:id="rId57"/>
    <p:sldId id="524" r:id="rId58"/>
    <p:sldId id="525" r:id="rId59"/>
    <p:sldId id="526" r:id="rId60"/>
    <p:sldId id="527" r:id="rId61"/>
    <p:sldId id="455" r:id="rId62"/>
    <p:sldId id="456" r:id="rId63"/>
    <p:sldId id="457" r:id="rId64"/>
    <p:sldId id="458" r:id="rId65"/>
    <p:sldId id="280" r:id="rId66"/>
    <p:sldId id="575" r:id="rId67"/>
    <p:sldId id="534" r:id="rId68"/>
    <p:sldId id="558" r:id="rId69"/>
    <p:sldId id="560" r:id="rId70"/>
    <p:sldId id="535" r:id="rId71"/>
    <p:sldId id="583" r:id="rId72"/>
    <p:sldId id="559" r:id="rId73"/>
    <p:sldId id="562" r:id="rId74"/>
    <p:sldId id="564" r:id="rId75"/>
    <p:sldId id="590" r:id="rId76"/>
    <p:sldId id="563" r:id="rId77"/>
    <p:sldId id="566" r:id="rId78"/>
    <p:sldId id="567" r:id="rId79"/>
    <p:sldId id="591" r:id="rId80"/>
    <p:sldId id="568" r:id="rId81"/>
    <p:sldId id="569" r:id="rId82"/>
    <p:sldId id="570" r:id="rId83"/>
    <p:sldId id="592" r:id="rId84"/>
    <p:sldId id="571" r:id="rId85"/>
    <p:sldId id="572" r:id="rId86"/>
    <p:sldId id="573" r:id="rId87"/>
    <p:sldId id="593" r:id="rId88"/>
    <p:sldId id="594" r:id="rId89"/>
    <p:sldId id="584" r:id="rId90"/>
    <p:sldId id="536" r:id="rId91"/>
    <p:sldId id="578" r:id="rId92"/>
    <p:sldId id="537" r:id="rId93"/>
    <p:sldId id="543" r:id="rId94"/>
    <p:sldId id="579" r:id="rId95"/>
    <p:sldId id="545" r:id="rId96"/>
    <p:sldId id="547" r:id="rId97"/>
    <p:sldId id="548" r:id="rId98"/>
    <p:sldId id="546" r:id="rId99"/>
    <p:sldId id="549" r:id="rId100"/>
    <p:sldId id="550" r:id="rId101"/>
    <p:sldId id="551" r:id="rId102"/>
    <p:sldId id="552" r:id="rId103"/>
    <p:sldId id="553" r:id="rId104"/>
    <p:sldId id="554" r:id="rId105"/>
    <p:sldId id="555" r:id="rId106"/>
    <p:sldId id="580" r:id="rId107"/>
    <p:sldId id="582" r:id="rId108"/>
    <p:sldId id="581" r:id="rId109"/>
    <p:sldId id="557" r:id="rId110"/>
  </p:sldIdLst>
  <p:sldSz cx="9144000" cy="6858000" type="screen4x3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54">
          <p15:clr>
            <a:srgbClr val="A4A3A4"/>
          </p15:clr>
        </p15:guide>
        <p15:guide id="2" orient="horz" pos="3838">
          <p15:clr>
            <a:srgbClr val="A4A3A4"/>
          </p15:clr>
        </p15:guide>
        <p15:guide id="3" pos="340">
          <p15:clr>
            <a:srgbClr val="A4A3A4"/>
          </p15:clr>
        </p15:guide>
        <p15:guide id="4" pos="5420">
          <p15:clr>
            <a:srgbClr val="A4A3A4"/>
          </p15:clr>
        </p15:guide>
        <p15:guide id="5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Objects="1" showGuides="1">
      <p:cViewPr varScale="1">
        <p:scale>
          <a:sx n="74" d="100"/>
          <a:sy n="74" d="100"/>
        </p:scale>
        <p:origin x="1714" y="58"/>
      </p:cViewPr>
      <p:guideLst>
        <p:guide orient="horz" pos="754"/>
        <p:guide orient="horz" pos="3838"/>
        <p:guide pos="340"/>
        <p:guide pos="54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presProps" Target="presProps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viewProps" Target="viewProps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14" Type="http://schemas.openxmlformats.org/officeDocument/2006/relationships/theme" Target="theme/theme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1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tableStyles" Target="tableStyle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04T10:14:52.83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31,'60'0,"219"10,-188-3,110-6,-92-2,-40 1,81-1,-78-6,10-1,65 8,23-1,-23-14,51-1,485 17,-668-1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04T10:14:56.63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35,'5'0,"0"-1,0 0,0 0,0 0,8-3,10-3,20-1,0 2,43 1,91 6,-62 1,-35-3,92 2,-98 7,18 1,66-11,103 3,-231 2,0 2,33 8,11 3,29 7,-7 0,-89-22,40 8,1-2,68 1,-73-9,76 10,6 0,-15-2,-29 0,110-6,-90-3,1713 2,-1797 0,33-7,3 0,193 4,-138 4,-94-1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04T10:15:00.32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1,'116'7,"-17"0,-77-6,1 0,-1 2,29 6,-23-3,0-1,0-1,0-1,37-2,-11-2,95 2,-90 6,-33-3,31 0,-14-4,8 0,73 8,-83-4,70-2,-71-2,74 7,-65-2,87-2,-7-1,-106 1,38 9,-42-7,0-1,39 3,-38-8,-14 1,1 0,0 0,-1 0,1 1,-1 0,1 0,-1 1,0-1,10 5,-4-1,1 0,1-1,-1-1,21 3,-1 0,-3-2,0-1,0-1,43-4,-11 0,9 1,87 3,-106 5,14 0,376-5,-226-3,-188 1,-12 1,0-1,0-1,0 0,0-1,-1 0,27-8,-21 2,1 2,0 1,1 0,30-1,92 4,-137 2,58 1,171-2,-162-6,36-2,-74 9,-21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04T10:15:17.124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48,'437'0,"-336"-7,-15-1,248 7,-172 2,-146-2,0-1,0 0,25-8,-20 5,25-3,191 3,-135 7,238-2,-329 0,-1 1,20 5,11 1,-15-4,32 9,21 3,30-11,-73-4,-1 2,67 11,-70-7,0-1,43 0,66-5,-53-1,1331 1,-1395-2,34-5,11 0,287 5,-182 3,945-1,-1101 1,33 6,9 1,9-6,67 6,-84-1,-1 0,68 1,1039-10,-639 3,-504-1</inkml:trace>
</inkml:ink>
</file>

<file path=ppt/ink/inkAction1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6-14T12:51:10.877"/>
    </inkml:context>
    <inkml:brush xml:id="br0">
      <inkml:brushProperty name="width" value="0.05292" units="cm"/>
      <inkml:brushProperty name="height" value="0.05292" units="cm"/>
    </inkml:brush>
  </inkml:definitions>
  <iact:action type="add" startTime="12002">
    <iact:property name="dataType"/>
    <iact:actionData xml:id="d0">
      <inkml:trace xmlns:inkml="http://www.w3.org/2003/InkML" xml:id="stk0" contextRef="#ctx0" brushRef="#br0">8584 10622 7359 0,'0'0'656'2,"0"0"-528"20,0 0-128-21,0 0 0-1,0 0 1440 0,0 0 256 0,0 0 48 0,0 0 16 4,0 0-880-4,0 0-176 10,0 0-48-10,0 0 0 7,-8-2-240-7,8 2-48 8,0 0-16-8,-10 0 0 6,10 0 160-6,-11 0 16 9,11 0 16-8,0 0 0 5,0 0 64-6,0 0 16 8,0 0 0-8,0 0 0 5,0 0 192-5,0 0 32 10,0 0 16-9,0 0 0 4,0 0-32-5,0 0-16 8,0 0 0-8,0 0 0 9,0 0-368-9,14-4-64 7,-2 1 0-7,2 1-16 6,-2 2-176-5,5 0-48 6,-1 0 0-7,4 2 0 7,-1 1-144-6,0-2 0 9,3-1 0-10,1 2 128 13,3 1-128-12,-1-3 160-1,1-2-160 0,4 1 160 6,2-1 48-4,6-1 16 5,2-1 0-7,1 1 0 6,-2-3 928-6,3 1 192 10,6 0 48-9,0 1 0 16,-1-2-1744-16,0 0-352 0,-5 0-64 2,-2 1 0-3,-1-3 768 0,-1 3 352 11,5-1-32-10,-1 1 0-1,-2 0 80 0,-3-1 16 10,-1 0 0-10,1 0 0 5,-3 2 64-4,3 0 16 6,-7 1 0-7,2 0 0 8,-6 0 48-7,0 0 16 5,-1 0 0-5,-2 0 0 7,-1-3-80-8,-4 1-16 6,1 0 0-5,2-1 0 7,-6-1-224-6,3 0-48 4,-2 1-16-5,-5 0 0 17,2 1-1328-16,-4-3-272-1</inkml:trace>
    </iact:actionData>
  </iact:action>
  <iact:action type="add" startTime="19690">
    <iact:property name="dataType"/>
    <iact:actionData xml:id="d1">
      <inkml:trace xmlns:inkml="http://www.w3.org/2003/InkML" xml:id="stk1" contextRef="#ctx0" brushRef="#br0">8514 12008 8799 0,'0'0'384'2,"0"0"96"-2,0 0-480 0,0 0 0 4,0 0 0-4,0 0 0 8,0 0 992-8,0 0 96 8,0 0 32-8,0 0 0 8,-10-3-144-8,10 3-16 9,-9-3-16-9,9 3 0 5,0 0-96-5,0 0-16 10,-10-3 0-10,10 3 0 5,0 0-192-5,0 0-64 11,0 0 0-11,0 0 0 4,0 0-16-4,0 0-16 8,0 0 0-8,0 0 0 8,0 0-64-8,0 0-16 8,0 0 0-6,0 0 0 2,0 0-112-4,0 0-32 9,0 0 0-8,0 0 0 5,0 0-16-6,0 0-16 7,0 0 0-6,0 0 0 6,0 0-32-7,0 0 0 7,0 0 0-7,10 5 0 7,2-1-48-6,-12-4-16 5,10 3 0-5,2-2 0 7,2-1-32-8,2-1-16 8,1-2 0-8,-1 2 0 6,-1-1 32-6,2 4 0 11,2 2 0-11,0-1 0 5,0-5-48-4,2 1 0 13,-2-3 0-14,3 1 0 0,0 0 0 0,-1 0 0 10,1 0 0-10,1 0 0 5,3 2 0-4,-1-4-128 9,-2-1 192-9,6 4-64 4,-3 4 0-4,3 1 0 3,-3-3 0-2,3 2 0 5,2-1-128-6,1-1 192 5,-2-1-192-5,2-1 192 11,-2 1-48-10,2-2 0-2,-4 0 0 0,1 2 0 8,0 1 112-8,0-3 32 7,-6-2 0-7,1 0 0 11,0 2-64-11,2 1-16 7,0-1 0-7,3 0 0 4,-3-1-48-2,0 1-16 4,3 3 0-5,-3 0 0 4,-2-3-16-4,0 2 0 8,0 1 0-8,-1 0 0 4,-1 0-128-5,0-2 192 10,-3 0-192-9,0 3 192 3,-2 3-192-3,2 2 128 7,-5 0-128-7,1-2 128 4,-1-1-128-4,-2 3 0 6,-1 4 0-7,1-1 128 7,-12-9-128-6,10 8 0 6,-10-8 0-7,7 14-15936 10</inkml:trace>
    </iact:actionData>
  </iact:action>
</iact:action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E7BB96-5CC4-4FBA-B6DA-4C0FA69C8B55}" type="datetimeFigureOut">
              <a:rPr lang="nl-NL" smtClean="0"/>
              <a:t>12-3-2026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99E7CB-B55B-433F-ACF3-9EACF2CD01B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27680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99E7CB-B55B-433F-ACF3-9EACF2CD01B5}" type="slidenum">
              <a:rPr lang="nl-NL" smtClean="0"/>
              <a:t>44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557594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99E7CB-B55B-433F-ACF3-9EACF2CD01B5}" type="slidenum">
              <a:rPr lang="nl-NL" smtClean="0"/>
              <a:t>94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97615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99E7CB-B55B-433F-ACF3-9EACF2CD01B5}" type="slidenum">
              <a:rPr lang="nl-NL" smtClean="0"/>
              <a:t>95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535136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99E7CB-B55B-433F-ACF3-9EACF2CD01B5}" type="slidenum">
              <a:rPr lang="nl-NL" smtClean="0"/>
              <a:t>96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32060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slideMaster" Target="../slideMasters/slideMaster1.xml"/><Relationship Id="rId1" Type="http://schemas.openxmlformats.org/officeDocument/2006/relationships/customXml" Target="../../customXml/item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Afbeelding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1124"/>
            <a:ext cx="9154800" cy="1668844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39750" y="1196975"/>
            <a:ext cx="8064500" cy="2160017"/>
          </a:xfrm>
        </p:spPr>
        <p:txBody>
          <a:bodyPr lIns="72000" rIns="72000" anchor="b" anchorCtr="0">
            <a:noAutofit/>
          </a:bodyPr>
          <a:lstStyle>
            <a:lvl1pPr algn="l"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noProof="0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539750" y="3645024"/>
            <a:ext cx="8064500" cy="1656184"/>
          </a:xfrm>
        </p:spPr>
        <p:txBody>
          <a:bodyPr lIns="72000" rIns="72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62942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afbeelding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 hasCustomPrompt="1"/>
          </p:nvPr>
        </p:nvSpPr>
        <p:spPr>
          <a:xfrm>
            <a:off x="-9246" y="-6037"/>
            <a:ext cx="9153245" cy="6852793"/>
          </a:xfrm>
        </p:spPr>
        <p:txBody>
          <a:bodyPr/>
          <a:lstStyle>
            <a:lvl1pPr>
              <a:defRPr/>
            </a:lvl1pPr>
          </a:lstStyle>
          <a:p>
            <a:r>
              <a:rPr lang="nl-NL" dirty="0"/>
              <a:t>Click on the pictogram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image</a:t>
            </a:r>
          </a:p>
        </p:txBody>
      </p:sp>
      <p:sp>
        <p:nvSpPr>
          <p:cNvPr id="8" name="Tijdelijke aanduiding voor afbeelding 7"/>
          <p:cNvSpPr>
            <a:spLocks noGrp="1"/>
          </p:cNvSpPr>
          <p:nvPr>
            <p:ph type="pic" sz="quarter" idx="13" hasCustomPrompt="1"/>
          </p:nvPr>
        </p:nvSpPr>
        <p:spPr>
          <a:xfrm>
            <a:off x="-9245" y="5197559"/>
            <a:ext cx="9162000" cy="166261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nl-BE" dirty="0"/>
              <a:t>Copy the large, bleu </a:t>
            </a:r>
            <a:r>
              <a:rPr lang="nl-BE" dirty="0" err="1"/>
              <a:t>curved</a:t>
            </a:r>
            <a:r>
              <a:rPr lang="nl-BE" dirty="0"/>
              <a:t> logo </a:t>
            </a:r>
            <a:r>
              <a:rPr lang="nl-BE" dirty="0" err="1"/>
              <a:t>footer</a:t>
            </a:r>
            <a:r>
              <a:rPr lang="nl-BE" dirty="0"/>
              <a:t> </a:t>
            </a:r>
            <a:r>
              <a:rPr lang="nl-BE" dirty="0" err="1"/>
              <a:t>from</a:t>
            </a:r>
            <a:r>
              <a:rPr lang="nl-BE" dirty="0"/>
              <a:t> </a:t>
            </a:r>
            <a:r>
              <a:rPr lang="nl-BE" dirty="0" err="1"/>
              <a:t>another</a:t>
            </a:r>
            <a:r>
              <a:rPr lang="nl-BE" dirty="0"/>
              <a:t> slide </a:t>
            </a:r>
            <a:r>
              <a:rPr lang="nl-BE" dirty="0" err="1"/>
              <a:t>and</a:t>
            </a:r>
            <a:r>
              <a:rPr lang="nl-BE" dirty="0"/>
              <a:t> paste </a:t>
            </a:r>
            <a:r>
              <a:rPr lang="nl-BE" dirty="0" err="1"/>
              <a:t>it</a:t>
            </a:r>
            <a:r>
              <a:rPr lang="nl-BE" dirty="0"/>
              <a:t> </a:t>
            </a:r>
            <a:r>
              <a:rPr lang="nl-BE" dirty="0" err="1"/>
              <a:t>here</a:t>
            </a:r>
            <a:r>
              <a:rPr lang="nl-BE" dirty="0"/>
              <a:t>. Make </a:t>
            </a:r>
            <a:r>
              <a:rPr lang="nl-BE" dirty="0" err="1"/>
              <a:t>sure</a:t>
            </a:r>
            <a:r>
              <a:rPr lang="nl-BE" dirty="0"/>
              <a:t> </a:t>
            </a:r>
            <a:r>
              <a:rPr lang="nl-BE" dirty="0" err="1"/>
              <a:t>that</a:t>
            </a:r>
            <a:r>
              <a:rPr lang="nl-BE" dirty="0"/>
              <a:t> the picture is </a:t>
            </a:r>
            <a:r>
              <a:rPr lang="nl-BE" dirty="0" err="1"/>
              <a:t>positioned</a:t>
            </a:r>
            <a:r>
              <a:rPr lang="nl-BE" dirty="0"/>
              <a:t> </a:t>
            </a:r>
            <a:r>
              <a:rPr lang="nl-BE" dirty="0" err="1"/>
              <a:t>behind</a:t>
            </a:r>
            <a:r>
              <a:rPr lang="nl-BE" dirty="0"/>
              <a:t> the </a:t>
            </a:r>
            <a:r>
              <a:rPr lang="nl-BE" dirty="0" err="1"/>
              <a:t>footer</a:t>
            </a:r>
            <a:r>
              <a:rPr lang="nl-BE" dirty="0"/>
              <a:t>.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39750" y="2730292"/>
            <a:ext cx="8064500" cy="626701"/>
          </a:xfrm>
          <a:solidFill>
            <a:schemeClr val="accent4">
              <a:alpha val="75000"/>
            </a:schemeClr>
          </a:solidFill>
        </p:spPr>
        <p:txBody>
          <a:bodyPr lIns="72000" tIns="36000" rIns="72000" bIns="36000" anchor="b" anchorCtr="0">
            <a:spAutoFit/>
          </a:bodyPr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539750" y="3645024"/>
            <a:ext cx="8064500" cy="472813"/>
          </a:xfrm>
          <a:solidFill>
            <a:schemeClr val="accent4">
              <a:alpha val="75000"/>
            </a:schemeClr>
          </a:solidFill>
        </p:spPr>
        <p:txBody>
          <a:bodyPr lIns="72000" tIns="36000" rIns="72000" bIns="36000">
            <a:spAutoFit/>
          </a:bodyPr>
          <a:lstStyle>
            <a:lvl1pPr marL="0" indent="0" algn="l">
              <a:buNone/>
              <a:defRPr sz="26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82348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024562"/>
            <a:ext cx="9162000" cy="835079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39750" y="1700808"/>
            <a:ext cx="8064500" cy="1656184"/>
          </a:xfrm>
        </p:spPr>
        <p:txBody>
          <a:bodyPr lIns="72000" rIns="72000" anchor="b" anchorCtr="0">
            <a:noAutofit/>
          </a:bodyPr>
          <a:lstStyle>
            <a:lvl1pPr algn="l">
              <a:defRPr sz="3600" b="1" cap="none"/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39750" y="1196975"/>
            <a:ext cx="8064500" cy="503833"/>
          </a:xfrm>
        </p:spPr>
        <p:txBody>
          <a:bodyPr lIns="72000" rIns="72000" anchor="b">
            <a:noAutofit/>
          </a:bodyPr>
          <a:lstStyle>
            <a:lvl1pPr marL="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nl-NL" dirty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13591-0879-46AD-9582-0D174F07BD07}" type="datetime1">
              <a:rPr lang="nl-NL" smtClean="0"/>
              <a:t>12-3-2026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presentation sample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17753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024562"/>
            <a:ext cx="9162000" cy="835079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Click to edit Master title style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  <p:custDataLst>
              <p:custData r:id="rId1"/>
            </p:custDataLst>
          </p:nvPr>
        </p:nvSpPr>
        <p:spPr>
          <a:xfrm>
            <a:off x="539552" y="1196752"/>
            <a:ext cx="8064896" cy="4895850"/>
          </a:xfrm>
        </p:spPr>
        <p:txBody>
          <a:bodyPr/>
          <a:lstStyle>
            <a:lvl2pPr marL="216000" indent="-216000">
              <a:defRPr sz="2600"/>
            </a:lvl2pPr>
            <a:lvl3pPr marL="576000" indent="-216000">
              <a:defRPr sz="2400"/>
            </a:lvl3pPr>
            <a:lvl4pPr marL="936000" indent="-216000">
              <a:defRPr sz="2200"/>
            </a:lvl4pPr>
            <a:lvl5pPr marL="1296000" indent="-21600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NL" dirty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C246D-1F25-4C30-8500-32DDE63D39AA}" type="datetime1">
              <a:rPr lang="nl-NL" smtClean="0"/>
              <a:t>12-3-2026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presentation sample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10722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024562"/>
            <a:ext cx="9162000" cy="835079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539750" y="1196976"/>
            <a:ext cx="3960242" cy="4895849"/>
          </a:xfrm>
        </p:spPr>
        <p:txBody>
          <a:bodyPr/>
          <a:lstStyle>
            <a:lvl1pPr>
              <a:defRPr sz="2800"/>
            </a:lvl1pPr>
            <a:lvl2pPr marL="285750" indent="-285750">
              <a:defRPr sz="2400"/>
            </a:lvl2pPr>
            <a:lvl3pPr marL="538163" indent="-228600">
              <a:defRPr sz="2000"/>
            </a:lvl3pPr>
            <a:lvl4pPr marL="804863" indent="-228600">
              <a:defRPr sz="1800"/>
            </a:lvl4pPr>
            <a:lvl5pPr marL="1084263" indent="-228600"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644008" y="1196976"/>
            <a:ext cx="3960242" cy="4895849"/>
          </a:xfrm>
        </p:spPr>
        <p:txBody>
          <a:bodyPr/>
          <a:lstStyle>
            <a:lvl1pPr>
              <a:defRPr sz="2800"/>
            </a:lvl1pPr>
            <a:lvl2pPr marL="285750" indent="-285750">
              <a:defRPr sz="2400"/>
            </a:lvl2pPr>
            <a:lvl3pPr marL="538163" indent="-228600">
              <a:defRPr sz="2000"/>
            </a:lvl3pPr>
            <a:lvl4pPr marL="804863" indent="-228600">
              <a:defRPr sz="1800"/>
            </a:lvl4pPr>
            <a:lvl5pPr marL="1084263" indent="-228600"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FA1FB-674A-4817-9225-B8C94CE5BF52}" type="datetime1">
              <a:rPr lang="nl-NL" smtClean="0"/>
              <a:t>12-3-2026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presentation sample</a:t>
            </a:r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02426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024562"/>
            <a:ext cx="9162000" cy="835079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 hasCustomPrompt="1"/>
          </p:nvPr>
        </p:nvSpPr>
        <p:spPr>
          <a:xfrm>
            <a:off x="539552" y="1196975"/>
            <a:ext cx="3957836" cy="791865"/>
          </a:xfrm>
          <a:solidFill>
            <a:schemeClr val="accent4"/>
          </a:solidFill>
        </p:spPr>
        <p:txBody>
          <a:bodyPr lIns="72000" rIns="72000" anchor="b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539552" y="2060848"/>
            <a:ext cx="3957836" cy="4031977"/>
          </a:xfrm>
        </p:spPr>
        <p:txBody>
          <a:bodyPr/>
          <a:lstStyle>
            <a:lvl1pPr>
              <a:defRPr sz="2400"/>
            </a:lvl1pPr>
            <a:lvl2pPr marL="285750" indent="-285750">
              <a:defRPr sz="2000"/>
            </a:lvl2pPr>
            <a:lvl3pPr marL="538163" indent="-228600">
              <a:defRPr sz="1800"/>
            </a:lvl3pPr>
            <a:lvl4pPr marL="804863" indent="-228600">
              <a:defRPr sz="1600"/>
            </a:lvl4pPr>
            <a:lvl5pPr marL="1084263" indent="-228600"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NL" dirty="0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196975"/>
            <a:ext cx="3959225" cy="791865"/>
          </a:xfrm>
          <a:solidFill>
            <a:schemeClr val="accent4"/>
          </a:solidFill>
        </p:spPr>
        <p:txBody>
          <a:bodyPr lIns="72000" rIns="72000" anchor="b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645025" y="2060848"/>
            <a:ext cx="3959225" cy="4031977"/>
          </a:xfrm>
        </p:spPr>
        <p:txBody>
          <a:bodyPr/>
          <a:lstStyle>
            <a:lvl1pPr>
              <a:defRPr sz="2400"/>
            </a:lvl1pPr>
            <a:lvl2pPr marL="285750" indent="-285750">
              <a:defRPr sz="2000"/>
            </a:lvl2pPr>
            <a:lvl3pPr marL="538163" indent="-228600">
              <a:defRPr sz="1800"/>
            </a:lvl3pPr>
            <a:lvl4pPr marL="804863" indent="-228600">
              <a:defRPr sz="1600"/>
            </a:lvl4pPr>
            <a:lvl5pPr marL="1084263" indent="-228600"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E5F3B-B7AE-4DB5-9A74-D9CE43F9D19A}" type="datetime1">
              <a:rPr lang="nl-NL" smtClean="0"/>
              <a:t>12-3-2026</a:t>
            </a:fld>
            <a:endParaRPr lang="nl-NL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presentation sample</a:t>
            </a:r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87136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024562"/>
            <a:ext cx="9162000" cy="835079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DE53C-CBC2-4D0D-BE79-AC7B9332A2E4}" type="datetime1">
              <a:rPr lang="nl-NL" smtClean="0"/>
              <a:t>12-3-2026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presentation sample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52483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024562"/>
            <a:ext cx="9162000" cy="835079"/>
          </a:xfrm>
          <a:prstGeom prst="rect">
            <a:avLst/>
          </a:prstGeom>
        </p:spPr>
      </p:pic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D236E-6308-42DA-9521-065242E67706}" type="datetime1">
              <a:rPr lang="nl-NL" smtClean="0"/>
              <a:t>12-3-2026</a:t>
            </a:fld>
            <a:endParaRPr lang="nl-NL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presentation sample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24664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024562"/>
            <a:ext cx="9162000" cy="835079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39750" y="5013176"/>
            <a:ext cx="80645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539750" y="5590455"/>
            <a:ext cx="8064500" cy="411257"/>
          </a:xfrm>
        </p:spPr>
        <p:txBody>
          <a:bodyPr>
            <a:spAutoFit/>
          </a:bodyPr>
          <a:lstStyle>
            <a:lvl1pPr marL="0" indent="0">
              <a:buNone/>
              <a:defRPr sz="2200">
                <a:solidFill>
                  <a:schemeClr val="accent3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CDA56-D034-4608-9254-05EC00C23D20}" type="datetime1">
              <a:rPr lang="nl-NL" smtClean="0"/>
              <a:t>12-3-2026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presentation sample</a:t>
            </a:r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‹#›</a:t>
            </a:fld>
            <a:endParaRPr lang="nl-NL"/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 hasCustomPrompt="1"/>
          </p:nvPr>
        </p:nvSpPr>
        <p:spPr>
          <a:xfrm>
            <a:off x="545668" y="0"/>
            <a:ext cx="8058582" cy="4984577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Click on the pictogram to insert an illustration, a graph, a table or a movie</a:t>
            </a:r>
          </a:p>
        </p:txBody>
      </p:sp>
    </p:spTree>
    <p:extLst>
      <p:ext uri="{BB962C8B-B14F-4D97-AF65-F5344CB8AC3E}">
        <p14:creationId xmlns:p14="http://schemas.microsoft.com/office/powerpoint/2010/main" val="1002059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full page zonder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0" y="0"/>
            <a:ext cx="9144000" cy="676930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 dirty="0"/>
              <a:t>Click on the pictogram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image</a:t>
            </a:r>
          </a:p>
        </p:txBody>
      </p:sp>
      <p:sp>
        <p:nvSpPr>
          <p:cNvPr id="12" name="Tijdelijke aanduiding voor afbeelding 11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6024562"/>
            <a:ext cx="9162000" cy="8334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nl-BE" dirty="0"/>
              <a:t>Copy the small bleu </a:t>
            </a:r>
            <a:r>
              <a:rPr lang="nl-BE" dirty="0" err="1"/>
              <a:t>footer</a:t>
            </a:r>
            <a:r>
              <a:rPr lang="nl-BE" dirty="0"/>
              <a:t> </a:t>
            </a:r>
            <a:r>
              <a:rPr lang="nl-BE" dirty="0" err="1"/>
              <a:t>from</a:t>
            </a:r>
            <a:r>
              <a:rPr lang="nl-BE" dirty="0"/>
              <a:t> </a:t>
            </a:r>
            <a:r>
              <a:rPr lang="nl-BE" dirty="0" err="1"/>
              <a:t>another</a:t>
            </a:r>
            <a:r>
              <a:rPr lang="nl-BE" dirty="0"/>
              <a:t> slide </a:t>
            </a:r>
            <a:r>
              <a:rPr lang="nl-BE" dirty="0" err="1"/>
              <a:t>and</a:t>
            </a:r>
            <a:r>
              <a:rPr lang="nl-BE" dirty="0"/>
              <a:t> paste </a:t>
            </a:r>
            <a:r>
              <a:rPr lang="nl-BE" dirty="0" err="1"/>
              <a:t>it</a:t>
            </a:r>
            <a:r>
              <a:rPr lang="nl-BE" dirty="0"/>
              <a:t> </a:t>
            </a:r>
            <a:r>
              <a:rPr lang="nl-BE" dirty="0" err="1"/>
              <a:t>here</a:t>
            </a:r>
            <a:r>
              <a:rPr lang="nl-BE" dirty="0"/>
              <a:t>. Make </a:t>
            </a:r>
            <a:r>
              <a:rPr lang="nl-BE" dirty="0" err="1"/>
              <a:t>sure</a:t>
            </a:r>
            <a:r>
              <a:rPr lang="nl-BE" dirty="0"/>
              <a:t> </a:t>
            </a:r>
            <a:r>
              <a:rPr lang="nl-BE" dirty="0" err="1"/>
              <a:t>that</a:t>
            </a:r>
            <a:r>
              <a:rPr lang="nl-BE" dirty="0"/>
              <a:t> the picture is </a:t>
            </a:r>
            <a:r>
              <a:rPr lang="nl-BE" dirty="0" err="1"/>
              <a:t>positioned</a:t>
            </a:r>
            <a:r>
              <a:rPr lang="nl-BE" dirty="0"/>
              <a:t> </a:t>
            </a:r>
            <a:r>
              <a:rPr lang="nl-BE" dirty="0" err="1"/>
              <a:t>behind</a:t>
            </a:r>
            <a:r>
              <a:rPr lang="nl-BE" dirty="0"/>
              <a:t> the </a:t>
            </a:r>
            <a:r>
              <a:rPr lang="nl-BE" dirty="0" err="1"/>
              <a:t>footer</a:t>
            </a:r>
            <a:r>
              <a:rPr lang="nl-BE" dirty="0"/>
              <a:t>.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760A7-6202-4C5B-B798-73425609F823}" type="datetime1">
              <a:rPr lang="nl-NL" smtClean="0"/>
              <a:t>12-3-2026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voorbeeldpresentatie</a:t>
            </a:r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02849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 dirty="0"/>
              <a:t>Click on the pictogram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image</a:t>
            </a:r>
          </a:p>
          <a:p>
            <a:endParaRPr lang="nl-NL" dirty="0"/>
          </a:p>
        </p:txBody>
      </p:sp>
      <p:sp>
        <p:nvSpPr>
          <p:cNvPr id="12" name="Tijdelijke aanduiding voor afbeelding 11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6024562"/>
            <a:ext cx="9162000" cy="8334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nl-BE" dirty="0"/>
              <a:t>Copy the small bleu </a:t>
            </a:r>
            <a:r>
              <a:rPr lang="nl-BE" dirty="0" err="1"/>
              <a:t>footer</a:t>
            </a:r>
            <a:r>
              <a:rPr lang="nl-BE" dirty="0"/>
              <a:t> </a:t>
            </a:r>
            <a:r>
              <a:rPr lang="nl-BE" dirty="0" err="1"/>
              <a:t>from</a:t>
            </a:r>
            <a:r>
              <a:rPr lang="nl-BE" dirty="0"/>
              <a:t> </a:t>
            </a:r>
            <a:r>
              <a:rPr lang="nl-BE" dirty="0" err="1"/>
              <a:t>another</a:t>
            </a:r>
            <a:r>
              <a:rPr lang="nl-BE" dirty="0"/>
              <a:t> slide </a:t>
            </a:r>
            <a:r>
              <a:rPr lang="nl-BE" dirty="0" err="1"/>
              <a:t>and</a:t>
            </a:r>
            <a:r>
              <a:rPr lang="nl-BE" dirty="0"/>
              <a:t> paste </a:t>
            </a:r>
            <a:r>
              <a:rPr lang="nl-BE" dirty="0" err="1"/>
              <a:t>it</a:t>
            </a:r>
            <a:r>
              <a:rPr lang="nl-BE" dirty="0"/>
              <a:t> </a:t>
            </a:r>
            <a:r>
              <a:rPr lang="nl-BE" dirty="0" err="1"/>
              <a:t>here</a:t>
            </a:r>
            <a:r>
              <a:rPr lang="nl-BE" dirty="0"/>
              <a:t>. Make </a:t>
            </a:r>
            <a:r>
              <a:rPr lang="nl-BE" dirty="0" err="1"/>
              <a:t>sure</a:t>
            </a:r>
            <a:r>
              <a:rPr lang="nl-BE" dirty="0"/>
              <a:t> </a:t>
            </a:r>
            <a:r>
              <a:rPr lang="nl-BE" dirty="0" err="1"/>
              <a:t>that</a:t>
            </a:r>
            <a:r>
              <a:rPr lang="nl-BE" dirty="0"/>
              <a:t> the picture is </a:t>
            </a:r>
            <a:r>
              <a:rPr lang="nl-BE" dirty="0" err="1"/>
              <a:t>positioned</a:t>
            </a:r>
            <a:r>
              <a:rPr lang="nl-BE" dirty="0"/>
              <a:t> </a:t>
            </a:r>
            <a:r>
              <a:rPr lang="nl-BE" dirty="0" err="1"/>
              <a:t>behind</a:t>
            </a:r>
            <a:r>
              <a:rPr lang="nl-BE" dirty="0"/>
              <a:t> the </a:t>
            </a:r>
            <a:r>
              <a:rPr lang="nl-BE" dirty="0" err="1"/>
              <a:t>footer</a:t>
            </a:r>
            <a:r>
              <a:rPr lang="nl-BE" dirty="0"/>
              <a:t>.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B9C03-3D12-4CEF-B48A-0BFA09CB6C9F}" type="datetime1">
              <a:rPr lang="nl-NL" smtClean="0"/>
              <a:t>12-3-2026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presentation sample</a:t>
            </a:r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‹#›</a:t>
            </a:fld>
            <a:endParaRPr lang="nl-NL"/>
          </a:p>
        </p:txBody>
      </p:sp>
      <p:sp>
        <p:nvSpPr>
          <p:cNvPr id="8" name="Ondertitel 2"/>
          <p:cNvSpPr>
            <a:spLocks noGrp="1"/>
          </p:cNvSpPr>
          <p:nvPr>
            <p:ph type="subTitle" idx="14" hasCustomPrompt="1"/>
          </p:nvPr>
        </p:nvSpPr>
        <p:spPr>
          <a:xfrm>
            <a:off x="539750" y="3645024"/>
            <a:ext cx="4032000" cy="472813"/>
          </a:xfrm>
          <a:solidFill>
            <a:schemeClr val="accent4">
              <a:alpha val="75000"/>
            </a:schemeClr>
          </a:solidFill>
        </p:spPr>
        <p:txBody>
          <a:bodyPr lIns="72000" tIns="36000" rIns="72000" bIns="36000">
            <a:spAutoFit/>
          </a:bodyPr>
          <a:lstStyle>
            <a:lvl1pPr marL="0" indent="0" algn="l">
              <a:buNone/>
              <a:defRPr sz="26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text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681599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kst en afbeelding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644008" y="0"/>
            <a:ext cx="4499992" cy="676930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 dirty="0"/>
              <a:t>Click on the pictogram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image</a:t>
            </a:r>
          </a:p>
        </p:txBody>
      </p:sp>
      <p:sp>
        <p:nvSpPr>
          <p:cNvPr id="12" name="Tijdelijke aanduiding voor afbeelding 11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6024562"/>
            <a:ext cx="9162000" cy="8334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nl-BE" dirty="0"/>
              <a:t>Copy the small bleu </a:t>
            </a:r>
            <a:r>
              <a:rPr lang="nl-BE" dirty="0" err="1"/>
              <a:t>footer</a:t>
            </a:r>
            <a:r>
              <a:rPr lang="nl-BE" dirty="0"/>
              <a:t> </a:t>
            </a:r>
            <a:r>
              <a:rPr lang="nl-BE" dirty="0" err="1"/>
              <a:t>from</a:t>
            </a:r>
            <a:r>
              <a:rPr lang="nl-BE" dirty="0"/>
              <a:t> </a:t>
            </a:r>
            <a:r>
              <a:rPr lang="nl-BE" dirty="0" err="1"/>
              <a:t>another</a:t>
            </a:r>
            <a:r>
              <a:rPr lang="nl-BE" dirty="0"/>
              <a:t> slide </a:t>
            </a:r>
            <a:r>
              <a:rPr lang="nl-BE" dirty="0" err="1"/>
              <a:t>and</a:t>
            </a:r>
            <a:r>
              <a:rPr lang="nl-BE" dirty="0"/>
              <a:t> paste </a:t>
            </a:r>
            <a:r>
              <a:rPr lang="nl-BE" dirty="0" err="1"/>
              <a:t>it</a:t>
            </a:r>
            <a:r>
              <a:rPr lang="nl-BE" dirty="0"/>
              <a:t> </a:t>
            </a:r>
            <a:r>
              <a:rPr lang="nl-BE" dirty="0" err="1"/>
              <a:t>here</a:t>
            </a:r>
            <a:r>
              <a:rPr lang="nl-BE" dirty="0"/>
              <a:t>. Make </a:t>
            </a:r>
            <a:r>
              <a:rPr lang="nl-BE" dirty="0" err="1"/>
              <a:t>sure</a:t>
            </a:r>
            <a:r>
              <a:rPr lang="nl-BE" dirty="0"/>
              <a:t> </a:t>
            </a:r>
            <a:r>
              <a:rPr lang="nl-BE" dirty="0" err="1"/>
              <a:t>that</a:t>
            </a:r>
            <a:r>
              <a:rPr lang="nl-BE" dirty="0"/>
              <a:t> the picture is </a:t>
            </a:r>
            <a:r>
              <a:rPr lang="nl-BE" dirty="0" err="1"/>
              <a:t>positioned</a:t>
            </a:r>
            <a:r>
              <a:rPr lang="nl-BE" dirty="0"/>
              <a:t> </a:t>
            </a:r>
            <a:r>
              <a:rPr lang="nl-BE" dirty="0" err="1"/>
              <a:t>behind</a:t>
            </a:r>
            <a:r>
              <a:rPr lang="nl-BE" dirty="0"/>
              <a:t> the </a:t>
            </a:r>
            <a:r>
              <a:rPr lang="nl-BE" dirty="0" err="1"/>
              <a:t>footer</a:t>
            </a:r>
            <a:r>
              <a:rPr lang="nl-BE" dirty="0"/>
              <a:t>.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760A7-6202-4C5B-B798-73425609F823}" type="datetime1">
              <a:rPr lang="nl-NL" smtClean="0"/>
              <a:t>12-3-2026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voorbeeldpresentatie</a:t>
            </a:r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‹#›</a:t>
            </a:fld>
            <a:endParaRPr lang="nl-NL"/>
          </a:p>
        </p:txBody>
      </p:sp>
      <p:sp>
        <p:nvSpPr>
          <p:cNvPr id="11" name="Titel 1"/>
          <p:cNvSpPr>
            <a:spLocks noGrp="1"/>
          </p:cNvSpPr>
          <p:nvPr>
            <p:ph type="title"/>
          </p:nvPr>
        </p:nvSpPr>
        <p:spPr>
          <a:xfrm>
            <a:off x="540000" y="360000"/>
            <a:ext cx="3960000" cy="936105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13" name="Tijdelijke aanduiding voor inhoud 2"/>
          <p:cNvSpPr>
            <a:spLocks noGrp="1"/>
          </p:cNvSpPr>
          <p:nvPr>
            <p:ph sz="half" idx="14"/>
          </p:nvPr>
        </p:nvSpPr>
        <p:spPr>
          <a:xfrm>
            <a:off x="540000" y="1440000"/>
            <a:ext cx="3960242" cy="4860000"/>
          </a:xfrm>
        </p:spPr>
        <p:txBody>
          <a:bodyPr/>
          <a:lstStyle>
            <a:lvl1pPr>
              <a:defRPr sz="2400"/>
            </a:lvl1pPr>
            <a:lvl2pPr marL="285750" indent="-285750">
              <a:defRPr sz="2000"/>
            </a:lvl2pPr>
            <a:lvl3pPr marL="538163" indent="-228600">
              <a:defRPr sz="1800"/>
            </a:lvl3pPr>
            <a:lvl4pPr marL="804863" indent="-228600">
              <a:defRPr sz="1600"/>
            </a:lvl4pPr>
            <a:lvl5pPr marL="1084263" indent="-228600"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298515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kst en afbeelding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0" y="0"/>
            <a:ext cx="4499992" cy="676930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 dirty="0"/>
              <a:t>Click on the pictogram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image</a:t>
            </a:r>
          </a:p>
        </p:txBody>
      </p:sp>
      <p:sp>
        <p:nvSpPr>
          <p:cNvPr id="12" name="Tijdelijke aanduiding voor afbeelding 11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6024562"/>
            <a:ext cx="9162000" cy="8334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nl-BE" dirty="0"/>
              <a:t>Copy the small bleu </a:t>
            </a:r>
            <a:r>
              <a:rPr lang="nl-BE" dirty="0" err="1"/>
              <a:t>footer</a:t>
            </a:r>
            <a:r>
              <a:rPr lang="nl-BE" dirty="0"/>
              <a:t> </a:t>
            </a:r>
            <a:r>
              <a:rPr lang="nl-BE" dirty="0" err="1"/>
              <a:t>from</a:t>
            </a:r>
            <a:r>
              <a:rPr lang="nl-BE" dirty="0"/>
              <a:t> </a:t>
            </a:r>
            <a:r>
              <a:rPr lang="nl-BE" dirty="0" err="1"/>
              <a:t>another</a:t>
            </a:r>
            <a:r>
              <a:rPr lang="nl-BE" dirty="0"/>
              <a:t> slide </a:t>
            </a:r>
            <a:r>
              <a:rPr lang="nl-BE" dirty="0" err="1"/>
              <a:t>and</a:t>
            </a:r>
            <a:r>
              <a:rPr lang="nl-BE" dirty="0"/>
              <a:t> paste </a:t>
            </a:r>
            <a:r>
              <a:rPr lang="nl-BE" dirty="0" err="1"/>
              <a:t>it</a:t>
            </a:r>
            <a:r>
              <a:rPr lang="nl-BE" dirty="0"/>
              <a:t> </a:t>
            </a:r>
            <a:r>
              <a:rPr lang="nl-BE" dirty="0" err="1"/>
              <a:t>here</a:t>
            </a:r>
            <a:r>
              <a:rPr lang="nl-BE" dirty="0"/>
              <a:t>. Make </a:t>
            </a:r>
            <a:r>
              <a:rPr lang="nl-BE" dirty="0" err="1"/>
              <a:t>sure</a:t>
            </a:r>
            <a:r>
              <a:rPr lang="nl-BE" dirty="0"/>
              <a:t> </a:t>
            </a:r>
            <a:r>
              <a:rPr lang="nl-BE" dirty="0" err="1"/>
              <a:t>that</a:t>
            </a:r>
            <a:r>
              <a:rPr lang="nl-BE" dirty="0"/>
              <a:t> the picture is </a:t>
            </a:r>
            <a:r>
              <a:rPr lang="nl-BE" dirty="0" err="1"/>
              <a:t>positioned</a:t>
            </a:r>
            <a:r>
              <a:rPr lang="nl-BE" dirty="0"/>
              <a:t> </a:t>
            </a:r>
            <a:r>
              <a:rPr lang="nl-BE" dirty="0" err="1"/>
              <a:t>behind</a:t>
            </a:r>
            <a:r>
              <a:rPr lang="nl-BE" dirty="0"/>
              <a:t> the </a:t>
            </a:r>
            <a:r>
              <a:rPr lang="nl-BE" dirty="0" err="1"/>
              <a:t>footer</a:t>
            </a:r>
            <a:r>
              <a:rPr lang="nl-BE" dirty="0"/>
              <a:t>.</a:t>
            </a:r>
            <a:endParaRPr lang="nl-NL" dirty="0"/>
          </a:p>
          <a:p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760A7-6202-4C5B-B798-73425609F823}" type="datetime1">
              <a:rPr lang="nl-NL" smtClean="0"/>
              <a:t>12-3-2026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voorbeeldpresentatie</a:t>
            </a:r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‹#›</a:t>
            </a:fld>
            <a:endParaRPr lang="nl-NL"/>
          </a:p>
        </p:txBody>
      </p:sp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4860000" y="360000"/>
            <a:ext cx="3960000" cy="936105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9" name="Tijdelijke aanduiding voor inhoud 2"/>
          <p:cNvSpPr>
            <a:spLocks noGrp="1"/>
          </p:cNvSpPr>
          <p:nvPr>
            <p:ph sz="half" idx="14"/>
          </p:nvPr>
        </p:nvSpPr>
        <p:spPr>
          <a:xfrm>
            <a:off x="4860000" y="1440000"/>
            <a:ext cx="3960242" cy="4680000"/>
          </a:xfrm>
        </p:spPr>
        <p:txBody>
          <a:bodyPr/>
          <a:lstStyle>
            <a:lvl1pPr>
              <a:defRPr sz="2400"/>
            </a:lvl1pPr>
            <a:lvl2pPr marL="285750" indent="-285750">
              <a:defRPr sz="2000"/>
            </a:lvl2pPr>
            <a:lvl3pPr marL="538163" indent="-228600">
              <a:defRPr sz="1800"/>
            </a:lvl3pPr>
            <a:lvl4pPr marL="804863" indent="-228600">
              <a:defRPr sz="1600"/>
            </a:lvl4pPr>
            <a:lvl5pPr marL="1084263" indent="-228600"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63057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39552" y="116632"/>
            <a:ext cx="8064896" cy="936105"/>
          </a:xfrm>
          <a:prstGeom prst="rect">
            <a:avLst/>
          </a:prstGeom>
        </p:spPr>
        <p:txBody>
          <a:bodyPr vert="horz" lIns="0" tIns="36000" rIns="0" bIns="3600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39552" y="1196976"/>
            <a:ext cx="8064896" cy="4895850"/>
          </a:xfrm>
          <a:prstGeom prst="rect">
            <a:avLst/>
          </a:prstGeom>
        </p:spPr>
        <p:txBody>
          <a:bodyPr vert="horz" lIns="0" tIns="36000" rIns="0" bIns="36000" rtlCol="0">
            <a:noAutofit/>
          </a:bodyPr>
          <a:lstStyle/>
          <a:p>
            <a:pPr lvl="0"/>
            <a:r>
              <a:rPr lang="en-US" dirty="0"/>
              <a:t>Click to edit Master text style</a:t>
            </a:r>
            <a:r>
              <a:rPr lang="en-GB" noProof="0" dirty="0"/>
              <a:t>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7236296" y="6327740"/>
            <a:ext cx="1008112" cy="2270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81387B45-9DD3-490C-941E-7E9FB03FF3E2}" type="datetime1">
              <a:rPr lang="nl-NL" smtClean="0"/>
              <a:t>12-3-2026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5220072" y="6562118"/>
            <a:ext cx="3024336" cy="2071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nl-NL"/>
              <a:t>presentation sample</a:t>
            </a:r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-4356" y="6602881"/>
            <a:ext cx="461556" cy="2572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3B032377-C103-4EFE-98C1-80A6E5A7472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08960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1" r:id="rId3"/>
    <p:sldLayoutId id="2147483650" r:id="rId4"/>
    <p:sldLayoutId id="2147483652" r:id="rId5"/>
    <p:sldLayoutId id="2147483653" r:id="rId6"/>
    <p:sldLayoutId id="2147483654" r:id="rId7"/>
    <p:sldLayoutId id="2147483655" r:id="rId8"/>
    <p:sldLayoutId id="2147483657" r:id="rId9"/>
    <p:sldLayoutId id="2147483664" r:id="rId10"/>
    <p:sldLayoutId id="2147483660" r:id="rId11"/>
    <p:sldLayoutId id="2147483662" r:id="rId12"/>
    <p:sldLayoutId id="2147483663" r:id="rId1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Tx/>
        <a:buNone/>
        <a:defRPr sz="2600" kern="1200">
          <a:solidFill>
            <a:schemeClr val="tx2"/>
          </a:solidFill>
          <a:latin typeface="+mn-lt"/>
          <a:ea typeface="+mn-ea"/>
          <a:cs typeface="+mn-cs"/>
        </a:defRPr>
      </a:lvl1pPr>
      <a:lvl2pPr marL="712788" indent="-285750" algn="l" defTabSz="914400" rtl="0" eaLnBrk="1" latinLnBrk="0" hangingPunct="1">
        <a:spcBef>
          <a:spcPct val="20000"/>
        </a:spcBef>
        <a:buSzPct val="85000"/>
        <a:buFont typeface="Wingdings" panose="05000000000000000000" pitchFamily="2" charset="2"/>
        <a:buChar char="§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84263" indent="-228600" algn="l" defTabSz="914400" rtl="0" eaLnBrk="1" latinLnBrk="0" hangingPunct="1">
        <a:spcBef>
          <a:spcPct val="20000"/>
        </a:spcBef>
        <a:buSzPct val="85000"/>
        <a:buFont typeface="Wingdings" panose="05000000000000000000" pitchFamily="2" charset="2"/>
        <a:buChar char="§"/>
        <a:defRPr sz="2200" kern="1200">
          <a:solidFill>
            <a:schemeClr val="tx2"/>
          </a:solidFill>
          <a:latin typeface="+mn-lt"/>
          <a:ea typeface="+mn-ea"/>
          <a:cs typeface="+mn-cs"/>
        </a:defRPr>
      </a:lvl3pPr>
      <a:lvl4pPr marL="1433513" indent="-228600" algn="l" defTabSz="914400" rtl="0" eaLnBrk="1" latinLnBrk="0" hangingPunct="1">
        <a:spcBef>
          <a:spcPct val="20000"/>
        </a:spcBef>
        <a:buSzPct val="8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797050" indent="-228600" algn="l" defTabSz="914400" rtl="0" eaLnBrk="1" latinLnBrk="0" hangingPunct="1">
        <a:spcBef>
          <a:spcPct val="20000"/>
        </a:spcBef>
        <a:buSzPct val="8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WrrJ-9o27sMXnGXfcZ1NBW4OuwSFM5dR?usp=sharing" TargetMode="External"/><Relationship Id="rId2" Type="http://schemas.openxmlformats.org/officeDocument/2006/relationships/hyperlink" Target="https://accounts.google.com/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2.wmf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Relationship Id="rId6" Type="http://schemas.microsoft.com/office/2011/relationships/inkAction" Target="../ink/inkAction1.xml"/><Relationship Id="rId5" Type="http://schemas.openxmlformats.org/officeDocument/2006/relationships/image" Target="../media/image2.wmf"/><Relationship Id="rId4" Type="http://schemas.openxmlformats.org/officeDocument/2006/relationships/image" Target="../media/image22.png"/><Relationship Id="rId9" Type="http://schemas.openxmlformats.org/officeDocument/2006/relationships/image" Target="../media/image47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jpe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wm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8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3.sv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3.sv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3.sv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sv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45.png"/><Relationship Id="rId7" Type="http://schemas.openxmlformats.org/officeDocument/2006/relationships/image" Target="../media/image570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2.xml"/><Relationship Id="rId11" Type="http://schemas.openxmlformats.org/officeDocument/2006/relationships/image" Target="../media/image59.png"/><Relationship Id="rId5" Type="http://schemas.openxmlformats.org/officeDocument/2006/relationships/image" Target="../media/image560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58.png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2.png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hyperlink" Target="https://snakify.org/" TargetMode="External"/><Relationship Id="rId1" Type="http://schemas.openxmlformats.org/officeDocument/2006/relationships/slideLayout" Target="../slideLayouts/slideLayout4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Tijdelijke aanduiding voor afbeelding 2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" r="358"/>
          <a:stretch/>
        </p:blipFill>
        <p:spPr>
          <a:xfrm>
            <a:off x="-9246" y="-27384"/>
            <a:ext cx="9153245" cy="6852793"/>
          </a:xfrm>
          <a:prstGeom prst="rect">
            <a:avLst/>
          </a:prstGeom>
        </p:spPr>
      </p:pic>
      <p:pic>
        <p:nvPicPr>
          <p:cNvPr id="6" name="Tijdelijke aanduiding voor afbeelding 5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" b="246"/>
          <a:stretch>
            <a:fillRect/>
          </a:stretch>
        </p:blipFill>
        <p:spPr>
          <a:xfrm>
            <a:off x="-18000" y="5229200"/>
            <a:ext cx="9162000" cy="1662617"/>
          </a:xfrm>
        </p:spPr>
      </p:pic>
      <p:sp>
        <p:nvSpPr>
          <p:cNvPr id="4" name="Titel 3"/>
          <p:cNvSpPr>
            <a:spLocks noGrp="1"/>
          </p:cNvSpPr>
          <p:nvPr>
            <p:ph type="ctrTitle"/>
          </p:nvPr>
        </p:nvSpPr>
        <p:spPr>
          <a:xfrm>
            <a:off x="395536" y="734972"/>
            <a:ext cx="8352928" cy="749812"/>
          </a:xfrm>
          <a:noFill/>
        </p:spPr>
        <p:txBody>
          <a:bodyPr/>
          <a:lstStyle/>
          <a:p>
            <a:pPr algn="ctr"/>
            <a:r>
              <a:rPr lang="en-GB" sz="4400" dirty="0"/>
              <a:t>Hands-on session: programming</a:t>
            </a:r>
            <a:endParaRPr lang="nl-BE" sz="4400" dirty="0"/>
          </a:p>
        </p:txBody>
      </p:sp>
      <p:sp>
        <p:nvSpPr>
          <p:cNvPr id="5" name="Ondertitel 4"/>
          <p:cNvSpPr>
            <a:spLocks noGrp="1"/>
          </p:cNvSpPr>
          <p:nvPr>
            <p:ph type="subTitle" idx="1"/>
          </p:nvPr>
        </p:nvSpPr>
        <p:spPr>
          <a:xfrm>
            <a:off x="0" y="6504904"/>
            <a:ext cx="7920880" cy="380480"/>
          </a:xfrm>
          <a:noFill/>
        </p:spPr>
        <p:txBody>
          <a:bodyPr/>
          <a:lstStyle/>
          <a:p>
            <a:r>
              <a:rPr lang="nl-BE" sz="2000" dirty="0"/>
              <a:t>Prof. Toon Calders	toon.calders@uantwerpen.be</a:t>
            </a:r>
          </a:p>
        </p:txBody>
      </p:sp>
    </p:spTree>
    <p:extLst>
      <p:ext uri="{BB962C8B-B14F-4D97-AF65-F5344CB8AC3E}">
        <p14:creationId xmlns:p14="http://schemas.microsoft.com/office/powerpoint/2010/main" val="1889825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F9288-E208-C1B2-4AED-CB4F8735A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of this lecture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59857-047B-8A2D-438B-31457A187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Get a </a:t>
            </a:r>
            <a:r>
              <a:rPr lang="nl-BE" b="1" i="1" dirty="0"/>
              <a:t>feeling</a:t>
            </a:r>
            <a:r>
              <a:rPr lang="nl-BE" b="1" dirty="0"/>
              <a:t> of </a:t>
            </a:r>
            <a:r>
              <a:rPr lang="nl-BE" b="1" dirty="0" err="1"/>
              <a:t>what</a:t>
            </a:r>
            <a:r>
              <a:rPr lang="nl-BE" b="1" dirty="0"/>
              <a:t> is </a:t>
            </a:r>
            <a:r>
              <a:rPr lang="nl-BE" b="1" dirty="0" err="1"/>
              <a:t>programming</a:t>
            </a:r>
            <a:endParaRPr lang="nl-BE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Focus is on </a:t>
            </a:r>
            <a:r>
              <a:rPr lang="nl-BE" i="1" dirty="0" err="1"/>
              <a:t>understanding</a:t>
            </a:r>
            <a:endParaRPr lang="nl-BE" i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 err="1"/>
              <a:t>Writing</a:t>
            </a:r>
            <a:r>
              <a:rPr lang="nl-BE" dirty="0"/>
              <a:t> </a:t>
            </a:r>
            <a:r>
              <a:rPr lang="nl-BE" i="1" dirty="0"/>
              <a:t>small snippets of code</a:t>
            </a:r>
            <a:endParaRPr lang="nl-BE" dirty="0"/>
          </a:p>
          <a:p>
            <a:endParaRPr lang="nl-BE" dirty="0"/>
          </a:p>
          <a:p>
            <a:r>
              <a:rPr lang="nl-BE" dirty="0" err="1"/>
              <a:t>This</a:t>
            </a:r>
            <a:r>
              <a:rPr lang="nl-BE" dirty="0"/>
              <a:t> </a:t>
            </a:r>
            <a:r>
              <a:rPr lang="nl-BE" dirty="0" err="1"/>
              <a:t>session</a:t>
            </a:r>
            <a:r>
              <a:rPr lang="nl-BE" dirty="0"/>
              <a:t> is hands-on</a:t>
            </a:r>
          </a:p>
          <a:p>
            <a:pPr marL="514350" indent="-514350">
              <a:buAutoNum type="arabicPeriod"/>
            </a:pPr>
            <a:r>
              <a:rPr lang="nl-BE" dirty="0" err="1"/>
              <a:t>Introduction</a:t>
            </a:r>
            <a:r>
              <a:rPr lang="nl-BE" dirty="0"/>
              <a:t> of a new concept</a:t>
            </a:r>
          </a:p>
          <a:p>
            <a:pPr marL="514350" indent="-514350">
              <a:buAutoNum type="arabicPeriod"/>
            </a:pPr>
            <a:r>
              <a:rPr lang="nl-BE" dirty="0" err="1"/>
              <a:t>One</a:t>
            </a:r>
            <a:r>
              <a:rPr lang="nl-BE" dirty="0"/>
              <a:t> </a:t>
            </a:r>
            <a:r>
              <a:rPr lang="nl-BE" dirty="0" err="1"/>
              <a:t>exercise</a:t>
            </a:r>
            <a:r>
              <a:rPr lang="nl-BE" dirty="0"/>
              <a:t> </a:t>
            </a:r>
            <a:r>
              <a:rPr lang="nl-BE" dirty="0" err="1"/>
              <a:t>together</a:t>
            </a:r>
            <a:endParaRPr lang="nl-BE" dirty="0"/>
          </a:p>
          <a:p>
            <a:pPr marL="514350" indent="-514350">
              <a:buAutoNum type="arabicPeriod"/>
            </a:pPr>
            <a:r>
              <a:rPr lang="nl-BE" dirty="0"/>
              <a:t>Small </a:t>
            </a:r>
            <a:r>
              <a:rPr lang="nl-BE" dirty="0" err="1"/>
              <a:t>exercise</a:t>
            </a:r>
            <a:r>
              <a:rPr lang="nl-BE" dirty="0"/>
              <a:t>(s) </a:t>
            </a:r>
            <a:r>
              <a:rPr lang="nl-BE" dirty="0" err="1"/>
              <a:t>for</a:t>
            </a:r>
            <a:r>
              <a:rPr lang="nl-BE" dirty="0"/>
              <a:t> </a:t>
            </a:r>
            <a:r>
              <a:rPr lang="nl-BE" dirty="0" err="1"/>
              <a:t>you</a:t>
            </a:r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560A8-474A-90E5-6A13-3493F5E09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16714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DFA58-ADEC-4EFD-8D5C-DC5B0477F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of this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BAE43-AE0A-4D0A-AA64-74EB90691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 the basic principles of coding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Sequence of instructions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Loops and repetitions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Conditional execution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Variables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We will use the following examples</a:t>
            </a:r>
          </a:p>
          <a:p>
            <a:r>
              <a:rPr lang="en-US" b="1" dirty="0"/>
              <a:t>Part 1</a:t>
            </a:r>
            <a:r>
              <a:rPr lang="en-US" dirty="0"/>
              <a:t> : Basics (maze)</a:t>
            </a:r>
          </a:p>
          <a:p>
            <a:r>
              <a:rPr lang="en-US" b="1" dirty="0"/>
              <a:t>Part 2 </a:t>
            </a:r>
            <a:r>
              <a:rPr lang="en-US" dirty="0"/>
              <a:t>: Variables (loan payments)</a:t>
            </a:r>
          </a:p>
          <a:p>
            <a:r>
              <a:rPr lang="en-US" b="1" dirty="0"/>
              <a:t>Part 3</a:t>
            </a:r>
            <a:r>
              <a:rPr lang="en-US" dirty="0"/>
              <a:t> : Coding decision trees (GDPR)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2722C2-8050-40F3-B33E-1F73CE39A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64985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16253-837D-B227-5290-026EA0149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We Will </a:t>
            </a:r>
            <a:r>
              <a:rPr lang="nl-BE" dirty="0" err="1"/>
              <a:t>Use</a:t>
            </a:r>
            <a:r>
              <a:rPr lang="nl-BE" dirty="0"/>
              <a:t> Google </a:t>
            </a:r>
            <a:r>
              <a:rPr lang="nl-BE" dirty="0" err="1"/>
              <a:t>Colab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F72E9-2A25-5FC1-F47F-A72C52E7F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nl-NL" dirty="0" err="1"/>
              <a:t>Create</a:t>
            </a:r>
            <a:r>
              <a:rPr lang="nl-NL" dirty="0"/>
              <a:t> a Google account: </a:t>
            </a:r>
            <a:r>
              <a:rPr lang="nl-NL" dirty="0">
                <a:hlinkClick r:id="rId2"/>
              </a:rPr>
              <a:t>https://accounts.google.com/</a:t>
            </a:r>
            <a:r>
              <a:rPr lang="nl-NL" dirty="0"/>
              <a:t> </a:t>
            </a:r>
            <a:br>
              <a:rPr lang="nl-NL" dirty="0"/>
            </a:br>
            <a:r>
              <a:rPr lang="nl-NL" i="1" dirty="0"/>
              <a:t>Skip </a:t>
            </a:r>
            <a:r>
              <a:rPr lang="nl-NL" i="1" dirty="0" err="1"/>
              <a:t>this</a:t>
            </a:r>
            <a:r>
              <a:rPr lang="nl-NL" i="1" dirty="0"/>
              <a:t> step </a:t>
            </a:r>
            <a:r>
              <a:rPr lang="nl-NL" i="1" dirty="0" err="1"/>
              <a:t>if</a:t>
            </a:r>
            <a:r>
              <a:rPr lang="nl-NL" i="1" dirty="0"/>
              <a:t> </a:t>
            </a:r>
            <a:r>
              <a:rPr lang="nl-NL" i="1" dirty="0" err="1"/>
              <a:t>you</a:t>
            </a:r>
            <a:r>
              <a:rPr lang="nl-NL" i="1" dirty="0"/>
              <a:t> </a:t>
            </a:r>
            <a:r>
              <a:rPr lang="nl-NL" i="1" dirty="0" err="1"/>
              <a:t>already</a:t>
            </a:r>
            <a:r>
              <a:rPr lang="nl-NL" i="1" dirty="0"/>
              <a:t> have </a:t>
            </a:r>
            <a:r>
              <a:rPr lang="nl-NL" i="1" dirty="0" err="1"/>
              <a:t>one</a:t>
            </a:r>
            <a:endParaRPr lang="nl-NL" i="1" dirty="0"/>
          </a:p>
          <a:p>
            <a:pPr marL="514350" indent="-514350">
              <a:buAutoNum type="arabicPeriod"/>
            </a:pPr>
            <a:r>
              <a:rPr lang="nl-NL" dirty="0" err="1"/>
              <a:t>Sign</a:t>
            </a:r>
            <a:r>
              <a:rPr lang="nl-NL" dirty="0"/>
              <a:t> in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your</a:t>
            </a:r>
            <a:r>
              <a:rPr lang="nl-NL" dirty="0"/>
              <a:t> Google account (</a:t>
            </a:r>
            <a:r>
              <a:rPr lang="nl-NL" dirty="0" err="1"/>
              <a:t>same</a:t>
            </a:r>
            <a:r>
              <a:rPr lang="nl-NL" dirty="0"/>
              <a:t> link)</a:t>
            </a:r>
            <a:br>
              <a:rPr lang="nl-NL" dirty="0"/>
            </a:br>
            <a:endParaRPr lang="nl-NL" dirty="0"/>
          </a:p>
          <a:p>
            <a:pPr marL="514350" indent="-514350">
              <a:buAutoNum type="arabicPeriod"/>
            </a:pPr>
            <a:r>
              <a:rPr lang="nl-NL" dirty="0"/>
              <a:t>Follow </a:t>
            </a:r>
            <a:r>
              <a:rPr lang="nl-NL" dirty="0" err="1"/>
              <a:t>this</a:t>
            </a:r>
            <a:r>
              <a:rPr lang="nl-NL" dirty="0"/>
              <a:t> link: </a:t>
            </a:r>
            <a:r>
              <a:rPr lang="nl-NL" dirty="0">
                <a:hlinkClick r:id="rId3"/>
              </a:rPr>
              <a:t>https://colab.research.google.com/drive/1WrrJ-9o27sMXnGXfcZ1NBW4OuwSFM5dR?usp=sharing</a:t>
            </a:r>
            <a:endParaRPr lang="nl-NL" dirty="0"/>
          </a:p>
          <a:p>
            <a:pPr marL="514350" indent="-514350">
              <a:buAutoNum type="arabicPeriod"/>
            </a:pPr>
            <a:r>
              <a:rPr lang="nl-NL" dirty="0"/>
              <a:t>Save a copy of </a:t>
            </a:r>
            <a:r>
              <a:rPr lang="nl-NL" dirty="0" err="1"/>
              <a:t>the</a:t>
            </a:r>
            <a:r>
              <a:rPr lang="nl-NL" dirty="0"/>
              <a:t> notebook in </a:t>
            </a:r>
            <a:r>
              <a:rPr lang="nl-NL" dirty="0" err="1"/>
              <a:t>your</a:t>
            </a:r>
            <a:r>
              <a:rPr lang="nl-NL" dirty="0"/>
              <a:t> google drive folder</a:t>
            </a:r>
            <a:br>
              <a:rPr lang="nl-NL" dirty="0"/>
            </a:br>
            <a:endParaRPr lang="nl-NL" dirty="0"/>
          </a:p>
          <a:p>
            <a:pPr marL="514350" indent="-514350">
              <a:buAutoNum type="arabicPeriod"/>
            </a:pPr>
            <a:r>
              <a:rPr lang="nl-NL" dirty="0"/>
              <a:t>Start </a:t>
            </a:r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executing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first </a:t>
            </a:r>
            <a:r>
              <a:rPr lang="nl-NL" dirty="0" err="1"/>
              <a:t>two</a:t>
            </a:r>
            <a:r>
              <a:rPr lang="nl-NL" dirty="0"/>
              <a:t> </a:t>
            </a:r>
            <a:r>
              <a:rPr lang="nl-NL" dirty="0" err="1"/>
              <a:t>cells</a:t>
            </a:r>
            <a:endParaRPr lang="nl-NL" dirty="0"/>
          </a:p>
          <a:p>
            <a:pPr marL="514350" indent="-514350">
              <a:buAutoNum type="arabicPeriod"/>
            </a:pPr>
            <a:endParaRPr lang="nl-NL" dirty="0"/>
          </a:p>
          <a:p>
            <a:pPr marL="514350" indent="-514350">
              <a:buAutoNum type="arabicPeriod"/>
            </a:pP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2127A9-8B60-7977-671B-D1F8006C8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50710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Tijdelijke aanduiding voor afbeelding 2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" r="358"/>
          <a:stretch/>
        </p:blipFill>
        <p:spPr>
          <a:xfrm>
            <a:off x="-9246" y="-27384"/>
            <a:ext cx="9153245" cy="6852793"/>
          </a:xfrm>
          <a:prstGeom prst="rect">
            <a:avLst/>
          </a:prstGeom>
        </p:spPr>
      </p:pic>
      <p:pic>
        <p:nvPicPr>
          <p:cNvPr id="6" name="Tijdelijke aanduiding voor afbeelding 5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" b="246"/>
          <a:stretch>
            <a:fillRect/>
          </a:stretch>
        </p:blipFill>
        <p:spPr>
          <a:xfrm>
            <a:off x="-18000" y="5229200"/>
            <a:ext cx="9162000" cy="1662617"/>
          </a:xfrm>
        </p:spPr>
      </p:pic>
      <p:sp>
        <p:nvSpPr>
          <p:cNvPr id="4" name="Titel 3"/>
          <p:cNvSpPr>
            <a:spLocks noGrp="1"/>
          </p:cNvSpPr>
          <p:nvPr>
            <p:ph type="ctrTitle"/>
          </p:nvPr>
        </p:nvSpPr>
        <p:spPr>
          <a:xfrm>
            <a:off x="467544" y="1700808"/>
            <a:ext cx="8352928" cy="749812"/>
          </a:xfrm>
          <a:noFill/>
        </p:spPr>
        <p:txBody>
          <a:bodyPr/>
          <a:lstStyle/>
          <a:p>
            <a:pPr algn="ctr"/>
            <a:r>
              <a:rPr lang="en-GB" sz="4400" dirty="0"/>
              <a:t>Part 1 – Basic Constructions</a:t>
            </a:r>
            <a:endParaRPr lang="nl-BE" sz="4400" dirty="0"/>
          </a:p>
        </p:txBody>
      </p:sp>
    </p:spTree>
    <p:extLst>
      <p:ext uri="{BB962C8B-B14F-4D97-AF65-F5344CB8AC3E}">
        <p14:creationId xmlns:p14="http://schemas.microsoft.com/office/powerpoint/2010/main" val="2255301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12CECD3-5F9E-4B6C-8501-500F8DAD2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014" y="1988840"/>
            <a:ext cx="4778002" cy="41819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4B5ECB-D6E6-4B6D-8CE2-C3825EFCF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In </a:t>
            </a:r>
            <a:r>
              <a:rPr lang="nl-BE" dirty="0" err="1"/>
              <a:t>the</a:t>
            </a:r>
            <a:r>
              <a:rPr lang="nl-BE" dirty="0"/>
              <a:t> first part we </a:t>
            </a:r>
            <a:r>
              <a:rPr lang="nl-BE" dirty="0" err="1"/>
              <a:t>will</a:t>
            </a:r>
            <a:r>
              <a:rPr lang="nl-BE" dirty="0"/>
              <a:t> </a:t>
            </a:r>
            <a:r>
              <a:rPr lang="nl-BE" dirty="0" err="1"/>
              <a:t>write</a:t>
            </a:r>
            <a:r>
              <a:rPr lang="nl-BE" dirty="0"/>
              <a:t> 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743E0-FCAC-4E36-B774-92AFF628B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… a </a:t>
            </a:r>
            <a:r>
              <a:rPr lang="nl-NL" dirty="0">
                <a:solidFill>
                  <a:schemeClr val="accent2"/>
                </a:solidFill>
              </a:rPr>
              <a:t>Python program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guiding</a:t>
            </a:r>
            <a:r>
              <a:rPr lang="nl-NL" dirty="0"/>
              <a:t> a robot out of a </a:t>
            </a:r>
            <a:r>
              <a:rPr lang="nl-NL" dirty="0" err="1">
                <a:solidFill>
                  <a:schemeClr val="accent2"/>
                </a:solidFill>
              </a:rPr>
              <a:t>maze</a:t>
            </a:r>
            <a:endParaRPr lang="nl-NL" dirty="0">
              <a:solidFill>
                <a:schemeClr val="accent2"/>
              </a:solidFill>
            </a:endParaRPr>
          </a:p>
          <a:p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EB747-1139-4417-B7C1-8DC2E0E9E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6</a:t>
            </a:fld>
            <a:endParaRPr lang="nl-NL"/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3622D006-4D87-40A8-B9B0-4FBB45701724}"/>
              </a:ext>
            </a:extLst>
          </p:cNvPr>
          <p:cNvSpPr/>
          <p:nvPr/>
        </p:nvSpPr>
        <p:spPr>
          <a:xfrm>
            <a:off x="843878" y="2780928"/>
            <a:ext cx="914400" cy="612648"/>
          </a:xfrm>
          <a:prstGeom prst="wedgeRectCallout">
            <a:avLst>
              <a:gd name="adj1" fmla="val 174313"/>
              <a:gd name="adj2" fmla="val 10334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AC18B6F6-5B1E-4A0A-ABAE-2F78FC486E44}"/>
              </a:ext>
            </a:extLst>
          </p:cNvPr>
          <p:cNvSpPr/>
          <p:nvPr/>
        </p:nvSpPr>
        <p:spPr>
          <a:xfrm>
            <a:off x="7396606" y="2924944"/>
            <a:ext cx="914400" cy="612648"/>
          </a:xfrm>
          <a:prstGeom prst="wedgeRectCallout">
            <a:avLst>
              <a:gd name="adj1" fmla="val -212094"/>
              <a:gd name="adj2" fmla="val -850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>
                <a:solidFill>
                  <a:schemeClr val="tx1"/>
                </a:solidFill>
              </a:rPr>
              <a:t>Target</a:t>
            </a: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A5572A2A-5B22-4AEB-A6F7-3A86C24BE6FA}"/>
              </a:ext>
            </a:extLst>
          </p:cNvPr>
          <p:cNvSpPr/>
          <p:nvPr/>
        </p:nvSpPr>
        <p:spPr>
          <a:xfrm>
            <a:off x="545502" y="4437112"/>
            <a:ext cx="1212776" cy="1224136"/>
          </a:xfrm>
          <a:prstGeom prst="wedgeRectCallout">
            <a:avLst>
              <a:gd name="adj1" fmla="val 154140"/>
              <a:gd name="adj2" fmla="val -14971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 err="1">
                <a:solidFill>
                  <a:schemeClr val="tx1"/>
                </a:solidFill>
              </a:rPr>
              <a:t>Current</a:t>
            </a:r>
            <a:r>
              <a:rPr lang="nl-BE" dirty="0">
                <a:solidFill>
                  <a:schemeClr val="tx1"/>
                </a:solidFill>
              </a:rPr>
              <a:t> </a:t>
            </a:r>
            <a:r>
              <a:rPr lang="nl-BE" dirty="0" err="1">
                <a:solidFill>
                  <a:schemeClr val="tx1"/>
                </a:solidFill>
              </a:rPr>
              <a:t>position</a:t>
            </a:r>
            <a:r>
              <a:rPr lang="nl-BE" dirty="0">
                <a:solidFill>
                  <a:schemeClr val="tx1"/>
                </a:solidFill>
              </a:rPr>
              <a:t> </a:t>
            </a:r>
            <a:r>
              <a:rPr lang="nl-BE" dirty="0" err="1">
                <a:solidFill>
                  <a:schemeClr val="tx1"/>
                </a:solidFill>
              </a:rPr>
              <a:t>and</a:t>
            </a:r>
            <a:r>
              <a:rPr lang="nl-BE" dirty="0">
                <a:solidFill>
                  <a:schemeClr val="tx1"/>
                </a:solidFill>
              </a:rPr>
              <a:t> </a:t>
            </a:r>
            <a:r>
              <a:rPr lang="nl-BE" dirty="0" err="1">
                <a:solidFill>
                  <a:schemeClr val="tx1"/>
                </a:solidFill>
              </a:rPr>
              <a:t>direction</a:t>
            </a:r>
            <a:endParaRPr lang="nl-B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9364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FB0E1-3376-433F-9297-30ED049EC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The </a:t>
            </a:r>
            <a:r>
              <a:rPr lang="nl-BE" dirty="0" err="1"/>
              <a:t>instructions</a:t>
            </a:r>
            <a:r>
              <a:rPr lang="nl-BE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3D66A-3143-4953-BD81-AA041BA93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BE" dirty="0"/>
          </a:p>
          <a:p>
            <a:r>
              <a:rPr lang="nl-BE" dirty="0"/>
              <a:t>	</a:t>
            </a:r>
            <a:r>
              <a:rPr lang="nl-BE" dirty="0" err="1"/>
              <a:t>turnLeft</a:t>
            </a:r>
            <a:r>
              <a:rPr lang="nl-BE" dirty="0"/>
              <a:t>()</a:t>
            </a:r>
          </a:p>
          <a:p>
            <a:endParaRPr lang="nl-BE" dirty="0"/>
          </a:p>
          <a:p>
            <a:r>
              <a:rPr lang="nl-BE" dirty="0"/>
              <a:t>	</a:t>
            </a:r>
          </a:p>
          <a:p>
            <a:r>
              <a:rPr lang="nl-BE" dirty="0"/>
              <a:t>	</a:t>
            </a:r>
            <a:r>
              <a:rPr lang="nl-BE" dirty="0" err="1"/>
              <a:t>turnRight</a:t>
            </a:r>
            <a:r>
              <a:rPr lang="nl-BE" dirty="0"/>
              <a:t>()</a:t>
            </a:r>
          </a:p>
          <a:p>
            <a:endParaRPr lang="nl-BE" dirty="0"/>
          </a:p>
          <a:p>
            <a:r>
              <a:rPr lang="nl-BE" dirty="0"/>
              <a:t>	</a:t>
            </a:r>
          </a:p>
          <a:p>
            <a:r>
              <a:rPr lang="nl-BE" dirty="0"/>
              <a:t>	</a:t>
            </a:r>
            <a:r>
              <a:rPr lang="nl-BE" dirty="0" err="1"/>
              <a:t>goForward</a:t>
            </a:r>
            <a:r>
              <a:rPr lang="nl-BE" dirty="0"/>
              <a:t>()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104C50-4235-4A6D-9341-8F7E2B793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7</a:t>
            </a:fld>
            <a:endParaRPr lang="nl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B8574B-6CE0-4EDD-9FE7-4BAF73040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968" y="2929631"/>
            <a:ext cx="829444" cy="8235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D43B8A-1C2B-43D5-AFD3-B7C293C5B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144" y="2924944"/>
            <a:ext cx="829488" cy="823520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99A909BA-8637-4EE4-9454-54610C20F228}"/>
              </a:ext>
            </a:extLst>
          </p:cNvPr>
          <p:cNvSpPr/>
          <p:nvPr/>
        </p:nvSpPr>
        <p:spPr>
          <a:xfrm>
            <a:off x="5220072" y="3249855"/>
            <a:ext cx="504056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ACCBDC-3BF5-4AF2-8269-2F7AC32F0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7573" y="1476392"/>
            <a:ext cx="829444" cy="8235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0D0CCC4-6937-4E0F-B170-8779EA6EF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68" y="1480097"/>
            <a:ext cx="829488" cy="823520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101EBBB7-9984-4B38-B0A1-D2B24D006C64}"/>
              </a:ext>
            </a:extLst>
          </p:cNvPr>
          <p:cNvSpPr/>
          <p:nvPr/>
        </p:nvSpPr>
        <p:spPr>
          <a:xfrm>
            <a:off x="5220072" y="1805008"/>
            <a:ext cx="504056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81A9E5C-B728-4589-B98C-51155946C7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3969" y="4365104"/>
            <a:ext cx="1656184" cy="8310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40D6619-68C4-4D8E-B286-5384CB0B9E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4248" y="4365105"/>
            <a:ext cx="1656185" cy="831082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6E073183-4993-4B9B-B1AC-78A72D14FF21}"/>
              </a:ext>
            </a:extLst>
          </p:cNvPr>
          <p:cNvSpPr/>
          <p:nvPr/>
        </p:nvSpPr>
        <p:spPr>
          <a:xfrm>
            <a:off x="6084168" y="4725144"/>
            <a:ext cx="504056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55693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12CECD3-5F9E-4B6C-8501-500F8DAD2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2276872"/>
            <a:ext cx="4778002" cy="41819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4B5ECB-D6E6-4B6D-8CE2-C3825EFCF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Quick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743E0-FCAC-4E36-B774-92AFF628B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/>
              <a:t>Consider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following</a:t>
            </a:r>
            <a:r>
              <a:rPr lang="nl-NL" dirty="0"/>
              <a:t> </a:t>
            </a:r>
            <a:r>
              <a:rPr lang="nl-NL" dirty="0" err="1"/>
              <a:t>starting</a:t>
            </a:r>
            <a:r>
              <a:rPr lang="nl-NL" dirty="0"/>
              <a:t> </a:t>
            </a:r>
            <a:r>
              <a:rPr lang="nl-NL" dirty="0" err="1"/>
              <a:t>position</a:t>
            </a:r>
            <a:r>
              <a:rPr lang="nl-NL" dirty="0"/>
              <a:t>; </a:t>
            </a:r>
            <a:r>
              <a:rPr lang="nl-NL" dirty="0" err="1"/>
              <a:t>what</a:t>
            </a:r>
            <a:r>
              <a:rPr lang="nl-NL" dirty="0"/>
              <a:t> is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position</a:t>
            </a:r>
            <a:r>
              <a:rPr lang="nl-NL" dirty="0"/>
              <a:t> of </a:t>
            </a:r>
            <a:r>
              <a:rPr lang="nl-NL" dirty="0" err="1"/>
              <a:t>the</a:t>
            </a:r>
            <a:r>
              <a:rPr lang="nl-NL" dirty="0"/>
              <a:t> robot </a:t>
            </a:r>
            <a:r>
              <a:rPr lang="nl-NL" dirty="0" err="1"/>
              <a:t>after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commands</a:t>
            </a:r>
            <a:r>
              <a:rPr lang="nl-NL" dirty="0"/>
              <a:t> on </a:t>
            </a:r>
            <a:r>
              <a:rPr lang="nl-NL" dirty="0" err="1"/>
              <a:t>the</a:t>
            </a:r>
            <a:r>
              <a:rPr lang="nl-NL" dirty="0"/>
              <a:t> right ?</a:t>
            </a:r>
            <a:endParaRPr lang="nl-NL" dirty="0">
              <a:solidFill>
                <a:schemeClr val="accent2"/>
              </a:solidFill>
            </a:endParaRPr>
          </a:p>
          <a:p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EB747-1139-4417-B7C1-8DC2E0E9E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8</a:t>
            </a:fld>
            <a:endParaRPr lang="nl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CF1840-29BD-4CD1-A379-403E74A8E43E}"/>
              </a:ext>
            </a:extLst>
          </p:cNvPr>
          <p:cNvSpPr txBox="1"/>
          <p:nvPr/>
        </p:nvSpPr>
        <p:spPr>
          <a:xfrm>
            <a:off x="1462823" y="3933056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/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7CEA73-1237-4B3F-AA8C-923B55EF7BC8}"/>
              </a:ext>
            </a:extLst>
          </p:cNvPr>
          <p:cNvSpPr txBox="1"/>
          <p:nvPr/>
        </p:nvSpPr>
        <p:spPr>
          <a:xfrm>
            <a:off x="2771800" y="393305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/>
              <a:t>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C6558A-0A73-4EE2-B8E9-850C5ECE8BEF}"/>
              </a:ext>
            </a:extLst>
          </p:cNvPr>
          <p:cNvSpPr txBox="1"/>
          <p:nvPr/>
        </p:nvSpPr>
        <p:spPr>
          <a:xfrm>
            <a:off x="2771800" y="530120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/>
              <a:t>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47F8FB-3624-4119-903F-D0701A9C71EB}"/>
              </a:ext>
            </a:extLst>
          </p:cNvPr>
          <p:cNvSpPr/>
          <p:nvPr/>
        </p:nvSpPr>
        <p:spPr>
          <a:xfrm>
            <a:off x="5796136" y="2708920"/>
            <a:ext cx="295232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BE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turnRight</a:t>
            </a:r>
            <a:r>
              <a:rPr lang="nl-BE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nl-BE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goForward</a:t>
            </a:r>
            <a:r>
              <a:rPr lang="nl-BE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nl-BE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turnLeft</a:t>
            </a:r>
            <a:r>
              <a:rPr lang="nl-BE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nl-BE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goForward</a:t>
            </a:r>
            <a:r>
              <a:rPr lang="nl-BE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nl-BE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goForward</a:t>
            </a:r>
            <a:r>
              <a:rPr lang="nl-BE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nl-BE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turnRight</a:t>
            </a:r>
            <a:r>
              <a:rPr lang="nl-BE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392849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12CECD3-5F9E-4B6C-8501-500F8DAD2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2276872"/>
            <a:ext cx="4778002" cy="41819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4B5ECB-D6E6-4B6D-8CE2-C3825EFCF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Quick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743E0-FCAC-4E36-B774-92AFF628B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/>
              <a:t>Consider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following</a:t>
            </a:r>
            <a:r>
              <a:rPr lang="nl-NL" dirty="0"/>
              <a:t> </a:t>
            </a:r>
            <a:r>
              <a:rPr lang="nl-NL" dirty="0" err="1"/>
              <a:t>starting</a:t>
            </a:r>
            <a:r>
              <a:rPr lang="nl-NL" dirty="0"/>
              <a:t> </a:t>
            </a:r>
            <a:r>
              <a:rPr lang="nl-NL" dirty="0" err="1"/>
              <a:t>position</a:t>
            </a:r>
            <a:r>
              <a:rPr lang="nl-NL" dirty="0"/>
              <a:t>; </a:t>
            </a:r>
            <a:r>
              <a:rPr lang="nl-NL" dirty="0" err="1"/>
              <a:t>what</a:t>
            </a:r>
            <a:r>
              <a:rPr lang="nl-NL" dirty="0"/>
              <a:t> is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position</a:t>
            </a:r>
            <a:r>
              <a:rPr lang="nl-NL" dirty="0"/>
              <a:t> of </a:t>
            </a:r>
            <a:r>
              <a:rPr lang="nl-NL" dirty="0" err="1"/>
              <a:t>the</a:t>
            </a:r>
            <a:r>
              <a:rPr lang="nl-NL" dirty="0"/>
              <a:t> robot </a:t>
            </a:r>
            <a:r>
              <a:rPr lang="nl-NL" dirty="0" err="1"/>
              <a:t>after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commands</a:t>
            </a:r>
            <a:r>
              <a:rPr lang="nl-NL" dirty="0"/>
              <a:t> on </a:t>
            </a:r>
            <a:r>
              <a:rPr lang="nl-NL" dirty="0" err="1"/>
              <a:t>the</a:t>
            </a:r>
            <a:r>
              <a:rPr lang="nl-NL" dirty="0"/>
              <a:t> right ?</a:t>
            </a:r>
            <a:endParaRPr lang="nl-NL" dirty="0">
              <a:solidFill>
                <a:schemeClr val="accent2"/>
              </a:solidFill>
            </a:endParaRPr>
          </a:p>
          <a:p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EB747-1139-4417-B7C1-8DC2E0E9E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9</a:t>
            </a:fld>
            <a:endParaRPr lang="nl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CF1840-29BD-4CD1-A379-403E74A8E43E}"/>
              </a:ext>
            </a:extLst>
          </p:cNvPr>
          <p:cNvSpPr txBox="1"/>
          <p:nvPr/>
        </p:nvSpPr>
        <p:spPr>
          <a:xfrm>
            <a:off x="1462823" y="3933056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/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7CEA73-1237-4B3F-AA8C-923B55EF7BC8}"/>
              </a:ext>
            </a:extLst>
          </p:cNvPr>
          <p:cNvSpPr txBox="1"/>
          <p:nvPr/>
        </p:nvSpPr>
        <p:spPr>
          <a:xfrm>
            <a:off x="2771800" y="393305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/>
              <a:t>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C6558A-0A73-4EE2-B8E9-850C5ECE8BEF}"/>
              </a:ext>
            </a:extLst>
          </p:cNvPr>
          <p:cNvSpPr txBox="1"/>
          <p:nvPr/>
        </p:nvSpPr>
        <p:spPr>
          <a:xfrm>
            <a:off x="2771800" y="530120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/>
              <a:t>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47F8FB-3624-4119-903F-D0701A9C71EB}"/>
              </a:ext>
            </a:extLst>
          </p:cNvPr>
          <p:cNvSpPr/>
          <p:nvPr/>
        </p:nvSpPr>
        <p:spPr>
          <a:xfrm>
            <a:off x="5796136" y="2708920"/>
            <a:ext cx="295232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BE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turnRight</a:t>
            </a:r>
            <a:r>
              <a:rPr lang="nl-BE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nl-BE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goForward</a:t>
            </a:r>
            <a:r>
              <a:rPr lang="nl-BE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nl-BE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turnLeft</a:t>
            </a:r>
            <a:r>
              <a:rPr lang="nl-BE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nl-BE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goForward</a:t>
            </a:r>
            <a:r>
              <a:rPr lang="nl-BE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nl-BE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goForward</a:t>
            </a:r>
            <a:r>
              <a:rPr lang="nl-BE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nl-BE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turnRight</a:t>
            </a:r>
            <a:r>
              <a:rPr lang="nl-BE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E06FAC-8064-408D-917F-9F62E28A8B80}"/>
              </a:ext>
            </a:extLst>
          </p:cNvPr>
          <p:cNvSpPr txBox="1"/>
          <p:nvPr/>
        </p:nvSpPr>
        <p:spPr>
          <a:xfrm>
            <a:off x="1462823" y="3933056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/>
              <a:t>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F6F6B6-00CF-4511-A96F-DA5A413AE265}"/>
              </a:ext>
            </a:extLst>
          </p:cNvPr>
          <p:cNvSpPr txBox="1"/>
          <p:nvPr/>
        </p:nvSpPr>
        <p:spPr>
          <a:xfrm>
            <a:off x="2771800" y="393305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/>
              <a:t>b</a:t>
            </a:r>
          </a:p>
        </p:txBody>
      </p:sp>
      <p:sp>
        <p:nvSpPr>
          <p:cNvPr id="14" name="Arrow: Curved Left 13">
            <a:extLst>
              <a:ext uri="{FF2B5EF4-FFF2-40B4-BE49-F238E27FC236}">
                <a16:creationId xmlns:a16="http://schemas.microsoft.com/office/drawing/2014/main" id="{28D70536-DF70-46D3-8314-43A726A45BA5}"/>
              </a:ext>
            </a:extLst>
          </p:cNvPr>
          <p:cNvSpPr/>
          <p:nvPr/>
        </p:nvSpPr>
        <p:spPr>
          <a:xfrm rot="19137967">
            <a:off x="1531037" y="3224868"/>
            <a:ext cx="144016" cy="288032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DB36C472-F95E-4EBF-A670-13E36A1DDD24}"/>
              </a:ext>
            </a:extLst>
          </p:cNvPr>
          <p:cNvSpPr/>
          <p:nvPr/>
        </p:nvSpPr>
        <p:spPr>
          <a:xfrm>
            <a:off x="1563511" y="3573016"/>
            <a:ext cx="45719" cy="2880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Curved Left 15">
            <a:extLst>
              <a:ext uri="{FF2B5EF4-FFF2-40B4-BE49-F238E27FC236}">
                <a16:creationId xmlns:a16="http://schemas.microsoft.com/office/drawing/2014/main" id="{5432FE55-E3A3-4AB8-92B0-A598C737DC5B}"/>
              </a:ext>
            </a:extLst>
          </p:cNvPr>
          <p:cNvSpPr/>
          <p:nvPr/>
        </p:nvSpPr>
        <p:spPr>
          <a:xfrm rot="8582382" flipV="1">
            <a:off x="1471331" y="3993432"/>
            <a:ext cx="238446" cy="307368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672462AC-5A3B-4FD9-8B73-BA42762A9DC0}"/>
              </a:ext>
            </a:extLst>
          </p:cNvPr>
          <p:cNvSpPr/>
          <p:nvPr/>
        </p:nvSpPr>
        <p:spPr>
          <a:xfrm>
            <a:off x="1814658" y="4101398"/>
            <a:ext cx="381077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3EA7CA7D-36DB-4C31-8926-35D38D7111D5}"/>
              </a:ext>
            </a:extLst>
          </p:cNvPr>
          <p:cNvSpPr/>
          <p:nvPr/>
        </p:nvSpPr>
        <p:spPr>
          <a:xfrm>
            <a:off x="2348135" y="4101398"/>
            <a:ext cx="381077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Curved Left 18">
            <a:extLst>
              <a:ext uri="{FF2B5EF4-FFF2-40B4-BE49-F238E27FC236}">
                <a16:creationId xmlns:a16="http://schemas.microsoft.com/office/drawing/2014/main" id="{55B1DCBB-B1BC-4102-BD42-8A1A21839B34}"/>
              </a:ext>
            </a:extLst>
          </p:cNvPr>
          <p:cNvSpPr/>
          <p:nvPr/>
        </p:nvSpPr>
        <p:spPr>
          <a:xfrm rot="19137967">
            <a:off x="3006285" y="4024412"/>
            <a:ext cx="144016" cy="288032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5137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F71A0-78BB-4255-9CC8-A1E26CF63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Assignment</a:t>
            </a:r>
            <a:r>
              <a:rPr lang="nl-BE" dirty="0"/>
              <a:t> #1				            (q1.py)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D4480-8C41-4523-A178-48C6E0048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Finish </a:t>
            </a:r>
            <a:r>
              <a:rPr lang="nl-BE" dirty="0" err="1"/>
              <a:t>the</a:t>
            </a:r>
            <a:r>
              <a:rPr lang="nl-BE" dirty="0"/>
              <a:t> program 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795119-355E-41E1-B41F-9BE72777C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10</a:t>
            </a:fld>
            <a:endParaRPr lang="nl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95F976-6793-4418-9041-2E192BCF9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695" y="1916832"/>
            <a:ext cx="3917114" cy="3429000"/>
          </a:xfrm>
          <a:prstGeom prst="rect">
            <a:avLst/>
          </a:prstGeom>
        </p:spPr>
      </p:pic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49C14218-7DC5-4C4D-A5D6-C8CEC9103FC8}"/>
              </a:ext>
            </a:extLst>
          </p:cNvPr>
          <p:cNvSpPr/>
          <p:nvPr/>
        </p:nvSpPr>
        <p:spPr>
          <a:xfrm>
            <a:off x="564214" y="3789040"/>
            <a:ext cx="1562472" cy="1133836"/>
          </a:xfrm>
          <a:prstGeom prst="wedgeRectCallout">
            <a:avLst>
              <a:gd name="adj1" fmla="val 127155"/>
              <a:gd name="adj2" fmla="val -67181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>
                <a:solidFill>
                  <a:schemeClr val="tx1"/>
                </a:solidFill>
              </a:rPr>
              <a:t>The program </a:t>
            </a:r>
            <a:r>
              <a:rPr lang="nl-BE" dirty="0" err="1">
                <a:solidFill>
                  <a:schemeClr val="tx1"/>
                </a:solidFill>
              </a:rPr>
              <a:t>brings</a:t>
            </a:r>
            <a:r>
              <a:rPr lang="nl-BE" dirty="0">
                <a:solidFill>
                  <a:schemeClr val="tx1"/>
                </a:solidFill>
              </a:rPr>
              <a:t> me </a:t>
            </a:r>
            <a:r>
              <a:rPr lang="nl-BE" dirty="0" err="1">
                <a:solidFill>
                  <a:schemeClr val="tx1"/>
                </a:solidFill>
              </a:rPr>
              <a:t>till</a:t>
            </a:r>
            <a:r>
              <a:rPr lang="nl-BE" dirty="0">
                <a:solidFill>
                  <a:schemeClr val="tx1"/>
                </a:solidFill>
              </a:rPr>
              <a:t> here</a:t>
            </a: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01A4BCA5-9A71-4438-9DBA-7A7E26CA310B}"/>
              </a:ext>
            </a:extLst>
          </p:cNvPr>
          <p:cNvSpPr/>
          <p:nvPr/>
        </p:nvSpPr>
        <p:spPr>
          <a:xfrm>
            <a:off x="7027191" y="2672734"/>
            <a:ext cx="1361234" cy="684258"/>
          </a:xfrm>
          <a:prstGeom prst="wedgeRectCallout">
            <a:avLst>
              <a:gd name="adj1" fmla="val -145672"/>
              <a:gd name="adj2" fmla="val -23246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>
                <a:solidFill>
                  <a:schemeClr val="tx1"/>
                </a:solidFill>
              </a:rPr>
              <a:t>But </a:t>
            </a:r>
            <a:r>
              <a:rPr lang="nl-BE" dirty="0" err="1">
                <a:solidFill>
                  <a:schemeClr val="tx1"/>
                </a:solidFill>
              </a:rPr>
              <a:t>I’d</a:t>
            </a:r>
            <a:r>
              <a:rPr lang="nl-BE" dirty="0">
                <a:solidFill>
                  <a:schemeClr val="tx1"/>
                </a:solidFill>
              </a:rPr>
              <a:t> like </a:t>
            </a:r>
            <a:r>
              <a:rPr lang="nl-BE" dirty="0" err="1">
                <a:solidFill>
                  <a:schemeClr val="tx1"/>
                </a:solidFill>
              </a:rPr>
              <a:t>to</a:t>
            </a:r>
            <a:r>
              <a:rPr lang="nl-BE" dirty="0">
                <a:solidFill>
                  <a:schemeClr val="tx1"/>
                </a:solidFill>
              </a:rPr>
              <a:t> </a:t>
            </a:r>
            <a:r>
              <a:rPr lang="nl-BE" dirty="0" err="1">
                <a:solidFill>
                  <a:schemeClr val="tx1"/>
                </a:solidFill>
              </a:rPr>
              <a:t>be</a:t>
            </a:r>
            <a:r>
              <a:rPr lang="nl-BE" dirty="0">
                <a:solidFill>
                  <a:schemeClr val="tx1"/>
                </a:solidFill>
              </a:rPr>
              <a:t> here!</a:t>
            </a:r>
          </a:p>
        </p:txBody>
      </p:sp>
    </p:spTree>
    <p:extLst>
      <p:ext uri="{BB962C8B-B14F-4D97-AF65-F5344CB8AC3E}">
        <p14:creationId xmlns:p14="http://schemas.microsoft.com/office/powerpoint/2010/main" val="2524358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6310A-2E74-4D62-A0BC-505F226EA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Solution </a:t>
            </a:r>
            <a:r>
              <a:rPr lang="nl-BE" dirty="0" err="1"/>
              <a:t>Assignment</a:t>
            </a:r>
            <a:r>
              <a:rPr lang="nl-BE" dirty="0"/>
              <a:t>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A9E20-BEF9-4D35-9EA4-AD51F365C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The next </a:t>
            </a:r>
            <a:r>
              <a:rPr lang="nl-BE" dirty="0" err="1"/>
              <a:t>sequence</a:t>
            </a:r>
            <a:r>
              <a:rPr lang="nl-BE" dirty="0"/>
              <a:t> of </a:t>
            </a:r>
            <a:r>
              <a:rPr lang="nl-BE" dirty="0" err="1"/>
              <a:t>instructions</a:t>
            </a:r>
            <a:r>
              <a:rPr lang="nl-BE" dirty="0"/>
              <a:t> </a:t>
            </a:r>
            <a:r>
              <a:rPr lang="nl-BE" dirty="0" err="1"/>
              <a:t>gets</a:t>
            </a:r>
            <a:r>
              <a:rPr lang="nl-BE" dirty="0"/>
              <a:t> </a:t>
            </a:r>
            <a:r>
              <a:rPr lang="nl-BE" dirty="0" err="1"/>
              <a:t>you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end: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839135-6D7B-4407-A363-F919C39B2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11</a:t>
            </a:fld>
            <a:endParaRPr lang="nl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6CFE9A-1D50-40EE-843A-4B204162F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1827049"/>
            <a:ext cx="3024336" cy="483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456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1901ED1-A052-4C48-8086-0FC6C5A04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59" y="1678160"/>
            <a:ext cx="5648325" cy="7143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E6955B-BD1F-4D24-93E5-23BE8F08B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We are </a:t>
            </a:r>
            <a:r>
              <a:rPr lang="nl-BE" dirty="0" err="1"/>
              <a:t>repeating</a:t>
            </a:r>
            <a:r>
              <a:rPr lang="nl-BE" dirty="0"/>
              <a:t> </a:t>
            </a:r>
            <a:r>
              <a:rPr lang="nl-BE" dirty="0" err="1"/>
              <a:t>ourselves</a:t>
            </a:r>
            <a:r>
              <a:rPr lang="nl-BE" dirty="0"/>
              <a:t> 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C2325-9148-4701-94D1-B4B92C29B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Load </a:t>
            </a:r>
            <a:r>
              <a:rPr lang="nl-BE" dirty="0" err="1"/>
              <a:t>the</a:t>
            </a:r>
            <a:r>
              <a:rPr lang="nl-BE" dirty="0"/>
              <a:t> second question </a:t>
            </a:r>
            <a:r>
              <a:rPr lang="nl-BE" dirty="0" err="1"/>
              <a:t>and</a:t>
            </a:r>
            <a:r>
              <a:rPr lang="nl-BE" dirty="0"/>
              <a:t> </a:t>
            </a:r>
            <a:r>
              <a:rPr lang="nl-BE" dirty="0" err="1"/>
              <a:t>execute</a:t>
            </a:r>
            <a:r>
              <a:rPr lang="nl-BE" dirty="0"/>
              <a:t> (q2a.py)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809E8E-47CE-4ACF-8562-D91A4AF67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12</a:t>
            </a:fld>
            <a:endParaRPr lang="nl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CF4F53-E0F3-4DBA-B670-6C7B1709C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6" y="2417709"/>
            <a:ext cx="7922235" cy="3654422"/>
          </a:xfrm>
          <a:prstGeom prst="rect">
            <a:avLst/>
          </a:prstGeom>
        </p:spPr>
      </p:pic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A5B0F51E-91E0-4149-879E-C961342030DF}"/>
              </a:ext>
            </a:extLst>
          </p:cNvPr>
          <p:cNvSpPr/>
          <p:nvPr/>
        </p:nvSpPr>
        <p:spPr>
          <a:xfrm>
            <a:off x="7452320" y="293887"/>
            <a:ext cx="1296144" cy="6270225"/>
          </a:xfrm>
          <a:prstGeom prst="wedgeRectCallout">
            <a:avLst>
              <a:gd name="adj1" fmla="val -244376"/>
              <a:gd name="adj2" fmla="val -424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BE" sz="1400" dirty="0" err="1">
                <a:solidFill>
                  <a:schemeClr val="tx1"/>
                </a:solidFill>
              </a:rPr>
              <a:t>goForward</a:t>
            </a:r>
            <a:r>
              <a:rPr lang="nl-BE" sz="1400" dirty="0">
                <a:solidFill>
                  <a:schemeClr val="tx1"/>
                </a:solidFill>
              </a:rPr>
              <a:t>()</a:t>
            </a:r>
          </a:p>
          <a:p>
            <a:r>
              <a:rPr lang="nl-BE" sz="1400" dirty="0" err="1">
                <a:solidFill>
                  <a:schemeClr val="tx1"/>
                </a:solidFill>
              </a:rPr>
              <a:t>goForward</a:t>
            </a:r>
            <a:r>
              <a:rPr lang="nl-BE" sz="1400" dirty="0">
                <a:solidFill>
                  <a:schemeClr val="tx1"/>
                </a:solidFill>
              </a:rPr>
              <a:t>()</a:t>
            </a:r>
          </a:p>
          <a:p>
            <a:r>
              <a:rPr lang="nl-BE" sz="1400" dirty="0" err="1">
                <a:solidFill>
                  <a:schemeClr val="tx1"/>
                </a:solidFill>
              </a:rPr>
              <a:t>goForward</a:t>
            </a:r>
            <a:r>
              <a:rPr lang="nl-BE" sz="1400" dirty="0">
                <a:solidFill>
                  <a:schemeClr val="tx1"/>
                </a:solidFill>
              </a:rPr>
              <a:t>()</a:t>
            </a:r>
          </a:p>
          <a:p>
            <a:r>
              <a:rPr lang="nl-BE" sz="1400" dirty="0" err="1">
                <a:solidFill>
                  <a:schemeClr val="tx1"/>
                </a:solidFill>
              </a:rPr>
              <a:t>goForward</a:t>
            </a:r>
            <a:r>
              <a:rPr lang="nl-BE" sz="1400" dirty="0">
                <a:solidFill>
                  <a:schemeClr val="tx1"/>
                </a:solidFill>
              </a:rPr>
              <a:t>()</a:t>
            </a:r>
          </a:p>
          <a:p>
            <a:r>
              <a:rPr lang="nl-BE" sz="1400" dirty="0" err="1">
                <a:solidFill>
                  <a:schemeClr val="tx1"/>
                </a:solidFill>
              </a:rPr>
              <a:t>goForward</a:t>
            </a:r>
            <a:r>
              <a:rPr lang="nl-BE" sz="1400" dirty="0">
                <a:solidFill>
                  <a:schemeClr val="tx1"/>
                </a:solidFill>
              </a:rPr>
              <a:t>()</a:t>
            </a:r>
          </a:p>
          <a:p>
            <a:r>
              <a:rPr lang="nl-BE" sz="1400" dirty="0" err="1">
                <a:solidFill>
                  <a:schemeClr val="tx1"/>
                </a:solidFill>
              </a:rPr>
              <a:t>goForward</a:t>
            </a:r>
            <a:r>
              <a:rPr lang="nl-BE" sz="1400" dirty="0">
                <a:solidFill>
                  <a:schemeClr val="tx1"/>
                </a:solidFill>
              </a:rPr>
              <a:t>()</a:t>
            </a:r>
          </a:p>
          <a:p>
            <a:r>
              <a:rPr lang="nl-BE" sz="1400" dirty="0" err="1">
                <a:solidFill>
                  <a:schemeClr val="tx1"/>
                </a:solidFill>
              </a:rPr>
              <a:t>goForward</a:t>
            </a:r>
            <a:r>
              <a:rPr lang="nl-BE" sz="1400" dirty="0">
                <a:solidFill>
                  <a:schemeClr val="tx1"/>
                </a:solidFill>
              </a:rPr>
              <a:t>()</a:t>
            </a:r>
          </a:p>
          <a:p>
            <a:r>
              <a:rPr lang="nl-BE" sz="1400" dirty="0" err="1">
                <a:solidFill>
                  <a:schemeClr val="tx1"/>
                </a:solidFill>
              </a:rPr>
              <a:t>goForward</a:t>
            </a:r>
            <a:r>
              <a:rPr lang="nl-BE" sz="1400" dirty="0">
                <a:solidFill>
                  <a:schemeClr val="tx1"/>
                </a:solidFill>
              </a:rPr>
              <a:t>()</a:t>
            </a:r>
          </a:p>
          <a:p>
            <a:r>
              <a:rPr lang="nl-BE" sz="1400" dirty="0" err="1">
                <a:solidFill>
                  <a:schemeClr val="tx1"/>
                </a:solidFill>
              </a:rPr>
              <a:t>goForward</a:t>
            </a:r>
            <a:r>
              <a:rPr lang="nl-BE" sz="1400" dirty="0">
                <a:solidFill>
                  <a:schemeClr val="tx1"/>
                </a:solidFill>
              </a:rPr>
              <a:t>()</a:t>
            </a:r>
          </a:p>
          <a:p>
            <a:r>
              <a:rPr lang="nl-BE" sz="1400" dirty="0" err="1">
                <a:solidFill>
                  <a:schemeClr val="tx1"/>
                </a:solidFill>
              </a:rPr>
              <a:t>goForward</a:t>
            </a:r>
            <a:r>
              <a:rPr lang="nl-BE" sz="1400" dirty="0">
                <a:solidFill>
                  <a:schemeClr val="tx1"/>
                </a:solidFill>
              </a:rPr>
              <a:t>()</a:t>
            </a:r>
          </a:p>
          <a:p>
            <a:r>
              <a:rPr lang="nl-BE" sz="1400" dirty="0" err="1">
                <a:solidFill>
                  <a:schemeClr val="tx1"/>
                </a:solidFill>
              </a:rPr>
              <a:t>goForward</a:t>
            </a:r>
            <a:r>
              <a:rPr lang="nl-BE" sz="1400" dirty="0">
                <a:solidFill>
                  <a:schemeClr val="tx1"/>
                </a:solidFill>
              </a:rPr>
              <a:t>()</a:t>
            </a:r>
          </a:p>
          <a:p>
            <a:r>
              <a:rPr lang="nl-BE" sz="1400" dirty="0" err="1">
                <a:solidFill>
                  <a:schemeClr val="tx1"/>
                </a:solidFill>
              </a:rPr>
              <a:t>goForward</a:t>
            </a:r>
            <a:r>
              <a:rPr lang="nl-BE" sz="1400" dirty="0">
                <a:solidFill>
                  <a:schemeClr val="tx1"/>
                </a:solidFill>
              </a:rPr>
              <a:t>()</a:t>
            </a:r>
          </a:p>
          <a:p>
            <a:r>
              <a:rPr lang="nl-BE" sz="1400" dirty="0" err="1">
                <a:solidFill>
                  <a:schemeClr val="tx1"/>
                </a:solidFill>
              </a:rPr>
              <a:t>turnRight</a:t>
            </a:r>
            <a:r>
              <a:rPr lang="nl-BE" sz="1400" dirty="0">
                <a:solidFill>
                  <a:schemeClr val="tx1"/>
                </a:solidFill>
              </a:rPr>
              <a:t>()</a:t>
            </a:r>
          </a:p>
          <a:p>
            <a:r>
              <a:rPr lang="nl-BE" sz="1400" dirty="0" err="1">
                <a:solidFill>
                  <a:schemeClr val="tx1"/>
                </a:solidFill>
              </a:rPr>
              <a:t>goForward</a:t>
            </a:r>
            <a:r>
              <a:rPr lang="nl-BE" sz="1400" dirty="0">
                <a:solidFill>
                  <a:schemeClr val="tx1"/>
                </a:solidFill>
              </a:rPr>
              <a:t>()</a:t>
            </a:r>
          </a:p>
          <a:p>
            <a:r>
              <a:rPr lang="nl-BE" sz="1400" dirty="0" err="1">
                <a:solidFill>
                  <a:schemeClr val="tx1"/>
                </a:solidFill>
              </a:rPr>
              <a:t>goForward</a:t>
            </a:r>
            <a:r>
              <a:rPr lang="nl-BE" sz="1400" dirty="0">
                <a:solidFill>
                  <a:schemeClr val="tx1"/>
                </a:solidFill>
              </a:rPr>
              <a:t>()</a:t>
            </a:r>
          </a:p>
          <a:p>
            <a:r>
              <a:rPr lang="nl-BE" sz="1400" dirty="0" err="1">
                <a:solidFill>
                  <a:schemeClr val="tx1"/>
                </a:solidFill>
              </a:rPr>
              <a:t>goForward</a:t>
            </a:r>
            <a:r>
              <a:rPr lang="nl-BE" sz="1400" dirty="0">
                <a:solidFill>
                  <a:schemeClr val="tx1"/>
                </a:solidFill>
              </a:rPr>
              <a:t>()</a:t>
            </a:r>
          </a:p>
          <a:p>
            <a:r>
              <a:rPr lang="nl-BE" sz="1400" dirty="0" err="1">
                <a:solidFill>
                  <a:schemeClr val="tx1"/>
                </a:solidFill>
              </a:rPr>
              <a:t>turnRight</a:t>
            </a:r>
            <a:r>
              <a:rPr lang="nl-BE" sz="1400" dirty="0">
                <a:solidFill>
                  <a:schemeClr val="tx1"/>
                </a:solidFill>
              </a:rPr>
              <a:t>()</a:t>
            </a:r>
          </a:p>
          <a:p>
            <a:r>
              <a:rPr lang="nl-BE" sz="1400" dirty="0" err="1">
                <a:solidFill>
                  <a:schemeClr val="tx1"/>
                </a:solidFill>
              </a:rPr>
              <a:t>goForward</a:t>
            </a:r>
            <a:r>
              <a:rPr lang="nl-BE" sz="1400" dirty="0">
                <a:solidFill>
                  <a:schemeClr val="tx1"/>
                </a:solidFill>
              </a:rPr>
              <a:t>()</a:t>
            </a:r>
          </a:p>
          <a:p>
            <a:r>
              <a:rPr lang="nl-BE" sz="1400" dirty="0" err="1">
                <a:solidFill>
                  <a:schemeClr val="tx1"/>
                </a:solidFill>
              </a:rPr>
              <a:t>goForward</a:t>
            </a:r>
            <a:r>
              <a:rPr lang="nl-BE" sz="1400" dirty="0">
                <a:solidFill>
                  <a:schemeClr val="tx1"/>
                </a:solidFill>
              </a:rPr>
              <a:t>()</a:t>
            </a:r>
          </a:p>
          <a:p>
            <a:r>
              <a:rPr lang="nl-BE" sz="1400" dirty="0" err="1">
                <a:solidFill>
                  <a:schemeClr val="tx1"/>
                </a:solidFill>
              </a:rPr>
              <a:t>goForward</a:t>
            </a:r>
            <a:r>
              <a:rPr lang="nl-BE" sz="1400" dirty="0">
                <a:solidFill>
                  <a:schemeClr val="tx1"/>
                </a:solidFill>
              </a:rPr>
              <a:t>()</a:t>
            </a:r>
          </a:p>
          <a:p>
            <a:r>
              <a:rPr lang="nl-BE" sz="1400" dirty="0" err="1">
                <a:solidFill>
                  <a:schemeClr val="tx1"/>
                </a:solidFill>
              </a:rPr>
              <a:t>goForward</a:t>
            </a:r>
            <a:r>
              <a:rPr lang="nl-BE" sz="1400" dirty="0">
                <a:solidFill>
                  <a:schemeClr val="tx1"/>
                </a:solidFill>
              </a:rPr>
              <a:t>()</a:t>
            </a:r>
          </a:p>
          <a:p>
            <a:r>
              <a:rPr lang="nl-BE" sz="1400" dirty="0" err="1">
                <a:solidFill>
                  <a:schemeClr val="tx1"/>
                </a:solidFill>
              </a:rPr>
              <a:t>goForward</a:t>
            </a:r>
            <a:r>
              <a:rPr lang="nl-BE" sz="1400" dirty="0">
                <a:solidFill>
                  <a:schemeClr val="tx1"/>
                </a:solidFill>
              </a:rPr>
              <a:t>()</a:t>
            </a:r>
          </a:p>
          <a:p>
            <a:r>
              <a:rPr lang="nl-BE" sz="1400" dirty="0" err="1">
                <a:solidFill>
                  <a:schemeClr val="tx1"/>
                </a:solidFill>
              </a:rPr>
              <a:t>goForward</a:t>
            </a:r>
            <a:r>
              <a:rPr lang="nl-BE" sz="1400" dirty="0">
                <a:solidFill>
                  <a:schemeClr val="tx1"/>
                </a:solidFill>
              </a:rPr>
              <a:t>()</a:t>
            </a:r>
          </a:p>
          <a:p>
            <a:r>
              <a:rPr lang="nl-BE" sz="1400" dirty="0" err="1">
                <a:solidFill>
                  <a:schemeClr val="tx1"/>
                </a:solidFill>
              </a:rPr>
              <a:t>goForward</a:t>
            </a:r>
            <a:r>
              <a:rPr lang="nl-BE" sz="1400" dirty="0">
                <a:solidFill>
                  <a:schemeClr val="tx1"/>
                </a:solidFill>
              </a:rPr>
              <a:t>()</a:t>
            </a:r>
          </a:p>
          <a:p>
            <a:r>
              <a:rPr lang="nl-BE" sz="1400" dirty="0" err="1">
                <a:solidFill>
                  <a:schemeClr val="tx1"/>
                </a:solidFill>
              </a:rPr>
              <a:t>goForward</a:t>
            </a:r>
            <a:r>
              <a:rPr lang="nl-BE" sz="1400" dirty="0">
                <a:solidFill>
                  <a:schemeClr val="tx1"/>
                </a:solidFill>
              </a:rPr>
              <a:t>()</a:t>
            </a:r>
          </a:p>
          <a:p>
            <a:r>
              <a:rPr lang="nl-BE" sz="1400" dirty="0" err="1">
                <a:solidFill>
                  <a:schemeClr val="tx1"/>
                </a:solidFill>
              </a:rPr>
              <a:t>goForward</a:t>
            </a:r>
            <a:r>
              <a:rPr lang="nl-BE" sz="1400" dirty="0">
                <a:solidFill>
                  <a:schemeClr val="tx1"/>
                </a:solidFill>
              </a:rPr>
              <a:t>()</a:t>
            </a:r>
          </a:p>
          <a:p>
            <a:r>
              <a:rPr lang="nl-BE" sz="1400" dirty="0" err="1">
                <a:solidFill>
                  <a:schemeClr val="tx1"/>
                </a:solidFill>
              </a:rPr>
              <a:t>goForward</a:t>
            </a:r>
            <a:r>
              <a:rPr lang="nl-BE" sz="1400" dirty="0">
                <a:solidFill>
                  <a:schemeClr val="tx1"/>
                </a:solidFill>
              </a:rPr>
              <a:t>()</a:t>
            </a:r>
          </a:p>
          <a:p>
            <a:r>
              <a:rPr lang="nl-BE" sz="1400" dirty="0" err="1">
                <a:solidFill>
                  <a:schemeClr val="tx1"/>
                </a:solidFill>
              </a:rPr>
              <a:t>goForward</a:t>
            </a:r>
            <a:r>
              <a:rPr lang="nl-BE" sz="1400" dirty="0">
                <a:solidFill>
                  <a:schemeClr val="tx1"/>
                </a:solidFill>
              </a:rPr>
              <a:t>()</a:t>
            </a:r>
          </a:p>
          <a:p>
            <a:r>
              <a:rPr lang="nl-BE" sz="1400" dirty="0" err="1">
                <a:solidFill>
                  <a:schemeClr val="tx1"/>
                </a:solidFill>
              </a:rPr>
              <a:t>goForward</a:t>
            </a:r>
            <a:r>
              <a:rPr lang="nl-BE" sz="1400" dirty="0">
                <a:solidFill>
                  <a:schemeClr val="tx1"/>
                </a:solidFill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221109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F9CA9-031B-441D-A2D9-C87623261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Repetition</a:t>
            </a:r>
            <a:r>
              <a:rPr lang="nl-BE" dirty="0"/>
              <a:t>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49FE9-6090-4D16-A850-385E2F974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196752"/>
            <a:ext cx="8064896" cy="5472608"/>
          </a:xfrm>
        </p:spPr>
        <p:txBody>
          <a:bodyPr/>
          <a:lstStyle/>
          <a:p>
            <a:r>
              <a:rPr lang="nl-BE" dirty="0"/>
              <a:t>“</a:t>
            </a:r>
            <a:r>
              <a:rPr lang="nl-BE" dirty="0">
                <a:solidFill>
                  <a:schemeClr val="accent2"/>
                </a:solidFill>
              </a:rPr>
              <a:t>As long as</a:t>
            </a:r>
            <a:r>
              <a:rPr lang="nl-BE" dirty="0"/>
              <a:t> </a:t>
            </a:r>
            <a:r>
              <a:rPr lang="nl-BE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you</a:t>
            </a:r>
            <a:r>
              <a:rPr lang="nl-BE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nl-BE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can</a:t>
            </a:r>
            <a:r>
              <a:rPr lang="nl-BE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go straight </a:t>
            </a:r>
            <a:r>
              <a:rPr lang="nl-BE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ahead</a:t>
            </a:r>
            <a:r>
              <a:rPr lang="nl-BE" dirty="0"/>
              <a:t>, </a:t>
            </a:r>
            <a:r>
              <a:rPr lang="nl-BE" dirty="0" err="1">
                <a:solidFill>
                  <a:srgbClr val="00B050"/>
                </a:solidFill>
              </a:rPr>
              <a:t>proceed</a:t>
            </a:r>
            <a:r>
              <a:rPr lang="nl-BE" dirty="0">
                <a:solidFill>
                  <a:srgbClr val="00B050"/>
                </a:solidFill>
              </a:rPr>
              <a:t> </a:t>
            </a:r>
            <a:r>
              <a:rPr lang="nl-BE" dirty="0" err="1">
                <a:solidFill>
                  <a:srgbClr val="00B050"/>
                </a:solidFill>
              </a:rPr>
              <a:t>and</a:t>
            </a:r>
            <a:r>
              <a:rPr lang="nl-BE" dirty="0">
                <a:solidFill>
                  <a:srgbClr val="00B050"/>
                </a:solidFill>
              </a:rPr>
              <a:t> go forward</a:t>
            </a:r>
            <a:r>
              <a:rPr lang="nl-BE" dirty="0"/>
              <a:t>”</a:t>
            </a:r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r>
              <a:rPr lang="nl-BE" dirty="0" err="1"/>
              <a:t>You</a:t>
            </a:r>
            <a:r>
              <a:rPr lang="nl-BE" dirty="0"/>
              <a:t> </a:t>
            </a:r>
            <a:r>
              <a:rPr lang="nl-BE" dirty="0" err="1"/>
              <a:t>can</a:t>
            </a:r>
            <a:r>
              <a:rPr lang="nl-BE" dirty="0"/>
              <a:t> </a:t>
            </a:r>
            <a:r>
              <a:rPr lang="nl-BE" dirty="0" err="1"/>
              <a:t>repeat</a:t>
            </a:r>
            <a:r>
              <a:rPr lang="nl-BE" dirty="0"/>
              <a:t> </a:t>
            </a:r>
            <a:r>
              <a:rPr lang="nl-BE" dirty="0" err="1"/>
              <a:t>one</a:t>
            </a:r>
            <a:r>
              <a:rPr lang="nl-BE" dirty="0"/>
              <a:t> </a:t>
            </a:r>
            <a:r>
              <a:rPr lang="nl-BE" dirty="0" err="1"/>
              <a:t>instruction</a:t>
            </a:r>
            <a:r>
              <a:rPr lang="nl-BE" dirty="0"/>
              <a:t> ( </a:t>
            </a:r>
            <a:r>
              <a:rPr lang="nl-BE" dirty="0" err="1"/>
              <a:t>goForward</a:t>
            </a:r>
            <a:r>
              <a:rPr lang="nl-BE" dirty="0"/>
              <a:t>() ), but </a:t>
            </a:r>
            <a:r>
              <a:rPr lang="nl-BE" dirty="0" err="1"/>
              <a:t>also</a:t>
            </a:r>
            <a:r>
              <a:rPr lang="nl-BE" dirty="0"/>
              <a:t> a set of </a:t>
            </a:r>
            <a:r>
              <a:rPr lang="nl-BE" dirty="0" err="1"/>
              <a:t>instructions</a:t>
            </a:r>
            <a:endParaRPr lang="nl-BE" dirty="0"/>
          </a:p>
          <a:p>
            <a:r>
              <a:rPr lang="nl-BE" dirty="0"/>
              <a:t>	</a:t>
            </a:r>
            <a:r>
              <a:rPr lang="nl-BE" dirty="0" err="1"/>
              <a:t>Use</a:t>
            </a:r>
            <a:r>
              <a:rPr lang="nl-BE" dirty="0"/>
              <a:t> </a:t>
            </a:r>
            <a:r>
              <a:rPr lang="nl-BE" dirty="0" err="1"/>
              <a:t>indent</a:t>
            </a:r>
            <a:r>
              <a:rPr lang="nl-BE" dirty="0"/>
              <a:t> (tab!) </a:t>
            </a:r>
            <a:r>
              <a:rPr lang="nl-BE" dirty="0" err="1"/>
              <a:t>for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lines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be</a:t>
            </a:r>
            <a:r>
              <a:rPr lang="nl-BE" dirty="0"/>
              <a:t> </a:t>
            </a:r>
            <a:r>
              <a:rPr lang="nl-BE" dirty="0" err="1"/>
              <a:t>repeated</a:t>
            </a:r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AA9EBF-67DC-416F-962C-7A146E10A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13</a:t>
            </a:fld>
            <a:endParaRPr lang="nl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A8EEB5-1A31-40B0-83BE-67005096D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2643187"/>
            <a:ext cx="2752725" cy="5238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A78BB8-740D-4367-AD9F-10272AA44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024" y="1700808"/>
            <a:ext cx="3667125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2953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8EABB-8DBF-4FAF-A006-9B38A6B08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New </a:t>
            </a:r>
            <a:r>
              <a:rPr lang="nl-BE" i="1" dirty="0" err="1"/>
              <a:t>functions</a:t>
            </a:r>
            <a:endParaRPr lang="nl-BE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4D426-10BF-4C1C-BA8C-E2CB29AA6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196752"/>
            <a:ext cx="8496944" cy="4895850"/>
          </a:xfrm>
        </p:spPr>
        <p:txBody>
          <a:bodyPr/>
          <a:lstStyle/>
          <a:p>
            <a:r>
              <a:rPr lang="nl-BE" i="1" dirty="0" err="1"/>
              <a:t>function</a:t>
            </a:r>
            <a:r>
              <a:rPr lang="nl-BE" dirty="0"/>
              <a:t>		True </a:t>
            </a:r>
            <a:r>
              <a:rPr lang="nl-BE" dirty="0" err="1"/>
              <a:t>if</a:t>
            </a:r>
            <a:r>
              <a:rPr lang="nl-BE" dirty="0"/>
              <a:t> … </a:t>
            </a:r>
          </a:p>
          <a:p>
            <a:r>
              <a:rPr lang="nl-BE" dirty="0" err="1"/>
              <a:t>freeForward</a:t>
            </a:r>
            <a:r>
              <a:rPr lang="nl-BE" dirty="0"/>
              <a:t>()	…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place</a:t>
            </a:r>
            <a:r>
              <a:rPr lang="nl-BE" dirty="0"/>
              <a:t> </a:t>
            </a:r>
            <a:r>
              <a:rPr lang="nl-BE" dirty="0" err="1"/>
              <a:t>ahead</a:t>
            </a:r>
            <a:r>
              <a:rPr lang="nl-BE" dirty="0"/>
              <a:t> is free</a:t>
            </a:r>
          </a:p>
          <a:p>
            <a:r>
              <a:rPr lang="nl-BE" dirty="0" err="1"/>
              <a:t>freeLeft</a:t>
            </a:r>
            <a:r>
              <a:rPr lang="nl-BE" dirty="0"/>
              <a:t>()		…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place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your</a:t>
            </a:r>
            <a:r>
              <a:rPr lang="nl-BE" dirty="0"/>
              <a:t> </a:t>
            </a:r>
            <a:r>
              <a:rPr lang="nl-BE" dirty="0" err="1"/>
              <a:t>left</a:t>
            </a:r>
            <a:r>
              <a:rPr lang="nl-BE" dirty="0"/>
              <a:t> is free</a:t>
            </a:r>
          </a:p>
          <a:p>
            <a:r>
              <a:rPr lang="nl-BE" dirty="0" err="1"/>
              <a:t>freeRight</a:t>
            </a:r>
            <a:r>
              <a:rPr lang="nl-BE" dirty="0"/>
              <a:t>()		 …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place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your</a:t>
            </a:r>
            <a:r>
              <a:rPr lang="nl-BE" dirty="0"/>
              <a:t> right is free</a:t>
            </a:r>
          </a:p>
          <a:p>
            <a:r>
              <a:rPr lang="nl-BE" dirty="0"/>
              <a:t>			(</a:t>
            </a:r>
            <a:r>
              <a:rPr lang="nl-BE" dirty="0" err="1"/>
              <a:t>always</a:t>
            </a:r>
            <a:r>
              <a:rPr lang="nl-BE" dirty="0"/>
              <a:t> </a:t>
            </a:r>
            <a:r>
              <a:rPr lang="nl-BE" dirty="0" err="1"/>
              <a:t>respective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your</a:t>
            </a:r>
            <a:r>
              <a:rPr lang="nl-BE" dirty="0"/>
              <a:t> </a:t>
            </a:r>
            <a:r>
              <a:rPr lang="nl-BE" dirty="0" err="1"/>
              <a:t>orientation</a:t>
            </a:r>
            <a:r>
              <a:rPr lang="nl-BE" dirty="0"/>
              <a:t>)</a:t>
            </a:r>
          </a:p>
          <a:p>
            <a:endParaRPr lang="nl-BE" dirty="0"/>
          </a:p>
          <a:p>
            <a:r>
              <a:rPr lang="nl-BE" dirty="0" err="1"/>
              <a:t>foundExit</a:t>
            </a:r>
            <a:r>
              <a:rPr lang="nl-BE" dirty="0"/>
              <a:t>()		True </a:t>
            </a:r>
            <a:r>
              <a:rPr lang="nl-BE" dirty="0" err="1"/>
              <a:t>only</a:t>
            </a:r>
            <a:r>
              <a:rPr lang="nl-BE" dirty="0"/>
              <a:t> </a:t>
            </a:r>
            <a:r>
              <a:rPr lang="nl-BE" dirty="0" err="1"/>
              <a:t>if</a:t>
            </a:r>
            <a:r>
              <a:rPr lang="nl-BE" dirty="0"/>
              <a:t> </a:t>
            </a:r>
            <a:r>
              <a:rPr lang="nl-BE" dirty="0" err="1"/>
              <a:t>you</a:t>
            </a:r>
            <a:r>
              <a:rPr lang="nl-BE" dirty="0"/>
              <a:t> are on </a:t>
            </a:r>
            <a:r>
              <a:rPr lang="nl-BE" dirty="0" err="1"/>
              <a:t>the</a:t>
            </a:r>
            <a:r>
              <a:rPr lang="nl-BE" dirty="0"/>
              <a:t> target </a:t>
            </a:r>
            <a:r>
              <a:rPr lang="nl-BE" dirty="0" err="1"/>
              <a:t>tile</a:t>
            </a:r>
            <a:endParaRPr lang="nl-BE" dirty="0"/>
          </a:p>
          <a:p>
            <a:endParaRPr lang="nl-BE" dirty="0"/>
          </a:p>
          <a:p>
            <a:r>
              <a:rPr lang="nl-BE" dirty="0" err="1"/>
              <a:t>not</a:t>
            </a:r>
            <a:r>
              <a:rPr lang="nl-BE" dirty="0"/>
              <a:t> </a:t>
            </a:r>
            <a:r>
              <a:rPr lang="nl-BE" i="1" dirty="0" err="1"/>
              <a:t>function</a:t>
            </a:r>
            <a:r>
              <a:rPr lang="nl-BE" i="1" dirty="0"/>
              <a:t>()	</a:t>
            </a:r>
            <a:r>
              <a:rPr lang="nl-BE" dirty="0"/>
              <a:t>True </a:t>
            </a:r>
            <a:r>
              <a:rPr lang="nl-BE" dirty="0" err="1"/>
              <a:t>if</a:t>
            </a:r>
            <a:r>
              <a:rPr lang="nl-BE" dirty="0"/>
              <a:t> </a:t>
            </a:r>
            <a:r>
              <a:rPr lang="nl-BE" i="1" dirty="0" err="1"/>
              <a:t>function</a:t>
            </a:r>
            <a:r>
              <a:rPr lang="nl-BE" i="1" dirty="0"/>
              <a:t>() </a:t>
            </a:r>
            <a:r>
              <a:rPr lang="nl-BE" dirty="0"/>
              <a:t>is </a:t>
            </a:r>
            <a:r>
              <a:rPr lang="nl-BE" dirty="0" err="1"/>
              <a:t>False</a:t>
            </a:r>
            <a:r>
              <a:rPr lang="nl-BE" dirty="0"/>
              <a:t> ; </a:t>
            </a:r>
            <a:r>
              <a:rPr lang="nl-BE" dirty="0" err="1"/>
              <a:t>False</a:t>
            </a:r>
            <a:r>
              <a:rPr lang="nl-BE" dirty="0"/>
              <a:t> </a:t>
            </a:r>
            <a:r>
              <a:rPr lang="nl-BE" dirty="0" err="1"/>
              <a:t>otherwise</a:t>
            </a:r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1DE44-1D64-4496-B9C3-4160E9AAF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89419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6955B-BD1F-4D24-93E5-23BE8F08B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984" y="116632"/>
            <a:ext cx="4464496" cy="936105"/>
          </a:xfrm>
        </p:spPr>
        <p:txBody>
          <a:bodyPr>
            <a:normAutofit fontScale="90000"/>
          </a:bodyPr>
          <a:lstStyle/>
          <a:p>
            <a:r>
              <a:rPr lang="nl-BE" dirty="0" err="1"/>
              <a:t>Example</a:t>
            </a:r>
            <a:r>
              <a:rPr lang="nl-BE" dirty="0"/>
              <a:t>: </a:t>
            </a:r>
            <a:r>
              <a:rPr lang="nl-BE" dirty="0" err="1"/>
              <a:t>Repetition</a:t>
            </a:r>
            <a:r>
              <a:rPr lang="nl-BE" dirty="0"/>
              <a:t>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C2325-9148-4701-94D1-B4B92C29B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260648"/>
            <a:ext cx="8064896" cy="4895850"/>
          </a:xfrm>
        </p:spPr>
        <p:txBody>
          <a:bodyPr/>
          <a:lstStyle/>
          <a:p>
            <a:r>
              <a:rPr lang="nl-BE" sz="1800" dirty="0" err="1">
                <a:solidFill>
                  <a:schemeClr val="tx1"/>
                </a:solidFill>
                <a:highlight>
                  <a:srgbClr val="FFFF00"/>
                </a:highlight>
              </a:rPr>
              <a:t>goForward</a:t>
            </a:r>
            <a:r>
              <a:rPr lang="nl-BE" sz="1800" dirty="0">
                <a:solidFill>
                  <a:schemeClr val="tx1"/>
                </a:solidFill>
                <a:highlight>
                  <a:srgbClr val="FFFF00"/>
                </a:highlight>
              </a:rPr>
              <a:t>()</a:t>
            </a:r>
          </a:p>
          <a:p>
            <a:r>
              <a:rPr lang="nl-BE" sz="1800" dirty="0" err="1">
                <a:solidFill>
                  <a:schemeClr val="tx1"/>
                </a:solidFill>
                <a:highlight>
                  <a:srgbClr val="FFFF00"/>
                </a:highlight>
              </a:rPr>
              <a:t>goForward</a:t>
            </a:r>
            <a:r>
              <a:rPr lang="nl-BE" sz="1800" dirty="0">
                <a:solidFill>
                  <a:schemeClr val="tx1"/>
                </a:solidFill>
                <a:highlight>
                  <a:srgbClr val="FFFF00"/>
                </a:highlight>
              </a:rPr>
              <a:t>()</a:t>
            </a:r>
          </a:p>
          <a:p>
            <a:r>
              <a:rPr lang="nl-BE" sz="1800" dirty="0" err="1">
                <a:solidFill>
                  <a:schemeClr val="tx1"/>
                </a:solidFill>
                <a:highlight>
                  <a:srgbClr val="FFFF00"/>
                </a:highlight>
              </a:rPr>
              <a:t>goForward</a:t>
            </a:r>
            <a:r>
              <a:rPr lang="nl-BE" sz="1800" dirty="0">
                <a:solidFill>
                  <a:schemeClr val="tx1"/>
                </a:solidFill>
                <a:highlight>
                  <a:srgbClr val="FFFF00"/>
                </a:highlight>
              </a:rPr>
              <a:t>()</a:t>
            </a:r>
          </a:p>
          <a:p>
            <a:r>
              <a:rPr lang="nl-BE" sz="1800" dirty="0" err="1">
                <a:solidFill>
                  <a:schemeClr val="tx1"/>
                </a:solidFill>
                <a:highlight>
                  <a:srgbClr val="FFFF00"/>
                </a:highlight>
              </a:rPr>
              <a:t>goForward</a:t>
            </a:r>
            <a:r>
              <a:rPr lang="nl-BE" sz="1800" dirty="0">
                <a:solidFill>
                  <a:schemeClr val="tx1"/>
                </a:solidFill>
                <a:highlight>
                  <a:srgbClr val="FFFF00"/>
                </a:highlight>
              </a:rPr>
              <a:t>()</a:t>
            </a:r>
          </a:p>
          <a:p>
            <a:r>
              <a:rPr lang="nl-BE" sz="1800" dirty="0" err="1">
                <a:solidFill>
                  <a:schemeClr val="tx1"/>
                </a:solidFill>
                <a:highlight>
                  <a:srgbClr val="FFFF00"/>
                </a:highlight>
              </a:rPr>
              <a:t>goForward</a:t>
            </a:r>
            <a:r>
              <a:rPr lang="nl-BE" sz="1800" dirty="0">
                <a:solidFill>
                  <a:schemeClr val="tx1"/>
                </a:solidFill>
                <a:highlight>
                  <a:srgbClr val="FFFF00"/>
                </a:highlight>
              </a:rPr>
              <a:t>()</a:t>
            </a:r>
          </a:p>
          <a:p>
            <a:r>
              <a:rPr lang="nl-BE" sz="1800" dirty="0" err="1">
                <a:solidFill>
                  <a:schemeClr val="tx1"/>
                </a:solidFill>
                <a:highlight>
                  <a:srgbClr val="FFFF00"/>
                </a:highlight>
              </a:rPr>
              <a:t>goForward</a:t>
            </a:r>
            <a:r>
              <a:rPr lang="nl-BE" sz="1800" dirty="0">
                <a:solidFill>
                  <a:schemeClr val="tx1"/>
                </a:solidFill>
                <a:highlight>
                  <a:srgbClr val="FFFF00"/>
                </a:highlight>
              </a:rPr>
              <a:t>()</a:t>
            </a:r>
          </a:p>
          <a:p>
            <a:r>
              <a:rPr lang="nl-BE" sz="1800" dirty="0" err="1">
                <a:solidFill>
                  <a:schemeClr val="tx1"/>
                </a:solidFill>
                <a:highlight>
                  <a:srgbClr val="FFFF00"/>
                </a:highlight>
              </a:rPr>
              <a:t>goForward</a:t>
            </a:r>
            <a:r>
              <a:rPr lang="nl-BE" sz="1800" dirty="0">
                <a:solidFill>
                  <a:schemeClr val="tx1"/>
                </a:solidFill>
                <a:highlight>
                  <a:srgbClr val="FFFF00"/>
                </a:highlight>
              </a:rPr>
              <a:t>()</a:t>
            </a:r>
          </a:p>
          <a:p>
            <a:r>
              <a:rPr lang="nl-BE" sz="1800" dirty="0" err="1">
                <a:solidFill>
                  <a:schemeClr val="tx1"/>
                </a:solidFill>
                <a:highlight>
                  <a:srgbClr val="FFFF00"/>
                </a:highlight>
              </a:rPr>
              <a:t>goForward</a:t>
            </a:r>
            <a:r>
              <a:rPr lang="nl-BE" sz="1800" dirty="0">
                <a:solidFill>
                  <a:schemeClr val="tx1"/>
                </a:solidFill>
                <a:highlight>
                  <a:srgbClr val="FFFF00"/>
                </a:highlight>
              </a:rPr>
              <a:t>()</a:t>
            </a:r>
          </a:p>
          <a:p>
            <a:r>
              <a:rPr lang="nl-BE" sz="1800" dirty="0" err="1">
                <a:solidFill>
                  <a:schemeClr val="tx1"/>
                </a:solidFill>
                <a:highlight>
                  <a:srgbClr val="FFFF00"/>
                </a:highlight>
              </a:rPr>
              <a:t>goForward</a:t>
            </a:r>
            <a:r>
              <a:rPr lang="nl-BE" sz="1800" dirty="0">
                <a:solidFill>
                  <a:schemeClr val="tx1"/>
                </a:solidFill>
                <a:highlight>
                  <a:srgbClr val="FFFF00"/>
                </a:highlight>
              </a:rPr>
              <a:t>()</a:t>
            </a:r>
          </a:p>
          <a:p>
            <a:r>
              <a:rPr lang="nl-BE" sz="1800" dirty="0" err="1">
                <a:solidFill>
                  <a:schemeClr val="tx1"/>
                </a:solidFill>
                <a:highlight>
                  <a:srgbClr val="FFFF00"/>
                </a:highlight>
              </a:rPr>
              <a:t>goForward</a:t>
            </a:r>
            <a:r>
              <a:rPr lang="nl-BE" sz="1800" dirty="0">
                <a:solidFill>
                  <a:schemeClr val="tx1"/>
                </a:solidFill>
                <a:highlight>
                  <a:srgbClr val="FFFF00"/>
                </a:highlight>
              </a:rPr>
              <a:t>()</a:t>
            </a:r>
          </a:p>
          <a:p>
            <a:r>
              <a:rPr lang="nl-BE" sz="1800" dirty="0" err="1">
                <a:solidFill>
                  <a:schemeClr val="tx1"/>
                </a:solidFill>
                <a:highlight>
                  <a:srgbClr val="FFFF00"/>
                </a:highlight>
              </a:rPr>
              <a:t>goForward</a:t>
            </a:r>
            <a:r>
              <a:rPr lang="nl-BE" sz="1800" dirty="0">
                <a:solidFill>
                  <a:schemeClr val="tx1"/>
                </a:solidFill>
                <a:highlight>
                  <a:srgbClr val="FFFF00"/>
                </a:highlight>
              </a:rPr>
              <a:t>()</a:t>
            </a:r>
          </a:p>
          <a:p>
            <a:r>
              <a:rPr lang="nl-BE" sz="1800" dirty="0" err="1">
                <a:solidFill>
                  <a:schemeClr val="tx1"/>
                </a:solidFill>
                <a:highlight>
                  <a:srgbClr val="FFFF00"/>
                </a:highlight>
              </a:rPr>
              <a:t>goForward</a:t>
            </a:r>
            <a:r>
              <a:rPr lang="nl-BE" sz="1800" dirty="0">
                <a:solidFill>
                  <a:schemeClr val="tx1"/>
                </a:solidFill>
                <a:highlight>
                  <a:srgbClr val="FFFF00"/>
                </a:highlight>
              </a:rPr>
              <a:t>()</a:t>
            </a:r>
          </a:p>
          <a:p>
            <a:r>
              <a:rPr lang="nl-BE" sz="1800" dirty="0" err="1">
                <a:solidFill>
                  <a:schemeClr val="tx1"/>
                </a:solidFill>
                <a:highlight>
                  <a:srgbClr val="00FF00"/>
                </a:highlight>
              </a:rPr>
              <a:t>turnRight</a:t>
            </a:r>
            <a:r>
              <a:rPr lang="nl-BE" sz="1800" dirty="0">
                <a:solidFill>
                  <a:schemeClr val="tx1"/>
                </a:solidFill>
                <a:highlight>
                  <a:srgbClr val="00FF00"/>
                </a:highlight>
              </a:rPr>
              <a:t>()</a:t>
            </a:r>
          </a:p>
          <a:p>
            <a:r>
              <a:rPr lang="nl-BE" sz="1800" dirty="0">
                <a:solidFill>
                  <a:schemeClr val="tx1"/>
                </a:solidFill>
                <a:highlight>
                  <a:srgbClr val="00FF00"/>
                </a:highlight>
              </a:rPr>
              <a:t>…</a:t>
            </a:r>
            <a:endParaRPr lang="nl-BE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809E8E-47CE-4ACF-8562-D91A4AF67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15</a:t>
            </a:fld>
            <a:endParaRPr lang="nl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CF4F53-E0F3-4DBA-B670-6C7B1709C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800" y="4005063"/>
            <a:ext cx="4536504" cy="2092629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75802C0-B403-48AD-A1A0-E356EE9BAD14}"/>
              </a:ext>
            </a:extLst>
          </p:cNvPr>
          <p:cNvSpPr txBox="1">
            <a:spLocks/>
          </p:cNvSpPr>
          <p:nvPr/>
        </p:nvSpPr>
        <p:spPr>
          <a:xfrm>
            <a:off x="4355976" y="1714299"/>
            <a:ext cx="8064896" cy="4895850"/>
          </a:xfrm>
          <a:prstGeom prst="rect">
            <a:avLst/>
          </a:prstGeom>
        </p:spPr>
        <p:txBody>
          <a:bodyPr vert="horz" lIns="0" tIns="36000" rIns="0" bIns="3600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2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400" rtl="0" eaLnBrk="1" latinLnBrk="0" hangingPunct="1">
              <a:spcBef>
                <a:spcPct val="20000"/>
              </a:spcBef>
              <a:buSzPct val="85000"/>
              <a:buFont typeface="Wingdings" panose="05000000000000000000" pitchFamily="2" charset="2"/>
              <a:buChar char="§"/>
              <a:defRPr sz="2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76000" indent="-216000" algn="l" defTabSz="914400" rtl="0" eaLnBrk="1" latinLnBrk="0" hangingPunct="1">
              <a:spcBef>
                <a:spcPct val="20000"/>
              </a:spcBef>
              <a:buSzPct val="85000"/>
              <a:buFont typeface="Wingdings" panose="05000000000000000000" pitchFamily="2" charset="2"/>
              <a:buChar char="§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36000" indent="-216000" algn="l" defTabSz="914400" rtl="0" eaLnBrk="1" latinLnBrk="0" hangingPunct="1">
              <a:spcBef>
                <a:spcPct val="20000"/>
              </a:spcBef>
              <a:buSzPct val="85000"/>
              <a:buFont typeface="Wingdings" panose="05000000000000000000" pitchFamily="2" charset="2"/>
              <a:buChar char="§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296000" indent="-216000" algn="l" defTabSz="914400" rtl="0" eaLnBrk="1" latinLnBrk="0" hangingPunct="1">
              <a:spcBef>
                <a:spcPct val="20000"/>
              </a:spcBef>
              <a:buSzPct val="85000"/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BE" sz="1600" dirty="0" err="1">
                <a:solidFill>
                  <a:schemeClr val="tx1"/>
                </a:solidFill>
                <a:highlight>
                  <a:srgbClr val="FFFF00"/>
                </a:highlight>
              </a:rPr>
              <a:t>while</a:t>
            </a:r>
            <a:r>
              <a:rPr lang="nl-BE" sz="16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nl-BE" sz="1600" dirty="0" err="1">
                <a:solidFill>
                  <a:schemeClr val="tx1"/>
                </a:solidFill>
                <a:highlight>
                  <a:srgbClr val="FFFF00"/>
                </a:highlight>
              </a:rPr>
              <a:t>freeForward</a:t>
            </a:r>
            <a:r>
              <a:rPr lang="nl-BE" sz="1600" dirty="0">
                <a:solidFill>
                  <a:schemeClr val="tx1"/>
                </a:solidFill>
                <a:highlight>
                  <a:srgbClr val="FFFF00"/>
                </a:highlight>
              </a:rPr>
              <a:t>():</a:t>
            </a:r>
          </a:p>
          <a:p>
            <a:r>
              <a:rPr lang="nl-BE" sz="1600" dirty="0">
                <a:solidFill>
                  <a:schemeClr val="tx1"/>
                </a:solidFill>
                <a:highlight>
                  <a:srgbClr val="FFFF00"/>
                </a:highlight>
              </a:rPr>
              <a:t>       </a:t>
            </a:r>
            <a:r>
              <a:rPr lang="nl-BE" sz="1600" dirty="0" err="1">
                <a:solidFill>
                  <a:schemeClr val="tx1"/>
                </a:solidFill>
                <a:highlight>
                  <a:srgbClr val="FFFF00"/>
                </a:highlight>
              </a:rPr>
              <a:t>goForward</a:t>
            </a:r>
            <a:r>
              <a:rPr lang="nl-BE" sz="1600" dirty="0">
                <a:solidFill>
                  <a:schemeClr val="tx1"/>
                </a:solidFill>
                <a:highlight>
                  <a:srgbClr val="FFFF00"/>
                </a:highlight>
              </a:rPr>
              <a:t>()</a:t>
            </a:r>
          </a:p>
          <a:p>
            <a:r>
              <a:rPr lang="nl-BE" sz="1600" dirty="0" err="1">
                <a:solidFill>
                  <a:schemeClr val="tx1"/>
                </a:solidFill>
                <a:highlight>
                  <a:srgbClr val="00FF00"/>
                </a:highlight>
              </a:rPr>
              <a:t>turnRight</a:t>
            </a:r>
            <a:r>
              <a:rPr lang="nl-BE" sz="1600" dirty="0">
                <a:solidFill>
                  <a:schemeClr val="tx1"/>
                </a:solidFill>
                <a:highlight>
                  <a:srgbClr val="00FF00"/>
                </a:highlight>
              </a:rPr>
              <a:t>()</a:t>
            </a:r>
          </a:p>
          <a:p>
            <a:r>
              <a:rPr lang="nl-BE" sz="1200" dirty="0">
                <a:solidFill>
                  <a:schemeClr val="tx1"/>
                </a:solidFill>
              </a:rPr>
              <a:t>…</a:t>
            </a:r>
          </a:p>
          <a:p>
            <a:endParaRPr lang="nl-BE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1CE7C1B-003A-497F-AA7B-0B7AAAEA1BD9}"/>
              </a:ext>
            </a:extLst>
          </p:cNvPr>
          <p:cNvSpPr/>
          <p:nvPr/>
        </p:nvSpPr>
        <p:spPr>
          <a:xfrm>
            <a:off x="5868144" y="1722683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247E420-FD23-4419-AFE7-3BE13CD052EB}"/>
              </a:ext>
            </a:extLst>
          </p:cNvPr>
          <p:cNvSpPr/>
          <p:nvPr/>
        </p:nvSpPr>
        <p:spPr>
          <a:xfrm>
            <a:off x="4283968" y="1722683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CD4D610-9970-4797-8A0B-CF339D45708A}"/>
              </a:ext>
            </a:extLst>
          </p:cNvPr>
          <p:cNvSpPr/>
          <p:nvPr/>
        </p:nvSpPr>
        <p:spPr>
          <a:xfrm>
            <a:off x="4283828" y="2010715"/>
            <a:ext cx="360180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58C23866-8DD8-4FAA-B316-EE4B64B2EDB8}"/>
              </a:ext>
            </a:extLst>
          </p:cNvPr>
          <p:cNvSpPr/>
          <p:nvPr/>
        </p:nvSpPr>
        <p:spPr>
          <a:xfrm>
            <a:off x="1979712" y="930595"/>
            <a:ext cx="2232248" cy="1080120"/>
          </a:xfrm>
          <a:prstGeom prst="wedgeRoundRectCallout">
            <a:avLst>
              <a:gd name="adj1" fmla="val 56897"/>
              <a:gd name="adj2" fmla="val 66187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>
                <a:solidFill>
                  <a:schemeClr val="tx1"/>
                </a:solidFill>
              </a:rPr>
              <a:t>The part </a:t>
            </a:r>
            <a:r>
              <a:rPr lang="nl-BE" dirty="0" err="1">
                <a:solidFill>
                  <a:schemeClr val="tx1"/>
                </a:solidFill>
              </a:rPr>
              <a:t>to</a:t>
            </a:r>
            <a:r>
              <a:rPr lang="nl-BE" dirty="0">
                <a:solidFill>
                  <a:schemeClr val="tx1"/>
                </a:solidFill>
              </a:rPr>
              <a:t> </a:t>
            </a:r>
            <a:r>
              <a:rPr lang="nl-BE" dirty="0" err="1">
                <a:solidFill>
                  <a:schemeClr val="tx1"/>
                </a:solidFill>
              </a:rPr>
              <a:t>be</a:t>
            </a:r>
            <a:r>
              <a:rPr lang="nl-BE" dirty="0">
                <a:solidFill>
                  <a:schemeClr val="tx1"/>
                </a:solidFill>
              </a:rPr>
              <a:t> </a:t>
            </a:r>
            <a:r>
              <a:rPr lang="nl-BE" dirty="0" err="1">
                <a:solidFill>
                  <a:schemeClr val="tx1"/>
                </a:solidFill>
              </a:rPr>
              <a:t>repeated</a:t>
            </a:r>
            <a:r>
              <a:rPr lang="nl-BE" dirty="0">
                <a:solidFill>
                  <a:schemeClr val="tx1"/>
                </a:solidFill>
              </a:rPr>
              <a:t> is </a:t>
            </a:r>
            <a:r>
              <a:rPr lang="nl-BE" dirty="0" err="1">
                <a:solidFill>
                  <a:schemeClr val="tx1"/>
                </a:solidFill>
              </a:rPr>
              <a:t>indented</a:t>
            </a:r>
            <a:r>
              <a:rPr lang="nl-BE" dirty="0">
                <a:solidFill>
                  <a:schemeClr val="tx1"/>
                </a:solidFill>
              </a:rPr>
              <a:t>; </a:t>
            </a:r>
            <a:r>
              <a:rPr lang="nl-BE" dirty="0" err="1">
                <a:solidFill>
                  <a:schemeClr val="tx1"/>
                </a:solidFill>
              </a:rPr>
              <a:t>use</a:t>
            </a:r>
            <a:r>
              <a:rPr lang="nl-BE" dirty="0">
                <a:solidFill>
                  <a:schemeClr val="tx1"/>
                </a:solidFill>
              </a:rPr>
              <a:t> &lt;TAB&gt;</a:t>
            </a:r>
          </a:p>
        </p:txBody>
      </p:sp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2ADCE94D-7F07-4E13-B877-B9EF2BD84C5F}"/>
              </a:ext>
            </a:extLst>
          </p:cNvPr>
          <p:cNvSpPr/>
          <p:nvPr/>
        </p:nvSpPr>
        <p:spPr>
          <a:xfrm>
            <a:off x="4427984" y="1057634"/>
            <a:ext cx="1512168" cy="504056"/>
          </a:xfrm>
          <a:prstGeom prst="wedgeRoundRectCallout">
            <a:avLst>
              <a:gd name="adj1" fmla="val -47708"/>
              <a:gd name="adj2" fmla="val 100981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 err="1">
                <a:solidFill>
                  <a:schemeClr val="tx1"/>
                </a:solidFill>
              </a:rPr>
              <a:t>Lower</a:t>
            </a:r>
            <a:r>
              <a:rPr lang="nl-BE" dirty="0">
                <a:solidFill>
                  <a:schemeClr val="tx1"/>
                </a:solidFill>
              </a:rPr>
              <a:t> case</a:t>
            </a:r>
          </a:p>
        </p:txBody>
      </p:sp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B6F099AA-D44C-4106-9002-A4F6EB76EC73}"/>
              </a:ext>
            </a:extLst>
          </p:cNvPr>
          <p:cNvSpPr/>
          <p:nvPr/>
        </p:nvSpPr>
        <p:spPr>
          <a:xfrm>
            <a:off x="1803764" y="2650403"/>
            <a:ext cx="2232248" cy="1080120"/>
          </a:xfrm>
          <a:prstGeom prst="wedgeRoundRectCallout">
            <a:avLst>
              <a:gd name="adj1" fmla="val 62690"/>
              <a:gd name="adj2" fmla="val -64647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 err="1">
                <a:solidFill>
                  <a:schemeClr val="tx1"/>
                </a:solidFill>
              </a:rPr>
              <a:t>Repeated</a:t>
            </a:r>
            <a:r>
              <a:rPr lang="nl-BE" dirty="0">
                <a:solidFill>
                  <a:schemeClr val="tx1"/>
                </a:solidFill>
              </a:rPr>
              <a:t> part </a:t>
            </a:r>
            <a:r>
              <a:rPr lang="nl-BE" dirty="0" err="1">
                <a:solidFill>
                  <a:schemeClr val="tx1"/>
                </a:solidFill>
              </a:rPr>
              <a:t>done</a:t>
            </a:r>
            <a:r>
              <a:rPr lang="nl-BE" dirty="0">
                <a:solidFill>
                  <a:schemeClr val="tx1"/>
                </a:solidFill>
              </a:rPr>
              <a:t>? Stop </a:t>
            </a:r>
            <a:r>
              <a:rPr lang="nl-BE" dirty="0" err="1">
                <a:solidFill>
                  <a:schemeClr val="tx1"/>
                </a:solidFill>
              </a:rPr>
              <a:t>indentation</a:t>
            </a:r>
            <a:r>
              <a:rPr lang="nl-BE" dirty="0">
                <a:solidFill>
                  <a:schemeClr val="tx1"/>
                </a:solidFill>
              </a:rPr>
              <a:t>! </a:t>
            </a:r>
            <a:r>
              <a:rPr lang="nl-BE" dirty="0" err="1">
                <a:solidFill>
                  <a:schemeClr val="tx1"/>
                </a:solidFill>
              </a:rPr>
              <a:t>Use</a:t>
            </a:r>
            <a:r>
              <a:rPr lang="nl-BE" dirty="0">
                <a:solidFill>
                  <a:schemeClr val="tx1"/>
                </a:solidFill>
              </a:rPr>
              <a:t> &lt;Backspace&gt;</a:t>
            </a:r>
          </a:p>
        </p:txBody>
      </p:sp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BC359671-DB48-4AB9-927E-5694235EE452}"/>
              </a:ext>
            </a:extLst>
          </p:cNvPr>
          <p:cNvSpPr/>
          <p:nvPr/>
        </p:nvSpPr>
        <p:spPr>
          <a:xfrm>
            <a:off x="6012160" y="1052736"/>
            <a:ext cx="1944216" cy="504056"/>
          </a:xfrm>
          <a:prstGeom prst="wedgeRoundRectCallout">
            <a:avLst>
              <a:gd name="adj1" fmla="val -47708"/>
              <a:gd name="adj2" fmla="val 100981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>
                <a:solidFill>
                  <a:schemeClr val="tx1"/>
                </a:solidFill>
              </a:rPr>
              <a:t>Do </a:t>
            </a:r>
            <a:r>
              <a:rPr lang="nl-BE" dirty="0" err="1">
                <a:solidFill>
                  <a:schemeClr val="tx1"/>
                </a:solidFill>
              </a:rPr>
              <a:t>not</a:t>
            </a:r>
            <a:r>
              <a:rPr lang="nl-BE" dirty="0">
                <a:solidFill>
                  <a:schemeClr val="tx1"/>
                </a:solidFill>
              </a:rPr>
              <a:t> </a:t>
            </a:r>
            <a:r>
              <a:rPr lang="nl-BE" dirty="0" err="1">
                <a:solidFill>
                  <a:schemeClr val="tx1"/>
                </a:solidFill>
              </a:rPr>
              <a:t>forget</a:t>
            </a:r>
            <a:r>
              <a:rPr lang="nl-BE" dirty="0">
                <a:solidFill>
                  <a:schemeClr val="tx1"/>
                </a:solidFill>
              </a:rPr>
              <a:t> “:”</a:t>
            </a:r>
          </a:p>
        </p:txBody>
      </p:sp>
    </p:spTree>
    <p:extLst>
      <p:ext uri="{BB962C8B-B14F-4D97-AF65-F5344CB8AC3E}">
        <p14:creationId xmlns:p14="http://schemas.microsoft.com/office/powerpoint/2010/main" val="2951184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6955B-BD1F-4D24-93E5-23BE8F08B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 dirty="0" err="1"/>
              <a:t>Assignments</a:t>
            </a:r>
            <a:r>
              <a:rPr lang="nl-BE" dirty="0"/>
              <a:t> 2a &amp; 2b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C2325-9148-4701-94D1-B4B92C29B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Load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maze</a:t>
            </a:r>
            <a:r>
              <a:rPr lang="nl-BE" dirty="0"/>
              <a:t> </a:t>
            </a:r>
            <a:r>
              <a:rPr lang="nl-BE" dirty="0" err="1"/>
              <a:t>and</a:t>
            </a:r>
            <a:r>
              <a:rPr lang="nl-BE" dirty="0"/>
              <a:t> go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target </a:t>
            </a:r>
            <a:r>
              <a:rPr lang="nl-BE" dirty="0" err="1"/>
              <a:t>tile</a:t>
            </a:r>
            <a:r>
              <a:rPr lang="nl-BE" dirty="0"/>
              <a:t>. </a:t>
            </a:r>
            <a:r>
              <a:rPr lang="nl-BE" dirty="0" err="1"/>
              <a:t>Use</a:t>
            </a:r>
            <a:r>
              <a:rPr lang="nl-BE" dirty="0"/>
              <a:t> a loop!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809E8E-47CE-4ACF-8562-D91A4AF67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16</a:t>
            </a:fld>
            <a:endParaRPr lang="nl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CF4F53-E0F3-4DBA-B670-6C7B1709C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3140968"/>
            <a:ext cx="3495722" cy="16125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C08CEC-CBCD-DD21-2707-2C3656A5A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088" y="2006085"/>
            <a:ext cx="2660438" cy="423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4093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355FE0B-0048-4933-A276-EFA392D8A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708920"/>
            <a:ext cx="3819525" cy="2971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9AF8B98-9500-4185-962B-B9E8BD24A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Solution #2a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A98FC-6856-4E1C-9A39-9555E2911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17</a:t>
            </a:fld>
            <a:endParaRPr lang="nl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2F99D2-9C19-48D8-A372-B34029EB2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5193" y="116632"/>
            <a:ext cx="4839176" cy="22322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60DD82-A30C-4348-893A-589AD5A251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85" y="2708920"/>
            <a:ext cx="5112568" cy="64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9204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355FE0B-0048-4933-A276-EFA392D8A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708920"/>
            <a:ext cx="3819525" cy="29718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A98FC-6856-4E1C-9A39-9555E2911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18</a:t>
            </a:fld>
            <a:endParaRPr lang="nl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2F99D2-9C19-48D8-A372-B34029EB2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5193" y="116632"/>
            <a:ext cx="4839176" cy="223224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E6168A3-752E-43AC-B932-C2F5B82CB611}"/>
              </a:ext>
            </a:extLst>
          </p:cNvPr>
          <p:cNvSpPr/>
          <p:nvPr/>
        </p:nvSpPr>
        <p:spPr>
          <a:xfrm>
            <a:off x="863084" y="3465004"/>
            <a:ext cx="2700804" cy="540060"/>
          </a:xfrm>
          <a:prstGeom prst="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D9FB81-6671-4503-85C1-A68052F7AA48}"/>
              </a:ext>
            </a:extLst>
          </p:cNvPr>
          <p:cNvSpPr/>
          <p:nvPr/>
        </p:nvSpPr>
        <p:spPr>
          <a:xfrm>
            <a:off x="4283968" y="260648"/>
            <a:ext cx="4536504" cy="576064"/>
          </a:xfrm>
          <a:prstGeom prst="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6EF874C-1FA8-499E-B44F-B25AA808B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16632"/>
            <a:ext cx="8064896" cy="936105"/>
          </a:xfrm>
        </p:spPr>
        <p:txBody>
          <a:bodyPr/>
          <a:lstStyle/>
          <a:p>
            <a:r>
              <a:rPr lang="nl-BE" dirty="0"/>
              <a:t>Solution #2a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A29E95-557A-4DEA-B203-6797A961E3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85" y="2708920"/>
            <a:ext cx="5112568" cy="64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6376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355FE0B-0048-4933-A276-EFA392D8A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708920"/>
            <a:ext cx="3819525" cy="29718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A98FC-6856-4E1C-9A39-9555E2911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19</a:t>
            </a:fld>
            <a:endParaRPr lang="nl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2F99D2-9C19-48D8-A372-B34029EB2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5193" y="116632"/>
            <a:ext cx="4839176" cy="223224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A737A41-B6EA-4564-970B-0999F4D73A5E}"/>
              </a:ext>
            </a:extLst>
          </p:cNvPr>
          <p:cNvSpPr/>
          <p:nvPr/>
        </p:nvSpPr>
        <p:spPr>
          <a:xfrm>
            <a:off x="796996" y="4031698"/>
            <a:ext cx="1614764" cy="252028"/>
          </a:xfrm>
          <a:prstGeom prst="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" name="Arrow: Curved Down 8">
            <a:extLst>
              <a:ext uri="{FF2B5EF4-FFF2-40B4-BE49-F238E27FC236}">
                <a16:creationId xmlns:a16="http://schemas.microsoft.com/office/drawing/2014/main" id="{0A6E6B0C-DBB2-47BC-B5E1-58CA01BECA59}"/>
              </a:ext>
            </a:extLst>
          </p:cNvPr>
          <p:cNvSpPr/>
          <p:nvPr/>
        </p:nvSpPr>
        <p:spPr>
          <a:xfrm rot="2435973">
            <a:off x="8286127" y="510578"/>
            <a:ext cx="432048" cy="288032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chemeClr val="tx1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1B9DCCF-48B5-476A-AD76-ED3258A8C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16632"/>
            <a:ext cx="8064896" cy="936105"/>
          </a:xfrm>
        </p:spPr>
        <p:txBody>
          <a:bodyPr/>
          <a:lstStyle/>
          <a:p>
            <a:r>
              <a:rPr lang="nl-BE" dirty="0"/>
              <a:t>Solution #2a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EC5A413-2FB9-48C2-A694-2FFC347FD0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85" y="2708920"/>
            <a:ext cx="5112568" cy="64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559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355FE0B-0048-4933-A276-EFA392D8A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708920"/>
            <a:ext cx="3819525" cy="29718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A98FC-6856-4E1C-9A39-9555E2911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20</a:t>
            </a:fld>
            <a:endParaRPr lang="nl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2F99D2-9C19-48D8-A372-B34029EB2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5193" y="116632"/>
            <a:ext cx="4839176" cy="223224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77DE8E1-BAD0-4BA0-88B0-ED72E1195EA6}"/>
              </a:ext>
            </a:extLst>
          </p:cNvPr>
          <p:cNvSpPr/>
          <p:nvPr/>
        </p:nvSpPr>
        <p:spPr>
          <a:xfrm>
            <a:off x="859133" y="4264246"/>
            <a:ext cx="2700804" cy="540060"/>
          </a:xfrm>
          <a:prstGeom prst="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D163F0-ABB3-4471-9315-B4829EA27AD9}"/>
              </a:ext>
            </a:extLst>
          </p:cNvPr>
          <p:cNvSpPr/>
          <p:nvPr/>
        </p:nvSpPr>
        <p:spPr>
          <a:xfrm>
            <a:off x="8388423" y="332656"/>
            <a:ext cx="428097" cy="1728192"/>
          </a:xfrm>
          <a:prstGeom prst="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39C3C61-F899-4FC5-BA4D-56D1DECA5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16632"/>
            <a:ext cx="8064896" cy="936105"/>
          </a:xfrm>
        </p:spPr>
        <p:txBody>
          <a:bodyPr/>
          <a:lstStyle/>
          <a:p>
            <a:r>
              <a:rPr lang="nl-BE" dirty="0"/>
              <a:t>Solution #2a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992C3F6-DC0B-45FB-B995-4EE2CBE1A0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85" y="2708920"/>
            <a:ext cx="5112568" cy="64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0874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355FE0B-0048-4933-A276-EFA392D8A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708920"/>
            <a:ext cx="3819525" cy="2971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9AF8B98-9500-4185-962B-B9E8BD24A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Solution #2a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A98FC-6856-4E1C-9A39-9555E2911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21</a:t>
            </a:fld>
            <a:endParaRPr lang="nl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2F99D2-9C19-48D8-A372-B34029EB2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5193" y="116632"/>
            <a:ext cx="4839176" cy="223224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A737A41-B6EA-4564-970B-0999F4D73A5E}"/>
              </a:ext>
            </a:extLst>
          </p:cNvPr>
          <p:cNvSpPr/>
          <p:nvPr/>
        </p:nvSpPr>
        <p:spPr>
          <a:xfrm>
            <a:off x="796996" y="4797152"/>
            <a:ext cx="1614764" cy="252028"/>
          </a:xfrm>
          <a:prstGeom prst="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" name="Arrow: Curved Down 8">
            <a:extLst>
              <a:ext uri="{FF2B5EF4-FFF2-40B4-BE49-F238E27FC236}">
                <a16:creationId xmlns:a16="http://schemas.microsoft.com/office/drawing/2014/main" id="{0A6E6B0C-DBB2-47BC-B5E1-58CA01BECA59}"/>
              </a:ext>
            </a:extLst>
          </p:cNvPr>
          <p:cNvSpPr/>
          <p:nvPr/>
        </p:nvSpPr>
        <p:spPr>
          <a:xfrm rot="8066865">
            <a:off x="8289101" y="1595834"/>
            <a:ext cx="432048" cy="288032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2CE8AA-46B8-4174-B171-6BC3CC4746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85" y="2708920"/>
            <a:ext cx="5112568" cy="64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8165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355FE0B-0048-4933-A276-EFA392D8A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708920"/>
            <a:ext cx="3819525" cy="2971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9AF8B98-9500-4185-962B-B9E8BD24A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Solution #2a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A98FC-6856-4E1C-9A39-9555E2911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22</a:t>
            </a:fld>
            <a:endParaRPr lang="nl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2F99D2-9C19-48D8-A372-B34029EB2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5193" y="116632"/>
            <a:ext cx="4839176" cy="223224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77DE8E1-BAD0-4BA0-88B0-ED72E1195EA6}"/>
              </a:ext>
            </a:extLst>
          </p:cNvPr>
          <p:cNvSpPr/>
          <p:nvPr/>
        </p:nvSpPr>
        <p:spPr>
          <a:xfrm>
            <a:off x="859133" y="5013176"/>
            <a:ext cx="2700804" cy="540060"/>
          </a:xfrm>
          <a:prstGeom prst="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D163F0-ABB3-4471-9315-B4829EA27AD9}"/>
              </a:ext>
            </a:extLst>
          </p:cNvPr>
          <p:cNvSpPr/>
          <p:nvPr/>
        </p:nvSpPr>
        <p:spPr>
          <a:xfrm flipH="1">
            <a:off x="4355975" y="1628800"/>
            <a:ext cx="4392488" cy="432048"/>
          </a:xfrm>
          <a:prstGeom prst="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97ECE6B-7E2C-481C-AE2E-EA8A4DC72A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85" y="2708920"/>
            <a:ext cx="5112568" cy="64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292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16723-2020-4094-B318-AEFDB3BB9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Solution #2a : </a:t>
            </a:r>
            <a:r>
              <a:rPr lang="nl-BE" dirty="0" err="1"/>
              <a:t>less</a:t>
            </a:r>
            <a:r>
              <a:rPr lang="nl-BE" dirty="0"/>
              <a:t> code!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F198C1-7505-42EE-9ED7-6B37F6CAA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23</a:t>
            </a:fld>
            <a:endParaRPr lang="nl-NL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92D463-230A-45A5-A51A-7B8EA5705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21" y="1052736"/>
            <a:ext cx="3819525" cy="2971800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9495A834-D6D2-48A4-A5E3-5AA0DF1BB4A1}"/>
              </a:ext>
            </a:extLst>
          </p:cNvPr>
          <p:cNvSpPr/>
          <p:nvPr/>
        </p:nvSpPr>
        <p:spPr>
          <a:xfrm>
            <a:off x="3851920" y="2574635"/>
            <a:ext cx="698366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2119745-E174-4C62-8E17-F0117C7D6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016" y="1866712"/>
            <a:ext cx="3276600" cy="10858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BBF886D-0DE1-4ED4-981C-F633C1391A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1646" y="3356992"/>
            <a:ext cx="4032448" cy="2967273"/>
          </a:xfrm>
          <a:prstGeom prst="rect">
            <a:avLst/>
          </a:prstGeom>
        </p:spPr>
      </p:pic>
      <p:pic>
        <p:nvPicPr>
          <p:cNvPr id="12" name="Afbeelding 6">
            <a:extLst>
              <a:ext uri="{FF2B5EF4-FFF2-40B4-BE49-F238E27FC236}">
                <a16:creationId xmlns:a16="http://schemas.microsoft.com/office/drawing/2014/main" id="{31B3BFB1-7FD4-4700-BC6A-A6AAAB8EAF0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024562"/>
            <a:ext cx="9162000" cy="83507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A477237-3D0A-40E4-AAB9-A5C76D007CF0}"/>
              </a:ext>
            </a:extLst>
          </p:cNvPr>
          <p:cNvSpPr txBox="1"/>
          <p:nvPr/>
        </p:nvSpPr>
        <p:spPr>
          <a:xfrm>
            <a:off x="457200" y="3933056"/>
            <a:ext cx="1402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b="1" dirty="0">
                <a:solidFill>
                  <a:srgbClr val="FF0000"/>
                </a:solidFill>
              </a:rPr>
              <a:t>+ </a:t>
            </a:r>
            <a:r>
              <a:rPr lang="nl-BE" b="1" dirty="0" err="1">
                <a:solidFill>
                  <a:srgbClr val="FF0000"/>
                </a:solidFill>
              </a:rPr>
              <a:t>turnRight</a:t>
            </a:r>
            <a:r>
              <a:rPr lang="nl-BE" b="1" dirty="0">
                <a:solidFill>
                  <a:srgbClr val="FF0000"/>
                </a:solidFill>
              </a:rPr>
              <a:t>()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2116251-E0A6-40EB-BFD2-66C52E12E6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766" y="1053285"/>
            <a:ext cx="5112568" cy="64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7447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F8B98-9500-4185-962B-B9E8BD24A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16632"/>
            <a:ext cx="8064896" cy="1800200"/>
          </a:xfrm>
        </p:spPr>
        <p:txBody>
          <a:bodyPr>
            <a:normAutofit/>
          </a:bodyPr>
          <a:lstStyle/>
          <a:p>
            <a:r>
              <a:rPr lang="nl-BE" dirty="0"/>
              <a:t>Solution #2a : </a:t>
            </a:r>
            <a:br>
              <a:rPr lang="nl-BE" dirty="0"/>
            </a:br>
            <a:r>
              <a:rPr lang="nl-BE" dirty="0" err="1"/>
              <a:t>less</a:t>
            </a:r>
            <a:r>
              <a:rPr lang="nl-BE" dirty="0"/>
              <a:t> 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A98FC-6856-4E1C-9A39-9555E2911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24</a:t>
            </a:fld>
            <a:endParaRPr lang="nl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2F99D2-9C19-48D8-A372-B34029EB2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650" y="332656"/>
            <a:ext cx="4214766" cy="194421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0DAC632-29F3-4F05-A4C9-9E39FFF82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3356992"/>
            <a:ext cx="3324225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858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F8B98-9500-4185-962B-B9E8BD24A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16632"/>
            <a:ext cx="8064896" cy="1800200"/>
          </a:xfrm>
        </p:spPr>
        <p:txBody>
          <a:bodyPr>
            <a:normAutofit/>
          </a:bodyPr>
          <a:lstStyle/>
          <a:p>
            <a:r>
              <a:rPr lang="nl-BE" dirty="0"/>
              <a:t>Solution #2a : </a:t>
            </a:r>
            <a:br>
              <a:rPr lang="nl-BE" dirty="0"/>
            </a:br>
            <a:r>
              <a:rPr lang="nl-BE" dirty="0" err="1"/>
              <a:t>less</a:t>
            </a:r>
            <a:r>
              <a:rPr lang="nl-BE" dirty="0"/>
              <a:t> 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A98FC-6856-4E1C-9A39-9555E2911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25</a:t>
            </a:fld>
            <a:endParaRPr lang="nl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2F99D2-9C19-48D8-A372-B34029EB2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650" y="332656"/>
            <a:ext cx="4214766" cy="194421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0DAC632-29F3-4F05-A4C9-9E39FFF82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3356992"/>
            <a:ext cx="3324225" cy="11811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B8ADC3E-CD50-4408-AAE5-AD0AE9B85CE3}"/>
              </a:ext>
            </a:extLst>
          </p:cNvPr>
          <p:cNvSpPr/>
          <p:nvPr/>
        </p:nvSpPr>
        <p:spPr>
          <a:xfrm>
            <a:off x="1331640" y="3356992"/>
            <a:ext cx="2016224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>
              <a:highlight>
                <a:srgbClr val="00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DE1347-ED29-4A52-BA05-E75C623053E4}"/>
              </a:ext>
            </a:extLst>
          </p:cNvPr>
          <p:cNvSpPr txBox="1"/>
          <p:nvPr/>
        </p:nvSpPr>
        <p:spPr>
          <a:xfrm>
            <a:off x="2166154" y="2750094"/>
            <a:ext cx="397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3600" dirty="0"/>
              <a:t>?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6029403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F8B98-9500-4185-962B-B9E8BD24A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16632"/>
            <a:ext cx="8064896" cy="1800200"/>
          </a:xfrm>
        </p:spPr>
        <p:txBody>
          <a:bodyPr>
            <a:normAutofit/>
          </a:bodyPr>
          <a:lstStyle/>
          <a:p>
            <a:r>
              <a:rPr lang="nl-BE" dirty="0"/>
              <a:t>Solution #2a : </a:t>
            </a:r>
            <a:br>
              <a:rPr lang="nl-BE" dirty="0"/>
            </a:br>
            <a:r>
              <a:rPr lang="nl-BE" dirty="0" err="1"/>
              <a:t>less</a:t>
            </a:r>
            <a:r>
              <a:rPr lang="nl-BE" dirty="0"/>
              <a:t> 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A98FC-6856-4E1C-9A39-9555E2911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26</a:t>
            </a:fld>
            <a:endParaRPr lang="nl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2F99D2-9C19-48D8-A372-B34029EB2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650" y="332656"/>
            <a:ext cx="4214766" cy="194421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0DAC632-29F3-4F05-A4C9-9E39FFF82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3356992"/>
            <a:ext cx="3324225" cy="11811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B8ADC3E-CD50-4408-AAE5-AD0AE9B85CE3}"/>
              </a:ext>
            </a:extLst>
          </p:cNvPr>
          <p:cNvSpPr/>
          <p:nvPr/>
        </p:nvSpPr>
        <p:spPr>
          <a:xfrm>
            <a:off x="1331640" y="3356992"/>
            <a:ext cx="2016224" cy="288032"/>
          </a:xfrm>
          <a:prstGeom prst="rect">
            <a:avLst/>
          </a:prstGeom>
          <a:solidFill>
            <a:srgbClr val="00B050">
              <a:alpha val="3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182630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F8B98-9500-4185-962B-B9E8BD24A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16632"/>
            <a:ext cx="8064896" cy="1800200"/>
          </a:xfrm>
        </p:spPr>
        <p:txBody>
          <a:bodyPr>
            <a:normAutofit/>
          </a:bodyPr>
          <a:lstStyle/>
          <a:p>
            <a:r>
              <a:rPr lang="nl-BE" dirty="0"/>
              <a:t>Solution #2a : </a:t>
            </a:r>
            <a:br>
              <a:rPr lang="nl-BE" dirty="0"/>
            </a:br>
            <a:r>
              <a:rPr lang="nl-BE" dirty="0" err="1"/>
              <a:t>less</a:t>
            </a:r>
            <a:r>
              <a:rPr lang="nl-BE" dirty="0"/>
              <a:t> 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A98FC-6856-4E1C-9A39-9555E2911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27</a:t>
            </a:fld>
            <a:endParaRPr lang="nl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2F99D2-9C19-48D8-A372-B34029EB2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650" y="332656"/>
            <a:ext cx="4214766" cy="194421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0DAC632-29F3-4F05-A4C9-9E39FFF82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3356992"/>
            <a:ext cx="3324225" cy="11811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F32E7D0-EC32-4B50-98A7-AFE48F02478B}"/>
              </a:ext>
            </a:extLst>
          </p:cNvPr>
          <p:cNvSpPr/>
          <p:nvPr/>
        </p:nvSpPr>
        <p:spPr>
          <a:xfrm>
            <a:off x="1043608" y="3645024"/>
            <a:ext cx="2820169" cy="79208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92888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F8B98-9500-4185-962B-B9E8BD24A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16632"/>
            <a:ext cx="8064896" cy="1800200"/>
          </a:xfrm>
        </p:spPr>
        <p:txBody>
          <a:bodyPr>
            <a:normAutofit/>
          </a:bodyPr>
          <a:lstStyle/>
          <a:p>
            <a:r>
              <a:rPr lang="nl-BE" dirty="0"/>
              <a:t>Solution #2a : </a:t>
            </a:r>
            <a:br>
              <a:rPr lang="nl-BE" dirty="0"/>
            </a:br>
            <a:r>
              <a:rPr lang="nl-BE" dirty="0" err="1"/>
              <a:t>less</a:t>
            </a:r>
            <a:r>
              <a:rPr lang="nl-BE" dirty="0"/>
              <a:t> 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A98FC-6856-4E1C-9A39-9555E2911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28</a:t>
            </a:fld>
            <a:endParaRPr lang="nl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2F99D2-9C19-48D8-A372-B34029EB2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650" y="332656"/>
            <a:ext cx="4214766" cy="194421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0DAC632-29F3-4F05-A4C9-9E39FFF82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3356992"/>
            <a:ext cx="3324225" cy="11811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F32E7D0-EC32-4B50-98A7-AFE48F02478B}"/>
              </a:ext>
            </a:extLst>
          </p:cNvPr>
          <p:cNvSpPr/>
          <p:nvPr/>
        </p:nvSpPr>
        <p:spPr>
          <a:xfrm>
            <a:off x="1043608" y="3645024"/>
            <a:ext cx="2820169" cy="79208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196CAD5C-13BB-43CD-A3BE-FB51BBCA5B09}"/>
              </a:ext>
            </a:extLst>
          </p:cNvPr>
          <p:cNvSpPr/>
          <p:nvPr/>
        </p:nvSpPr>
        <p:spPr>
          <a:xfrm>
            <a:off x="8388424" y="548680"/>
            <a:ext cx="432048" cy="288032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7475046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F8B98-9500-4185-962B-B9E8BD24A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16632"/>
            <a:ext cx="8064896" cy="1800200"/>
          </a:xfrm>
        </p:spPr>
        <p:txBody>
          <a:bodyPr>
            <a:normAutofit/>
          </a:bodyPr>
          <a:lstStyle/>
          <a:p>
            <a:r>
              <a:rPr lang="nl-BE" dirty="0"/>
              <a:t>Solution #2a : </a:t>
            </a:r>
            <a:br>
              <a:rPr lang="nl-BE" dirty="0"/>
            </a:br>
            <a:r>
              <a:rPr lang="nl-BE" dirty="0" err="1"/>
              <a:t>less</a:t>
            </a:r>
            <a:r>
              <a:rPr lang="nl-BE" dirty="0"/>
              <a:t> 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A98FC-6856-4E1C-9A39-9555E2911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29</a:t>
            </a:fld>
            <a:endParaRPr lang="nl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2F99D2-9C19-48D8-A372-B34029EB2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650" y="332656"/>
            <a:ext cx="4214766" cy="194421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0DAC632-29F3-4F05-A4C9-9E39FFF82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3356992"/>
            <a:ext cx="3324225" cy="11811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B8ADC3E-CD50-4408-AAE5-AD0AE9B85CE3}"/>
              </a:ext>
            </a:extLst>
          </p:cNvPr>
          <p:cNvSpPr/>
          <p:nvPr/>
        </p:nvSpPr>
        <p:spPr>
          <a:xfrm>
            <a:off x="1331640" y="3356992"/>
            <a:ext cx="2016224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>
              <a:highlight>
                <a:srgbClr val="00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DE1347-ED29-4A52-BA05-E75C623053E4}"/>
              </a:ext>
            </a:extLst>
          </p:cNvPr>
          <p:cNvSpPr txBox="1"/>
          <p:nvPr/>
        </p:nvSpPr>
        <p:spPr>
          <a:xfrm>
            <a:off x="2166154" y="2750094"/>
            <a:ext cx="397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3600" dirty="0"/>
              <a:t>?</a:t>
            </a:r>
            <a:endParaRPr lang="nl-BE" dirty="0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A46EB496-C35A-4CB8-9797-1D7B78A842A7}"/>
              </a:ext>
            </a:extLst>
          </p:cNvPr>
          <p:cNvSpPr/>
          <p:nvPr/>
        </p:nvSpPr>
        <p:spPr>
          <a:xfrm>
            <a:off x="8388424" y="548680"/>
            <a:ext cx="432048" cy="288032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9386219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F8B98-9500-4185-962B-B9E8BD24A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16632"/>
            <a:ext cx="8064896" cy="1800200"/>
          </a:xfrm>
        </p:spPr>
        <p:txBody>
          <a:bodyPr>
            <a:normAutofit/>
          </a:bodyPr>
          <a:lstStyle/>
          <a:p>
            <a:r>
              <a:rPr lang="nl-BE" dirty="0"/>
              <a:t>Solution #2a : </a:t>
            </a:r>
            <a:br>
              <a:rPr lang="nl-BE" dirty="0"/>
            </a:br>
            <a:r>
              <a:rPr lang="nl-BE" dirty="0" err="1"/>
              <a:t>less</a:t>
            </a:r>
            <a:r>
              <a:rPr lang="nl-BE" dirty="0"/>
              <a:t> 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A98FC-6856-4E1C-9A39-9555E2911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30</a:t>
            </a:fld>
            <a:endParaRPr lang="nl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2F99D2-9C19-48D8-A372-B34029EB2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650" y="332656"/>
            <a:ext cx="4214766" cy="194421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0DAC632-29F3-4F05-A4C9-9E39FFF82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3356992"/>
            <a:ext cx="3324225" cy="11811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B8ADC3E-CD50-4408-AAE5-AD0AE9B85CE3}"/>
              </a:ext>
            </a:extLst>
          </p:cNvPr>
          <p:cNvSpPr/>
          <p:nvPr/>
        </p:nvSpPr>
        <p:spPr>
          <a:xfrm>
            <a:off x="1331640" y="3356992"/>
            <a:ext cx="2016224" cy="288032"/>
          </a:xfrm>
          <a:prstGeom prst="rect">
            <a:avLst/>
          </a:prstGeom>
          <a:solidFill>
            <a:srgbClr val="00B050">
              <a:alpha val="3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>
              <a:highlight>
                <a:srgbClr val="00FF00"/>
              </a:highlight>
            </a:endParaRP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A72F1B9B-4C8D-4B56-8C10-0E1E5763EB3F}"/>
              </a:ext>
            </a:extLst>
          </p:cNvPr>
          <p:cNvSpPr/>
          <p:nvPr/>
        </p:nvSpPr>
        <p:spPr>
          <a:xfrm>
            <a:off x="8388424" y="548680"/>
            <a:ext cx="432048" cy="288032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6156731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F8B98-9500-4185-962B-B9E8BD24A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16632"/>
            <a:ext cx="8064896" cy="1800200"/>
          </a:xfrm>
        </p:spPr>
        <p:txBody>
          <a:bodyPr>
            <a:normAutofit/>
          </a:bodyPr>
          <a:lstStyle/>
          <a:p>
            <a:r>
              <a:rPr lang="nl-BE" dirty="0"/>
              <a:t>Solution #2a : </a:t>
            </a:r>
            <a:br>
              <a:rPr lang="nl-BE" dirty="0"/>
            </a:br>
            <a:r>
              <a:rPr lang="nl-BE" dirty="0" err="1"/>
              <a:t>less</a:t>
            </a:r>
            <a:r>
              <a:rPr lang="nl-BE" dirty="0"/>
              <a:t> 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A98FC-6856-4E1C-9A39-9555E2911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31</a:t>
            </a:fld>
            <a:endParaRPr lang="nl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2F99D2-9C19-48D8-A372-B34029EB2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650" y="332656"/>
            <a:ext cx="4214766" cy="194421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0DAC632-29F3-4F05-A4C9-9E39FFF82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3356992"/>
            <a:ext cx="3324225" cy="11811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F32E7D0-EC32-4B50-98A7-AFE48F02478B}"/>
              </a:ext>
            </a:extLst>
          </p:cNvPr>
          <p:cNvSpPr/>
          <p:nvPr/>
        </p:nvSpPr>
        <p:spPr>
          <a:xfrm>
            <a:off x="1043608" y="3645024"/>
            <a:ext cx="2820169" cy="79208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113E90E7-3AE0-4482-978C-6632B983AF9B}"/>
              </a:ext>
            </a:extLst>
          </p:cNvPr>
          <p:cNvSpPr/>
          <p:nvPr/>
        </p:nvSpPr>
        <p:spPr>
          <a:xfrm>
            <a:off x="8388424" y="548680"/>
            <a:ext cx="432048" cy="288032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9298480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F8B98-9500-4185-962B-B9E8BD24A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16632"/>
            <a:ext cx="8064896" cy="1800200"/>
          </a:xfrm>
        </p:spPr>
        <p:txBody>
          <a:bodyPr>
            <a:normAutofit/>
          </a:bodyPr>
          <a:lstStyle/>
          <a:p>
            <a:r>
              <a:rPr lang="nl-BE" dirty="0"/>
              <a:t>Solution #2a : </a:t>
            </a:r>
            <a:br>
              <a:rPr lang="nl-BE" dirty="0"/>
            </a:br>
            <a:r>
              <a:rPr lang="nl-BE" dirty="0" err="1"/>
              <a:t>less</a:t>
            </a:r>
            <a:r>
              <a:rPr lang="nl-BE" dirty="0"/>
              <a:t> 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A98FC-6856-4E1C-9A39-9555E2911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32</a:t>
            </a:fld>
            <a:endParaRPr lang="nl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2F99D2-9C19-48D8-A372-B34029EB2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650" y="332656"/>
            <a:ext cx="4214766" cy="194421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0DAC632-29F3-4F05-A4C9-9E39FFF82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3356992"/>
            <a:ext cx="3324225" cy="11811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F32E7D0-EC32-4B50-98A7-AFE48F02478B}"/>
              </a:ext>
            </a:extLst>
          </p:cNvPr>
          <p:cNvSpPr/>
          <p:nvPr/>
        </p:nvSpPr>
        <p:spPr>
          <a:xfrm>
            <a:off x="1043608" y="3645024"/>
            <a:ext cx="2820169" cy="79208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113E90E7-3AE0-4482-978C-6632B983AF9B}"/>
              </a:ext>
            </a:extLst>
          </p:cNvPr>
          <p:cNvSpPr/>
          <p:nvPr/>
        </p:nvSpPr>
        <p:spPr>
          <a:xfrm rot="5400000">
            <a:off x="8388424" y="1700808"/>
            <a:ext cx="432048" cy="288032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8341994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F8B98-9500-4185-962B-B9E8BD24A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16632"/>
            <a:ext cx="8064896" cy="1800200"/>
          </a:xfrm>
        </p:spPr>
        <p:txBody>
          <a:bodyPr>
            <a:normAutofit/>
          </a:bodyPr>
          <a:lstStyle/>
          <a:p>
            <a:r>
              <a:rPr lang="nl-BE" dirty="0"/>
              <a:t>Solution #2a : </a:t>
            </a:r>
            <a:br>
              <a:rPr lang="nl-BE" dirty="0"/>
            </a:br>
            <a:r>
              <a:rPr lang="nl-BE" dirty="0" err="1"/>
              <a:t>less</a:t>
            </a:r>
            <a:r>
              <a:rPr lang="nl-BE" dirty="0"/>
              <a:t> 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A98FC-6856-4E1C-9A39-9555E2911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33</a:t>
            </a:fld>
            <a:endParaRPr lang="nl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2F99D2-9C19-48D8-A372-B34029EB2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650" y="332656"/>
            <a:ext cx="4214766" cy="194421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0DAC632-29F3-4F05-A4C9-9E39FFF82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3356992"/>
            <a:ext cx="3324225" cy="11811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B8ADC3E-CD50-4408-AAE5-AD0AE9B85CE3}"/>
              </a:ext>
            </a:extLst>
          </p:cNvPr>
          <p:cNvSpPr/>
          <p:nvPr/>
        </p:nvSpPr>
        <p:spPr>
          <a:xfrm>
            <a:off x="1331640" y="3356992"/>
            <a:ext cx="2016224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>
              <a:highlight>
                <a:srgbClr val="00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DE1347-ED29-4A52-BA05-E75C623053E4}"/>
              </a:ext>
            </a:extLst>
          </p:cNvPr>
          <p:cNvSpPr txBox="1"/>
          <p:nvPr/>
        </p:nvSpPr>
        <p:spPr>
          <a:xfrm>
            <a:off x="2166154" y="2750094"/>
            <a:ext cx="397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3600" dirty="0"/>
              <a:t>?</a:t>
            </a:r>
            <a:endParaRPr lang="nl-BE" dirty="0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849865DB-E48A-429E-9E79-4C447CD37FFB}"/>
              </a:ext>
            </a:extLst>
          </p:cNvPr>
          <p:cNvSpPr/>
          <p:nvPr/>
        </p:nvSpPr>
        <p:spPr>
          <a:xfrm rot="5400000">
            <a:off x="8388424" y="1700808"/>
            <a:ext cx="432048" cy="288032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1479474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F8B98-9500-4185-962B-B9E8BD24A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16632"/>
            <a:ext cx="8064896" cy="1800200"/>
          </a:xfrm>
        </p:spPr>
        <p:txBody>
          <a:bodyPr>
            <a:normAutofit/>
          </a:bodyPr>
          <a:lstStyle/>
          <a:p>
            <a:r>
              <a:rPr lang="nl-BE" dirty="0"/>
              <a:t>Solution #2a : </a:t>
            </a:r>
            <a:br>
              <a:rPr lang="nl-BE" dirty="0"/>
            </a:br>
            <a:r>
              <a:rPr lang="nl-BE" dirty="0" err="1"/>
              <a:t>less</a:t>
            </a:r>
            <a:r>
              <a:rPr lang="nl-BE" dirty="0"/>
              <a:t> 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A98FC-6856-4E1C-9A39-9555E2911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34</a:t>
            </a:fld>
            <a:endParaRPr lang="nl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2F99D2-9C19-48D8-A372-B34029EB2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650" y="332656"/>
            <a:ext cx="4214766" cy="194421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0DAC632-29F3-4F05-A4C9-9E39FFF82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3356992"/>
            <a:ext cx="3324225" cy="11811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B8ADC3E-CD50-4408-AAE5-AD0AE9B85CE3}"/>
              </a:ext>
            </a:extLst>
          </p:cNvPr>
          <p:cNvSpPr/>
          <p:nvPr/>
        </p:nvSpPr>
        <p:spPr>
          <a:xfrm>
            <a:off x="1331640" y="3356992"/>
            <a:ext cx="2016224" cy="288032"/>
          </a:xfrm>
          <a:prstGeom prst="rect">
            <a:avLst/>
          </a:prstGeom>
          <a:solidFill>
            <a:srgbClr val="00B050">
              <a:alpha val="3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>
              <a:highlight>
                <a:srgbClr val="00FF00"/>
              </a:highlight>
            </a:endParaRP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D2B43D5A-F761-472F-9C5C-ABAC75AD8AA2}"/>
              </a:ext>
            </a:extLst>
          </p:cNvPr>
          <p:cNvSpPr/>
          <p:nvPr/>
        </p:nvSpPr>
        <p:spPr>
          <a:xfrm rot="5400000">
            <a:off x="8388424" y="1700808"/>
            <a:ext cx="432048" cy="288032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5408563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F8B98-9500-4185-962B-B9E8BD24A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16632"/>
            <a:ext cx="8064896" cy="1800200"/>
          </a:xfrm>
        </p:spPr>
        <p:txBody>
          <a:bodyPr>
            <a:normAutofit/>
          </a:bodyPr>
          <a:lstStyle/>
          <a:p>
            <a:r>
              <a:rPr lang="nl-BE" dirty="0"/>
              <a:t>Solution #2a : </a:t>
            </a:r>
            <a:br>
              <a:rPr lang="nl-BE" dirty="0"/>
            </a:br>
            <a:r>
              <a:rPr lang="nl-BE" dirty="0" err="1"/>
              <a:t>less</a:t>
            </a:r>
            <a:r>
              <a:rPr lang="nl-BE" dirty="0"/>
              <a:t> 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A98FC-6856-4E1C-9A39-9555E2911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35</a:t>
            </a:fld>
            <a:endParaRPr lang="nl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2F99D2-9C19-48D8-A372-B34029EB2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650" y="332656"/>
            <a:ext cx="4214766" cy="194421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0DAC632-29F3-4F05-A4C9-9E39FFF82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3356992"/>
            <a:ext cx="3324225" cy="11811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F32E7D0-EC32-4B50-98A7-AFE48F02478B}"/>
              </a:ext>
            </a:extLst>
          </p:cNvPr>
          <p:cNvSpPr/>
          <p:nvPr/>
        </p:nvSpPr>
        <p:spPr>
          <a:xfrm>
            <a:off x="1043608" y="3645024"/>
            <a:ext cx="2820169" cy="79208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AAE22ECE-29C2-4D4B-9294-1EF89508C946}"/>
              </a:ext>
            </a:extLst>
          </p:cNvPr>
          <p:cNvSpPr/>
          <p:nvPr/>
        </p:nvSpPr>
        <p:spPr>
          <a:xfrm rot="5400000">
            <a:off x="8388424" y="1700808"/>
            <a:ext cx="432048" cy="288032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5183917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F8B98-9500-4185-962B-B9E8BD24A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16632"/>
            <a:ext cx="8064896" cy="1800200"/>
          </a:xfrm>
        </p:spPr>
        <p:txBody>
          <a:bodyPr>
            <a:normAutofit/>
          </a:bodyPr>
          <a:lstStyle/>
          <a:p>
            <a:r>
              <a:rPr lang="nl-BE" dirty="0"/>
              <a:t>Solution #2a : </a:t>
            </a:r>
            <a:br>
              <a:rPr lang="nl-BE" dirty="0"/>
            </a:br>
            <a:r>
              <a:rPr lang="nl-BE" dirty="0" err="1"/>
              <a:t>less</a:t>
            </a:r>
            <a:r>
              <a:rPr lang="nl-BE" dirty="0"/>
              <a:t> 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A98FC-6856-4E1C-9A39-9555E2911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36</a:t>
            </a:fld>
            <a:endParaRPr lang="nl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2F99D2-9C19-48D8-A372-B34029EB2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650" y="332656"/>
            <a:ext cx="4214766" cy="194421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0DAC632-29F3-4F05-A4C9-9E39FFF82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3356992"/>
            <a:ext cx="3324225" cy="11811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F32E7D0-EC32-4B50-98A7-AFE48F02478B}"/>
              </a:ext>
            </a:extLst>
          </p:cNvPr>
          <p:cNvSpPr/>
          <p:nvPr/>
        </p:nvSpPr>
        <p:spPr>
          <a:xfrm>
            <a:off x="1043608" y="3645024"/>
            <a:ext cx="2820169" cy="79208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113E90E7-3AE0-4482-978C-6632B983AF9B}"/>
              </a:ext>
            </a:extLst>
          </p:cNvPr>
          <p:cNvSpPr/>
          <p:nvPr/>
        </p:nvSpPr>
        <p:spPr>
          <a:xfrm rot="10800000">
            <a:off x="4860032" y="1700808"/>
            <a:ext cx="432048" cy="288032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2208757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F8B98-9500-4185-962B-B9E8BD24A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16632"/>
            <a:ext cx="8064896" cy="1800200"/>
          </a:xfrm>
        </p:spPr>
        <p:txBody>
          <a:bodyPr>
            <a:normAutofit/>
          </a:bodyPr>
          <a:lstStyle/>
          <a:p>
            <a:r>
              <a:rPr lang="nl-BE" dirty="0"/>
              <a:t>Solution #2a : </a:t>
            </a:r>
            <a:br>
              <a:rPr lang="nl-BE" dirty="0"/>
            </a:br>
            <a:r>
              <a:rPr lang="nl-BE" dirty="0" err="1"/>
              <a:t>less</a:t>
            </a:r>
            <a:r>
              <a:rPr lang="nl-BE" dirty="0"/>
              <a:t> 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A98FC-6856-4E1C-9A39-9555E2911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37</a:t>
            </a:fld>
            <a:endParaRPr lang="nl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2F99D2-9C19-48D8-A372-B34029EB2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650" y="332656"/>
            <a:ext cx="4214766" cy="194421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0DAC632-29F3-4F05-A4C9-9E39FFF82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3356992"/>
            <a:ext cx="3324225" cy="11811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B8ADC3E-CD50-4408-AAE5-AD0AE9B85CE3}"/>
              </a:ext>
            </a:extLst>
          </p:cNvPr>
          <p:cNvSpPr/>
          <p:nvPr/>
        </p:nvSpPr>
        <p:spPr>
          <a:xfrm>
            <a:off x="1331640" y="3356992"/>
            <a:ext cx="2016224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>
              <a:highlight>
                <a:srgbClr val="00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DE1347-ED29-4A52-BA05-E75C623053E4}"/>
              </a:ext>
            </a:extLst>
          </p:cNvPr>
          <p:cNvSpPr txBox="1"/>
          <p:nvPr/>
        </p:nvSpPr>
        <p:spPr>
          <a:xfrm>
            <a:off x="2166154" y="2750094"/>
            <a:ext cx="397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3600" dirty="0"/>
              <a:t>?</a:t>
            </a:r>
            <a:endParaRPr lang="nl-BE" dirty="0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4637B3FE-E067-4C6E-9AAB-38E4B954BCD9}"/>
              </a:ext>
            </a:extLst>
          </p:cNvPr>
          <p:cNvSpPr/>
          <p:nvPr/>
        </p:nvSpPr>
        <p:spPr>
          <a:xfrm rot="10800000">
            <a:off x="4860032" y="1700808"/>
            <a:ext cx="432048" cy="288032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1229348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F8B98-9500-4185-962B-B9E8BD24A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16632"/>
            <a:ext cx="8064896" cy="1800200"/>
          </a:xfrm>
        </p:spPr>
        <p:txBody>
          <a:bodyPr>
            <a:normAutofit/>
          </a:bodyPr>
          <a:lstStyle/>
          <a:p>
            <a:r>
              <a:rPr lang="nl-BE" dirty="0"/>
              <a:t>Solution #2a : </a:t>
            </a:r>
            <a:br>
              <a:rPr lang="nl-BE" dirty="0"/>
            </a:br>
            <a:r>
              <a:rPr lang="nl-BE" dirty="0" err="1"/>
              <a:t>less</a:t>
            </a:r>
            <a:r>
              <a:rPr lang="nl-BE" dirty="0"/>
              <a:t> 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A98FC-6856-4E1C-9A39-9555E2911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38</a:t>
            </a:fld>
            <a:endParaRPr lang="nl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2F99D2-9C19-48D8-A372-B34029EB2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650" y="332656"/>
            <a:ext cx="4214766" cy="194421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0DAC632-29F3-4F05-A4C9-9E39FFF82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3356992"/>
            <a:ext cx="3324225" cy="11811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B8ADC3E-CD50-4408-AAE5-AD0AE9B85CE3}"/>
              </a:ext>
            </a:extLst>
          </p:cNvPr>
          <p:cNvSpPr/>
          <p:nvPr/>
        </p:nvSpPr>
        <p:spPr>
          <a:xfrm>
            <a:off x="1331640" y="3356992"/>
            <a:ext cx="2016224" cy="288032"/>
          </a:xfrm>
          <a:prstGeom prst="rect">
            <a:avLst/>
          </a:prstGeom>
          <a:solidFill>
            <a:srgbClr val="FF0000">
              <a:alpha val="3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>
              <a:highlight>
                <a:srgbClr val="00FF00"/>
              </a:highlight>
            </a:endParaRP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5537C71C-48D5-49B5-B1C4-97A1C1B9F7F8}"/>
              </a:ext>
            </a:extLst>
          </p:cNvPr>
          <p:cNvSpPr/>
          <p:nvPr/>
        </p:nvSpPr>
        <p:spPr>
          <a:xfrm rot="10800000">
            <a:off x="4860032" y="1700808"/>
            <a:ext cx="432048" cy="288032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0447436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F8B98-9500-4185-962B-B9E8BD24A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16632"/>
            <a:ext cx="8064896" cy="1800200"/>
          </a:xfrm>
        </p:spPr>
        <p:txBody>
          <a:bodyPr>
            <a:normAutofit/>
          </a:bodyPr>
          <a:lstStyle/>
          <a:p>
            <a:r>
              <a:rPr lang="nl-BE" dirty="0"/>
              <a:t>Solution #2a : </a:t>
            </a:r>
            <a:br>
              <a:rPr lang="nl-BE" dirty="0"/>
            </a:br>
            <a:r>
              <a:rPr lang="nl-BE" dirty="0" err="1"/>
              <a:t>less</a:t>
            </a:r>
            <a:r>
              <a:rPr lang="nl-BE" dirty="0"/>
              <a:t> 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A98FC-6856-4E1C-9A39-9555E2911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39</a:t>
            </a:fld>
            <a:endParaRPr lang="nl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2F99D2-9C19-48D8-A372-B34029EB2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650" y="332656"/>
            <a:ext cx="4214766" cy="194421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0DAC632-29F3-4F05-A4C9-9E39FFF82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3356992"/>
            <a:ext cx="3324225" cy="1181100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BEC2F085-9525-4357-BF28-3C3A9F157355}"/>
              </a:ext>
            </a:extLst>
          </p:cNvPr>
          <p:cNvSpPr/>
          <p:nvPr/>
        </p:nvSpPr>
        <p:spPr>
          <a:xfrm rot="10800000">
            <a:off x="611560" y="4437112"/>
            <a:ext cx="1584176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39B8E803-9E2D-4983-A288-B4CCD4F735F2}"/>
              </a:ext>
            </a:extLst>
          </p:cNvPr>
          <p:cNvSpPr/>
          <p:nvPr/>
        </p:nvSpPr>
        <p:spPr>
          <a:xfrm rot="10800000">
            <a:off x="4860032" y="1700808"/>
            <a:ext cx="432048" cy="288032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9233444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3B327-768B-41E2-B282-70BA7C168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 dirty="0" err="1"/>
              <a:t>Assignment</a:t>
            </a:r>
            <a:r>
              <a:rPr lang="nl-BE" dirty="0"/>
              <a:t> #2c				(q2c.py)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07F4F-0FE7-4BF0-9B43-9C39FC7472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Go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target </a:t>
            </a:r>
            <a:r>
              <a:rPr lang="nl-BE" dirty="0" err="1"/>
              <a:t>tile</a:t>
            </a:r>
            <a:r>
              <a:rPr lang="nl-BE" dirty="0"/>
              <a:t> in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following</a:t>
            </a:r>
            <a:r>
              <a:rPr lang="nl-BE" dirty="0"/>
              <a:t> </a:t>
            </a:r>
            <a:r>
              <a:rPr lang="nl-BE" dirty="0" err="1"/>
              <a:t>maze</a:t>
            </a:r>
            <a:r>
              <a:rPr lang="nl-BE" dirty="0"/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BDE13D-1454-4A86-A8F7-E7F5E5316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40</a:t>
            </a:fld>
            <a:endParaRPr lang="nl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52492A-43E0-4D3D-8D31-1BECA8179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438" y="1844823"/>
            <a:ext cx="5341857" cy="4281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9412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049AC-5565-455B-919C-06DDC4CEF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Solution #2c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4A530-11C6-42C3-9D4B-45155740E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41</a:t>
            </a:fld>
            <a:endParaRPr lang="nl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E9AF9E-243F-48D3-8934-A558B7653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1916832"/>
            <a:ext cx="3848100" cy="19335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3615A6-7419-4F56-9B6B-ED895024B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412" y="1772816"/>
            <a:ext cx="3593688" cy="288032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D0597E4-CF24-4798-878C-B934D53BA8F5}"/>
              </a:ext>
            </a:extLst>
          </p:cNvPr>
          <p:cNvSpPr/>
          <p:nvPr/>
        </p:nvSpPr>
        <p:spPr>
          <a:xfrm>
            <a:off x="611560" y="1556792"/>
            <a:ext cx="3888432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978338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9BEDE-6424-4E07-96E7-CEC810EC0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Solving</a:t>
            </a:r>
            <a:r>
              <a:rPr lang="nl-BE" dirty="0"/>
              <a:t> </a:t>
            </a:r>
            <a:r>
              <a:rPr lang="nl-BE" dirty="0" err="1"/>
              <a:t>Arbitrary</a:t>
            </a:r>
            <a:r>
              <a:rPr lang="nl-BE" dirty="0"/>
              <a:t> </a:t>
            </a:r>
            <a:r>
              <a:rPr lang="nl-BE" dirty="0" err="1"/>
              <a:t>Mazes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BB3C6-3E38-4E45-AD9F-0875A4099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 err="1"/>
              <a:t>Until</a:t>
            </a:r>
            <a:r>
              <a:rPr lang="nl-BE" dirty="0"/>
              <a:t> </a:t>
            </a:r>
            <a:r>
              <a:rPr lang="nl-BE" dirty="0" err="1"/>
              <a:t>now</a:t>
            </a:r>
            <a:r>
              <a:rPr lang="nl-BE" dirty="0"/>
              <a:t>: </a:t>
            </a:r>
            <a:r>
              <a:rPr lang="nl-BE" dirty="0" err="1"/>
              <a:t>only</a:t>
            </a:r>
            <a:r>
              <a:rPr lang="nl-BE" dirty="0"/>
              <a:t> programs </a:t>
            </a:r>
            <a:r>
              <a:rPr lang="nl-BE" dirty="0" err="1"/>
              <a:t>for</a:t>
            </a:r>
            <a:r>
              <a:rPr lang="nl-BE" dirty="0"/>
              <a:t> </a:t>
            </a:r>
            <a:r>
              <a:rPr lang="nl-BE" dirty="0" err="1"/>
              <a:t>solving</a:t>
            </a:r>
            <a:r>
              <a:rPr lang="nl-BE" dirty="0"/>
              <a:t> </a:t>
            </a:r>
            <a:r>
              <a:rPr lang="nl-BE" dirty="0" err="1">
                <a:solidFill>
                  <a:schemeClr val="accent2"/>
                </a:solidFill>
              </a:rPr>
              <a:t>specific</a:t>
            </a:r>
            <a:r>
              <a:rPr lang="nl-BE" dirty="0">
                <a:solidFill>
                  <a:schemeClr val="accent2"/>
                </a:solidFill>
              </a:rPr>
              <a:t> </a:t>
            </a:r>
            <a:r>
              <a:rPr lang="nl-BE" dirty="0" err="1">
                <a:solidFill>
                  <a:schemeClr val="accent2"/>
                </a:solidFill>
              </a:rPr>
              <a:t>mazes</a:t>
            </a:r>
            <a:r>
              <a:rPr lang="nl-BE" dirty="0"/>
              <a:t>; </a:t>
            </a:r>
            <a:r>
              <a:rPr lang="nl-BE" dirty="0" err="1"/>
              <a:t>the</a:t>
            </a:r>
            <a:r>
              <a:rPr lang="nl-BE" dirty="0"/>
              <a:t> solution </a:t>
            </a:r>
            <a:r>
              <a:rPr lang="nl-BE" dirty="0" err="1"/>
              <a:t>for</a:t>
            </a:r>
            <a:r>
              <a:rPr lang="nl-BE" dirty="0"/>
              <a:t> Q1 </a:t>
            </a:r>
            <a:r>
              <a:rPr lang="nl-BE" dirty="0" err="1"/>
              <a:t>doesn’t</a:t>
            </a:r>
            <a:r>
              <a:rPr lang="nl-BE" dirty="0"/>
              <a:t> </a:t>
            </a:r>
            <a:r>
              <a:rPr lang="nl-BE" dirty="0" err="1"/>
              <a:t>work</a:t>
            </a:r>
            <a:r>
              <a:rPr lang="nl-BE" dirty="0"/>
              <a:t> </a:t>
            </a:r>
            <a:r>
              <a:rPr lang="nl-BE" dirty="0" err="1"/>
              <a:t>for</a:t>
            </a:r>
            <a:r>
              <a:rPr lang="nl-BE" dirty="0"/>
              <a:t> Q2 and </a:t>
            </a:r>
            <a:r>
              <a:rPr lang="nl-BE" dirty="0" err="1"/>
              <a:t>vice</a:t>
            </a:r>
            <a:r>
              <a:rPr lang="nl-BE" dirty="0"/>
              <a:t> versa.</a:t>
            </a:r>
          </a:p>
          <a:p>
            <a:r>
              <a:rPr lang="nl-BE" dirty="0"/>
              <a:t>Can we </a:t>
            </a:r>
            <a:r>
              <a:rPr lang="nl-BE" dirty="0" err="1"/>
              <a:t>write</a:t>
            </a:r>
            <a:r>
              <a:rPr lang="nl-BE" dirty="0"/>
              <a:t> programs </a:t>
            </a:r>
            <a:r>
              <a:rPr lang="nl-BE" dirty="0" err="1"/>
              <a:t>that</a:t>
            </a:r>
            <a:r>
              <a:rPr lang="nl-BE" dirty="0"/>
              <a:t> are </a:t>
            </a:r>
            <a:r>
              <a:rPr lang="nl-BE" dirty="0" err="1"/>
              <a:t>flexible</a:t>
            </a:r>
            <a:r>
              <a:rPr lang="nl-BE" dirty="0"/>
              <a:t> </a:t>
            </a:r>
            <a:r>
              <a:rPr lang="nl-BE" dirty="0" err="1"/>
              <a:t>enough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solve</a:t>
            </a:r>
            <a:r>
              <a:rPr lang="nl-BE" dirty="0"/>
              <a:t> </a:t>
            </a:r>
            <a:r>
              <a:rPr lang="nl-BE" dirty="0" err="1">
                <a:solidFill>
                  <a:schemeClr val="accent2"/>
                </a:solidFill>
              </a:rPr>
              <a:t>any</a:t>
            </a:r>
            <a:r>
              <a:rPr lang="nl-BE" dirty="0">
                <a:solidFill>
                  <a:schemeClr val="accent2"/>
                </a:solidFill>
              </a:rPr>
              <a:t> </a:t>
            </a:r>
            <a:r>
              <a:rPr lang="nl-BE" dirty="0" err="1">
                <a:solidFill>
                  <a:schemeClr val="accent2"/>
                </a:solidFill>
              </a:rPr>
              <a:t>maze</a:t>
            </a:r>
            <a:r>
              <a:rPr lang="nl-BE" dirty="0">
                <a:solidFill>
                  <a:schemeClr val="accent2"/>
                </a:solidFill>
              </a:rPr>
              <a:t> </a:t>
            </a:r>
            <a:r>
              <a:rPr lang="nl-BE" dirty="0"/>
              <a:t>?</a:t>
            </a:r>
          </a:p>
          <a:p>
            <a:endParaRPr lang="nl-BE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 err="1"/>
              <a:t>Implies</a:t>
            </a:r>
            <a:r>
              <a:rPr lang="nl-BE" dirty="0"/>
              <a:t> </a:t>
            </a:r>
            <a:r>
              <a:rPr lang="nl-BE" dirty="0" err="1"/>
              <a:t>that</a:t>
            </a:r>
            <a:r>
              <a:rPr lang="nl-BE" dirty="0"/>
              <a:t> we </a:t>
            </a:r>
            <a:r>
              <a:rPr lang="nl-BE" dirty="0" err="1"/>
              <a:t>need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make </a:t>
            </a:r>
            <a:r>
              <a:rPr lang="nl-BE" dirty="0" err="1"/>
              <a:t>choices</a:t>
            </a:r>
            <a:r>
              <a:rPr lang="nl-BE" dirty="0"/>
              <a:t> </a:t>
            </a:r>
            <a:r>
              <a:rPr lang="nl-BE" dirty="0" err="1"/>
              <a:t>depending</a:t>
            </a:r>
            <a:r>
              <a:rPr lang="nl-BE" dirty="0"/>
              <a:t> on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situation</a:t>
            </a:r>
            <a:r>
              <a:rPr lang="nl-BE" dirty="0"/>
              <a:t>:</a:t>
            </a:r>
          </a:p>
          <a:p>
            <a:r>
              <a:rPr lang="nl-BE" dirty="0">
                <a:solidFill>
                  <a:srgbClr val="FF0000"/>
                </a:solidFill>
              </a:rPr>
              <a:t>	</a:t>
            </a:r>
            <a:r>
              <a:rPr lang="nl-BE" dirty="0" err="1">
                <a:solidFill>
                  <a:srgbClr val="FF0000"/>
                </a:solidFill>
              </a:rPr>
              <a:t>If</a:t>
            </a:r>
            <a:r>
              <a:rPr lang="nl-BE" dirty="0"/>
              <a:t> </a:t>
            </a:r>
            <a:r>
              <a:rPr lang="nl-BE" dirty="0" err="1"/>
              <a:t>left</a:t>
            </a:r>
            <a:r>
              <a:rPr lang="nl-BE" dirty="0"/>
              <a:t> is free, </a:t>
            </a:r>
            <a:r>
              <a:rPr lang="nl-BE" dirty="0" err="1">
                <a:solidFill>
                  <a:srgbClr val="FF0000"/>
                </a:solidFill>
              </a:rPr>
              <a:t>then</a:t>
            </a:r>
            <a:r>
              <a:rPr lang="nl-BE" dirty="0">
                <a:solidFill>
                  <a:srgbClr val="FF0000"/>
                </a:solidFill>
              </a:rPr>
              <a:t> </a:t>
            </a:r>
            <a:r>
              <a:rPr lang="nl-BE" dirty="0">
                <a:solidFill>
                  <a:schemeClr val="accent1"/>
                </a:solidFill>
              </a:rPr>
              <a:t>turn </a:t>
            </a:r>
            <a:r>
              <a:rPr lang="nl-BE" dirty="0" err="1">
                <a:solidFill>
                  <a:schemeClr val="accent1"/>
                </a:solidFill>
              </a:rPr>
              <a:t>left</a:t>
            </a:r>
            <a:endParaRPr lang="nl-BE" dirty="0">
              <a:solidFill>
                <a:schemeClr val="accent1"/>
              </a:solidFill>
            </a:endParaRPr>
          </a:p>
          <a:p>
            <a:r>
              <a:rPr lang="nl-BE" dirty="0">
                <a:solidFill>
                  <a:srgbClr val="FF0000"/>
                </a:solidFill>
              </a:rPr>
              <a:t>	</a:t>
            </a:r>
            <a:r>
              <a:rPr lang="nl-BE" dirty="0" err="1">
                <a:solidFill>
                  <a:srgbClr val="FF0000"/>
                </a:solidFill>
              </a:rPr>
              <a:t>else</a:t>
            </a:r>
            <a:r>
              <a:rPr lang="nl-BE" dirty="0">
                <a:solidFill>
                  <a:srgbClr val="FF0000"/>
                </a:solidFill>
              </a:rPr>
              <a:t> </a:t>
            </a:r>
            <a:r>
              <a:rPr lang="nl-BE" dirty="0" err="1">
                <a:solidFill>
                  <a:srgbClr val="FF0000"/>
                </a:solidFill>
              </a:rPr>
              <a:t>if</a:t>
            </a:r>
            <a:r>
              <a:rPr lang="nl-BE" dirty="0">
                <a:solidFill>
                  <a:srgbClr val="FF0000"/>
                </a:solidFill>
              </a:rPr>
              <a:t> </a:t>
            </a:r>
            <a:r>
              <a:rPr lang="nl-BE" dirty="0"/>
              <a:t>right is free, </a:t>
            </a:r>
            <a:r>
              <a:rPr lang="nl-BE" dirty="0" err="1">
                <a:solidFill>
                  <a:srgbClr val="FF0000"/>
                </a:solidFill>
              </a:rPr>
              <a:t>then</a:t>
            </a:r>
            <a:r>
              <a:rPr lang="nl-BE" dirty="0">
                <a:solidFill>
                  <a:srgbClr val="FF0000"/>
                </a:solidFill>
              </a:rPr>
              <a:t> </a:t>
            </a:r>
            <a:r>
              <a:rPr lang="nl-BE" dirty="0"/>
              <a:t>turn right</a:t>
            </a:r>
          </a:p>
          <a:p>
            <a:r>
              <a:rPr lang="nl-BE" dirty="0">
                <a:solidFill>
                  <a:srgbClr val="FF0000"/>
                </a:solidFill>
              </a:rPr>
              <a:t>	</a:t>
            </a:r>
            <a:r>
              <a:rPr lang="nl-BE" dirty="0" err="1">
                <a:solidFill>
                  <a:srgbClr val="FF0000"/>
                </a:solidFill>
              </a:rPr>
              <a:t>else</a:t>
            </a:r>
            <a:r>
              <a:rPr lang="nl-BE" dirty="0">
                <a:solidFill>
                  <a:srgbClr val="FF0000"/>
                </a:solidFill>
              </a:rPr>
              <a:t> </a:t>
            </a:r>
            <a:r>
              <a:rPr lang="nl-BE" dirty="0"/>
              <a:t>go forward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BC5C2C-80E2-416D-B82B-C6CE00078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42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84728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8001"/>
    </mc:Choice>
    <mc:Fallback xmlns="">
      <p:transition spd="slow" advTm="11800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B1AA913-0B4D-4221-BA93-635F4510A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4077072"/>
            <a:ext cx="2438400" cy="16859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ABD1CE-6BAE-4107-A64F-6CB830A47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984" y="3140968"/>
            <a:ext cx="4464496" cy="318318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E54499F-C696-4685-B868-7C3FC13D6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 err="1"/>
              <a:t>This</a:t>
            </a:r>
            <a:r>
              <a:rPr lang="nl-BE" dirty="0"/>
              <a:t> is </a:t>
            </a:r>
            <a:r>
              <a:rPr lang="nl-BE" dirty="0" err="1"/>
              <a:t>exactly</a:t>
            </a:r>
            <a:r>
              <a:rPr lang="nl-BE" dirty="0"/>
              <a:t> </a:t>
            </a:r>
            <a:r>
              <a:rPr lang="nl-BE" dirty="0" err="1"/>
              <a:t>what</a:t>
            </a:r>
            <a:r>
              <a:rPr lang="nl-BE" dirty="0"/>
              <a:t> </a:t>
            </a:r>
            <a:r>
              <a:rPr lang="nl-BE" dirty="0" err="1"/>
              <a:t>if</a:t>
            </a:r>
            <a:r>
              <a:rPr lang="nl-BE" dirty="0"/>
              <a:t> – </a:t>
            </a:r>
            <a:r>
              <a:rPr lang="nl-BE" dirty="0" err="1"/>
              <a:t>elif</a:t>
            </a:r>
            <a:r>
              <a:rPr lang="nl-BE" dirty="0"/>
              <a:t> – </a:t>
            </a:r>
            <a:r>
              <a:rPr lang="nl-BE" dirty="0" err="1"/>
              <a:t>else</a:t>
            </a:r>
            <a:r>
              <a:rPr lang="nl-BE" dirty="0"/>
              <a:t> does in Python:</a:t>
            </a:r>
          </a:p>
          <a:p>
            <a:endParaRPr lang="nl-BE" dirty="0">
              <a:solidFill>
                <a:srgbClr val="FF0000"/>
              </a:solidFill>
            </a:endParaRPr>
          </a:p>
          <a:p>
            <a:r>
              <a:rPr lang="nl-BE" dirty="0">
                <a:solidFill>
                  <a:srgbClr val="FF0000"/>
                </a:solidFill>
              </a:rPr>
              <a:t>	</a:t>
            </a:r>
            <a:r>
              <a:rPr lang="nl-BE" dirty="0" err="1">
                <a:solidFill>
                  <a:srgbClr val="FF0000"/>
                </a:solidFill>
              </a:rPr>
              <a:t>If</a:t>
            </a:r>
            <a:r>
              <a:rPr lang="nl-BE" dirty="0"/>
              <a:t> </a:t>
            </a:r>
            <a:r>
              <a:rPr lang="nl-BE" dirty="0" err="1"/>
              <a:t>left</a:t>
            </a:r>
            <a:r>
              <a:rPr lang="nl-BE" dirty="0"/>
              <a:t> is free, </a:t>
            </a:r>
            <a:r>
              <a:rPr lang="nl-BE" dirty="0" err="1">
                <a:solidFill>
                  <a:srgbClr val="FF0000"/>
                </a:solidFill>
              </a:rPr>
              <a:t>then</a:t>
            </a:r>
            <a:r>
              <a:rPr lang="nl-BE" dirty="0">
                <a:solidFill>
                  <a:srgbClr val="FF0000"/>
                </a:solidFill>
              </a:rPr>
              <a:t> </a:t>
            </a:r>
            <a:r>
              <a:rPr lang="nl-BE" dirty="0">
                <a:solidFill>
                  <a:schemeClr val="accent1"/>
                </a:solidFill>
              </a:rPr>
              <a:t>turn </a:t>
            </a:r>
            <a:r>
              <a:rPr lang="nl-BE" dirty="0" err="1">
                <a:solidFill>
                  <a:schemeClr val="accent1"/>
                </a:solidFill>
              </a:rPr>
              <a:t>left</a:t>
            </a:r>
            <a:endParaRPr lang="nl-BE" dirty="0">
              <a:solidFill>
                <a:schemeClr val="accent1"/>
              </a:solidFill>
            </a:endParaRPr>
          </a:p>
          <a:p>
            <a:r>
              <a:rPr lang="nl-BE" dirty="0">
                <a:solidFill>
                  <a:srgbClr val="FF0000"/>
                </a:solidFill>
              </a:rPr>
              <a:t>	</a:t>
            </a:r>
            <a:r>
              <a:rPr lang="nl-BE" dirty="0" err="1">
                <a:solidFill>
                  <a:srgbClr val="FF0000"/>
                </a:solidFill>
              </a:rPr>
              <a:t>else</a:t>
            </a:r>
            <a:r>
              <a:rPr lang="nl-BE" dirty="0">
                <a:solidFill>
                  <a:srgbClr val="FF0000"/>
                </a:solidFill>
              </a:rPr>
              <a:t> </a:t>
            </a:r>
            <a:r>
              <a:rPr lang="nl-BE" dirty="0" err="1">
                <a:solidFill>
                  <a:srgbClr val="FF0000"/>
                </a:solidFill>
              </a:rPr>
              <a:t>if</a:t>
            </a:r>
            <a:r>
              <a:rPr lang="nl-BE" dirty="0">
                <a:solidFill>
                  <a:srgbClr val="FF0000"/>
                </a:solidFill>
              </a:rPr>
              <a:t> </a:t>
            </a:r>
            <a:r>
              <a:rPr lang="nl-BE" dirty="0"/>
              <a:t>right is free, </a:t>
            </a:r>
            <a:r>
              <a:rPr lang="nl-BE" dirty="0" err="1">
                <a:solidFill>
                  <a:srgbClr val="FF0000"/>
                </a:solidFill>
              </a:rPr>
              <a:t>then</a:t>
            </a:r>
            <a:r>
              <a:rPr lang="nl-BE" dirty="0">
                <a:solidFill>
                  <a:srgbClr val="FF0000"/>
                </a:solidFill>
              </a:rPr>
              <a:t> </a:t>
            </a:r>
            <a:r>
              <a:rPr lang="nl-BE" dirty="0"/>
              <a:t>turn right</a:t>
            </a:r>
          </a:p>
          <a:p>
            <a:r>
              <a:rPr lang="nl-BE" dirty="0">
                <a:solidFill>
                  <a:srgbClr val="FF0000"/>
                </a:solidFill>
              </a:rPr>
              <a:t>	</a:t>
            </a:r>
            <a:r>
              <a:rPr lang="nl-BE" dirty="0" err="1">
                <a:solidFill>
                  <a:srgbClr val="FF0000"/>
                </a:solidFill>
              </a:rPr>
              <a:t>else</a:t>
            </a:r>
            <a:r>
              <a:rPr lang="nl-BE" dirty="0">
                <a:solidFill>
                  <a:srgbClr val="FF0000"/>
                </a:solidFill>
              </a:rPr>
              <a:t> </a:t>
            </a:r>
            <a:r>
              <a:rPr lang="nl-BE" dirty="0"/>
              <a:t>go forward</a:t>
            </a:r>
          </a:p>
          <a:p>
            <a:endParaRPr lang="nl-BE" dirty="0"/>
          </a:p>
          <a:p>
            <a:r>
              <a:rPr lang="nl-BE" dirty="0"/>
              <a:t>		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5F64E2-4C5C-47DC-B59E-9B369496D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if</a:t>
            </a:r>
            <a:r>
              <a:rPr lang="nl-BE" dirty="0"/>
              <a:t> – </a:t>
            </a:r>
            <a:r>
              <a:rPr lang="nl-BE" dirty="0" err="1"/>
              <a:t>elif</a:t>
            </a:r>
            <a:r>
              <a:rPr lang="nl-BE" dirty="0"/>
              <a:t> - </a:t>
            </a:r>
            <a:r>
              <a:rPr lang="nl-BE" dirty="0" err="1"/>
              <a:t>else</a:t>
            </a:r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E92F0F-AC3D-453C-90AB-0E433D2D7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43</a:t>
            </a:fld>
            <a:endParaRPr lang="nl-NL"/>
          </a:p>
        </p:txBody>
      </p:sp>
      <p:pic>
        <p:nvPicPr>
          <p:cNvPr id="9" name="Afbeelding 6">
            <a:extLst>
              <a:ext uri="{FF2B5EF4-FFF2-40B4-BE49-F238E27FC236}">
                <a16:creationId xmlns:a16="http://schemas.microsoft.com/office/drawing/2014/main" id="{A5D3870A-C440-4F39-BFF5-F63F09A99CE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024562"/>
            <a:ext cx="9162000" cy="835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748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420"/>
    </mc:Choice>
    <mc:Fallback xmlns="">
      <p:transition spd="slow" advTm="94420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B1AA913-0B4D-4221-BA93-635F4510A7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3233" y="3041596"/>
            <a:ext cx="2438400" cy="1685925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18BC86FB-9E9A-4556-8441-40666997EBA3}"/>
              </a:ext>
            </a:extLst>
          </p:cNvPr>
          <p:cNvSpPr/>
          <p:nvPr/>
        </p:nvSpPr>
        <p:spPr>
          <a:xfrm>
            <a:off x="2953233" y="3761676"/>
            <a:ext cx="576204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58ECBB9-20BF-4EFB-BB5D-569414D00F86}"/>
              </a:ext>
            </a:extLst>
          </p:cNvPr>
          <p:cNvSpPr/>
          <p:nvPr/>
        </p:nvSpPr>
        <p:spPr>
          <a:xfrm>
            <a:off x="2953233" y="4329069"/>
            <a:ext cx="576204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E54499F-C696-4685-B868-7C3FC13D6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 err="1"/>
              <a:t>This</a:t>
            </a:r>
            <a:r>
              <a:rPr lang="nl-BE" dirty="0"/>
              <a:t> is </a:t>
            </a:r>
            <a:r>
              <a:rPr lang="nl-BE" dirty="0" err="1"/>
              <a:t>exactly</a:t>
            </a:r>
            <a:r>
              <a:rPr lang="nl-BE" dirty="0"/>
              <a:t> </a:t>
            </a:r>
            <a:r>
              <a:rPr lang="nl-BE" dirty="0" err="1"/>
              <a:t>what</a:t>
            </a:r>
            <a:r>
              <a:rPr lang="nl-BE" dirty="0"/>
              <a:t> </a:t>
            </a:r>
            <a:r>
              <a:rPr lang="nl-BE" dirty="0" err="1"/>
              <a:t>if</a:t>
            </a:r>
            <a:r>
              <a:rPr lang="nl-BE" dirty="0"/>
              <a:t> – </a:t>
            </a:r>
            <a:r>
              <a:rPr lang="nl-BE" dirty="0" err="1"/>
              <a:t>elif</a:t>
            </a:r>
            <a:r>
              <a:rPr lang="nl-BE" dirty="0"/>
              <a:t> – </a:t>
            </a:r>
            <a:r>
              <a:rPr lang="nl-BE" dirty="0" err="1"/>
              <a:t>else</a:t>
            </a:r>
            <a:r>
              <a:rPr lang="nl-BE" dirty="0"/>
              <a:t> does in Python:</a:t>
            </a:r>
          </a:p>
          <a:p>
            <a:endParaRPr lang="nl-BE" dirty="0">
              <a:solidFill>
                <a:srgbClr val="FF0000"/>
              </a:solidFill>
            </a:endParaRPr>
          </a:p>
          <a:p>
            <a:r>
              <a:rPr lang="nl-BE" dirty="0">
                <a:solidFill>
                  <a:srgbClr val="FF0000"/>
                </a:solidFill>
              </a:rPr>
              <a:t>	</a:t>
            </a:r>
            <a:endParaRPr lang="nl-BE" dirty="0"/>
          </a:p>
          <a:p>
            <a:r>
              <a:rPr lang="nl-BE" dirty="0"/>
              <a:t>		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5F64E2-4C5C-47DC-B59E-9B369496D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if</a:t>
            </a:r>
            <a:r>
              <a:rPr lang="nl-BE" dirty="0"/>
              <a:t> – </a:t>
            </a:r>
            <a:r>
              <a:rPr lang="nl-BE" dirty="0" err="1"/>
              <a:t>elif</a:t>
            </a:r>
            <a:r>
              <a:rPr lang="nl-BE" dirty="0"/>
              <a:t> - </a:t>
            </a:r>
            <a:r>
              <a:rPr lang="nl-BE" dirty="0" err="1"/>
              <a:t>else</a:t>
            </a:r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E92F0F-AC3D-453C-90AB-0E433D2D7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17237" y="5567405"/>
            <a:ext cx="461556" cy="257295"/>
          </a:xfrm>
        </p:spPr>
        <p:txBody>
          <a:bodyPr/>
          <a:lstStyle/>
          <a:p>
            <a:fld id="{3B032377-C103-4EFE-98C1-80A6E5A7472A}" type="slidenum">
              <a:rPr lang="nl-NL" smtClean="0"/>
              <a:t>44</a:t>
            </a:fld>
            <a:endParaRPr lang="nl-NL"/>
          </a:p>
        </p:txBody>
      </p:sp>
      <p:pic>
        <p:nvPicPr>
          <p:cNvPr id="9" name="Afbeelding 6">
            <a:extLst>
              <a:ext uri="{FF2B5EF4-FFF2-40B4-BE49-F238E27FC236}">
                <a16:creationId xmlns:a16="http://schemas.microsoft.com/office/drawing/2014/main" id="{A5D3870A-C440-4F39-BFF5-F63F09A99CE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024562"/>
            <a:ext cx="9162000" cy="835079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E30EC20A-710A-40AD-AA44-47064597F160}"/>
              </a:ext>
            </a:extLst>
          </p:cNvPr>
          <p:cNvSpPr/>
          <p:nvPr/>
        </p:nvSpPr>
        <p:spPr>
          <a:xfrm>
            <a:off x="4753433" y="3041596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F360C84-DB47-4FDE-9715-8AED36027524}"/>
              </a:ext>
            </a:extLst>
          </p:cNvPr>
          <p:cNvSpPr/>
          <p:nvPr/>
        </p:nvSpPr>
        <p:spPr>
          <a:xfrm>
            <a:off x="2953233" y="3000331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C8F0C02-AF8C-4753-BCC1-81B7AB343B90}"/>
              </a:ext>
            </a:extLst>
          </p:cNvPr>
          <p:cNvSpPr/>
          <p:nvPr/>
        </p:nvSpPr>
        <p:spPr>
          <a:xfrm>
            <a:off x="2953093" y="3288363"/>
            <a:ext cx="576204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3FBBED6F-1643-4999-B120-8A05794BD1AB}"/>
              </a:ext>
            </a:extLst>
          </p:cNvPr>
          <p:cNvSpPr/>
          <p:nvPr/>
        </p:nvSpPr>
        <p:spPr>
          <a:xfrm>
            <a:off x="4969457" y="2385140"/>
            <a:ext cx="1512168" cy="504056"/>
          </a:xfrm>
          <a:prstGeom prst="wedgeRoundRectCallout">
            <a:avLst>
              <a:gd name="adj1" fmla="val -47708"/>
              <a:gd name="adj2" fmla="val 100981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>
                <a:solidFill>
                  <a:schemeClr val="tx1"/>
                </a:solidFill>
              </a:rPr>
              <a:t>Do </a:t>
            </a:r>
            <a:r>
              <a:rPr lang="nl-BE" dirty="0" err="1">
                <a:solidFill>
                  <a:schemeClr val="tx1"/>
                </a:solidFill>
              </a:rPr>
              <a:t>not</a:t>
            </a:r>
            <a:r>
              <a:rPr lang="nl-BE" dirty="0">
                <a:solidFill>
                  <a:schemeClr val="tx1"/>
                </a:solidFill>
              </a:rPr>
              <a:t> </a:t>
            </a:r>
            <a:r>
              <a:rPr lang="nl-BE" dirty="0" err="1">
                <a:solidFill>
                  <a:schemeClr val="tx1"/>
                </a:solidFill>
              </a:rPr>
              <a:t>forget</a:t>
            </a:r>
            <a:r>
              <a:rPr lang="nl-BE" dirty="0">
                <a:solidFill>
                  <a:schemeClr val="tx1"/>
                </a:solidFill>
              </a:rPr>
              <a:t> “:”</a:t>
            </a:r>
          </a:p>
        </p:txBody>
      </p:sp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E6AC3364-4BC2-45D9-A309-DD0A090AB0E3}"/>
              </a:ext>
            </a:extLst>
          </p:cNvPr>
          <p:cNvSpPr/>
          <p:nvPr/>
        </p:nvSpPr>
        <p:spPr>
          <a:xfrm>
            <a:off x="5396824" y="4187461"/>
            <a:ext cx="2232248" cy="1080120"/>
          </a:xfrm>
          <a:prstGeom prst="wedgeRoundRectCallout">
            <a:avLst>
              <a:gd name="adj1" fmla="val -146264"/>
              <a:gd name="adj2" fmla="val -118520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>
                <a:solidFill>
                  <a:schemeClr val="tx1"/>
                </a:solidFill>
              </a:rPr>
              <a:t>The </a:t>
            </a:r>
            <a:r>
              <a:rPr lang="nl-BE" dirty="0" err="1">
                <a:solidFill>
                  <a:schemeClr val="tx1"/>
                </a:solidFill>
              </a:rPr>
              <a:t>conditional</a:t>
            </a:r>
            <a:r>
              <a:rPr lang="nl-BE" dirty="0">
                <a:solidFill>
                  <a:schemeClr val="tx1"/>
                </a:solidFill>
              </a:rPr>
              <a:t> </a:t>
            </a:r>
            <a:r>
              <a:rPr lang="nl-BE" dirty="0" err="1">
                <a:solidFill>
                  <a:schemeClr val="tx1"/>
                </a:solidFill>
              </a:rPr>
              <a:t>parts</a:t>
            </a:r>
            <a:r>
              <a:rPr lang="nl-BE" dirty="0">
                <a:solidFill>
                  <a:schemeClr val="tx1"/>
                </a:solidFill>
              </a:rPr>
              <a:t> are </a:t>
            </a:r>
            <a:r>
              <a:rPr lang="nl-BE" dirty="0" err="1">
                <a:solidFill>
                  <a:schemeClr val="tx1"/>
                </a:solidFill>
              </a:rPr>
              <a:t>indented</a:t>
            </a:r>
            <a:r>
              <a:rPr lang="nl-BE" dirty="0">
                <a:solidFill>
                  <a:schemeClr val="tx1"/>
                </a:solidFill>
              </a:rPr>
              <a:t>; </a:t>
            </a:r>
            <a:r>
              <a:rPr lang="nl-BE" dirty="0" err="1">
                <a:solidFill>
                  <a:schemeClr val="tx1"/>
                </a:solidFill>
              </a:rPr>
              <a:t>use</a:t>
            </a:r>
            <a:r>
              <a:rPr lang="nl-BE" dirty="0">
                <a:solidFill>
                  <a:schemeClr val="tx1"/>
                </a:solidFill>
              </a:rPr>
              <a:t> &lt;TAB&gt;</a:t>
            </a:r>
          </a:p>
        </p:txBody>
      </p:sp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9C6E23AB-DFE1-4344-89D2-2836A89F7117}"/>
              </a:ext>
            </a:extLst>
          </p:cNvPr>
          <p:cNvSpPr/>
          <p:nvPr/>
        </p:nvSpPr>
        <p:spPr>
          <a:xfrm>
            <a:off x="3097249" y="2335282"/>
            <a:ext cx="1512168" cy="504056"/>
          </a:xfrm>
          <a:prstGeom prst="wedgeRoundRectCallout">
            <a:avLst>
              <a:gd name="adj1" fmla="val -47708"/>
              <a:gd name="adj2" fmla="val 100981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 err="1">
                <a:solidFill>
                  <a:schemeClr val="tx1"/>
                </a:solidFill>
              </a:rPr>
              <a:t>lowercase</a:t>
            </a:r>
            <a:endParaRPr lang="nl-BE" dirty="0">
              <a:solidFill>
                <a:schemeClr val="tx1"/>
              </a:solidFill>
            </a:endParaRPr>
          </a:p>
        </p:txBody>
      </p:sp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1C73922D-A75C-4A2A-92E8-748C1497E502}"/>
              </a:ext>
            </a:extLst>
          </p:cNvPr>
          <p:cNvSpPr/>
          <p:nvPr/>
        </p:nvSpPr>
        <p:spPr>
          <a:xfrm>
            <a:off x="179512" y="3853010"/>
            <a:ext cx="2232248" cy="1080120"/>
          </a:xfrm>
          <a:prstGeom prst="wedgeRoundRectCallout">
            <a:avLst>
              <a:gd name="adj1" fmla="val 74689"/>
              <a:gd name="adj2" fmla="val -60372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 err="1">
                <a:solidFill>
                  <a:schemeClr val="tx1"/>
                </a:solidFill>
              </a:rPr>
              <a:t>if</a:t>
            </a:r>
            <a:r>
              <a:rPr lang="nl-BE" dirty="0">
                <a:solidFill>
                  <a:schemeClr val="tx1"/>
                </a:solidFill>
              </a:rPr>
              <a:t>, </a:t>
            </a:r>
            <a:r>
              <a:rPr lang="nl-BE" dirty="0" err="1">
                <a:solidFill>
                  <a:schemeClr val="tx1"/>
                </a:solidFill>
              </a:rPr>
              <a:t>elif</a:t>
            </a:r>
            <a:r>
              <a:rPr lang="nl-BE" dirty="0">
                <a:solidFill>
                  <a:schemeClr val="tx1"/>
                </a:solidFill>
              </a:rPr>
              <a:t>, or </a:t>
            </a:r>
            <a:r>
              <a:rPr lang="nl-BE" dirty="0" err="1">
                <a:solidFill>
                  <a:schemeClr val="tx1"/>
                </a:solidFill>
              </a:rPr>
              <a:t>else</a:t>
            </a:r>
            <a:r>
              <a:rPr lang="nl-BE" dirty="0">
                <a:solidFill>
                  <a:schemeClr val="tx1"/>
                </a:solidFill>
              </a:rPr>
              <a:t> </a:t>
            </a:r>
            <a:r>
              <a:rPr lang="nl-BE" dirty="0" err="1">
                <a:solidFill>
                  <a:schemeClr val="tx1"/>
                </a:solidFill>
              </a:rPr>
              <a:t>done</a:t>
            </a:r>
            <a:r>
              <a:rPr lang="nl-BE" dirty="0">
                <a:solidFill>
                  <a:schemeClr val="tx1"/>
                </a:solidFill>
              </a:rPr>
              <a:t>? </a:t>
            </a:r>
            <a:r>
              <a:rPr lang="nl-BE" dirty="0" err="1">
                <a:solidFill>
                  <a:schemeClr val="tx1"/>
                </a:solidFill>
              </a:rPr>
              <a:t>unindent</a:t>
            </a:r>
            <a:r>
              <a:rPr lang="nl-BE" dirty="0">
                <a:solidFill>
                  <a:schemeClr val="tx1"/>
                </a:solidFill>
              </a:rPr>
              <a:t> (</a:t>
            </a:r>
            <a:r>
              <a:rPr lang="nl-BE" dirty="0" err="1">
                <a:solidFill>
                  <a:schemeClr val="tx1"/>
                </a:solidFill>
              </a:rPr>
              <a:t>use</a:t>
            </a:r>
            <a:r>
              <a:rPr lang="nl-BE" dirty="0">
                <a:solidFill>
                  <a:schemeClr val="tx1"/>
                </a:solidFill>
              </a:rPr>
              <a:t> &lt;Backspace&gt;)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119F351-701A-4A30-98E5-227266719A2D}"/>
              </a:ext>
            </a:extLst>
          </p:cNvPr>
          <p:cNvSpPr/>
          <p:nvPr/>
        </p:nvSpPr>
        <p:spPr>
          <a:xfrm>
            <a:off x="5078882" y="3576395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21358EE-CE8F-4D66-ACCC-69C3F9637390}"/>
              </a:ext>
            </a:extLst>
          </p:cNvPr>
          <p:cNvSpPr/>
          <p:nvPr/>
        </p:nvSpPr>
        <p:spPr>
          <a:xfrm>
            <a:off x="3529297" y="4043445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mc:AlternateContent xmlns:mc="http://schemas.openxmlformats.org/markup-compatibility/2006" xmlns:p14="http://schemas.microsoft.com/office/powerpoint/2010/main" xmlns:iact="http://schemas.microsoft.com/office/powerpoint/2014/inkAction">
        <mc:Choice Requires="p14 iact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C082536-A8B0-404F-A468-75917C7AB4B7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3054600" y="3754800"/>
              <a:ext cx="567720" cy="570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C082536-A8B0-404F-A468-75917C7AB4B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45240" y="3745440"/>
                <a:ext cx="586440" cy="58932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031217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278"/>
    </mc:Choice>
    <mc:Fallback xmlns="">
      <p:transition spd="slow" advTm="4827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0DD96-E10C-42CA-8822-3A063BED0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Assignment</a:t>
            </a:r>
            <a:r>
              <a:rPr lang="nl-BE" dirty="0"/>
              <a:t> #3	a			q3a.py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839E4-9D66-45EE-8EC9-ED765E3D6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196752"/>
            <a:ext cx="8064896" cy="4895850"/>
          </a:xfrm>
        </p:spPr>
        <p:txBody>
          <a:bodyPr/>
          <a:lstStyle/>
          <a:p>
            <a:r>
              <a:rPr lang="nl-BE" dirty="0" err="1"/>
              <a:t>Solve</a:t>
            </a:r>
            <a:r>
              <a:rPr lang="nl-BE" dirty="0"/>
              <a:t> </a:t>
            </a:r>
            <a:r>
              <a:rPr lang="nl-BE" dirty="0" err="1"/>
              <a:t>maze</a:t>
            </a:r>
            <a:r>
              <a:rPr lang="nl-BE" dirty="0"/>
              <a:t> </a:t>
            </a:r>
            <a:r>
              <a:rPr lang="nl-BE" dirty="0" err="1"/>
              <a:t>number</a:t>
            </a:r>
            <a:r>
              <a:rPr lang="nl-BE" dirty="0"/>
              <a:t> 3a:</a:t>
            </a:r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7F5414-FFE4-4E4A-8480-5FDC41420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45</a:t>
            </a:fld>
            <a:endParaRPr lang="nl-NL"/>
          </a:p>
        </p:txBody>
      </p:sp>
      <p:pic>
        <p:nvPicPr>
          <p:cNvPr id="12" name="Picture 11" descr="A close up of text on a white surface&#10;&#10;Description automatically generated">
            <a:extLst>
              <a:ext uri="{FF2B5EF4-FFF2-40B4-BE49-F238E27FC236}">
                <a16:creationId xmlns:a16="http://schemas.microsoft.com/office/drawing/2014/main" id="{643EFC57-EF7B-4FAA-A0DF-352AF4192C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1700808"/>
            <a:ext cx="5357854" cy="4689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573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61380"/>
    </mc:Choice>
    <mc:Fallback xmlns="">
      <p:transition spd="slow" advTm="1861380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EEAF8-DEAC-4878-B478-ED71450E1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Solution #3a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C51B70-7832-4979-A1C8-B492A95784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636912"/>
            <a:ext cx="3128246" cy="172819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A46BD-D5A6-41C7-B959-B3D1F94CC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46</a:t>
            </a:fld>
            <a:endParaRPr lang="nl-NL"/>
          </a:p>
        </p:txBody>
      </p:sp>
      <p:pic>
        <p:nvPicPr>
          <p:cNvPr id="6" name="Picture 5" descr="A close up of text on a white surface&#10;&#10;Description automatically generated">
            <a:extLst>
              <a:ext uri="{FF2B5EF4-FFF2-40B4-BE49-F238E27FC236}">
                <a16:creationId xmlns:a16="http://schemas.microsoft.com/office/drawing/2014/main" id="{20DB1D49-B475-4ED4-BC25-743CD81548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912" y="1412776"/>
            <a:ext cx="4617420" cy="4041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086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3332"/>
    </mc:Choice>
    <mc:Fallback xmlns="">
      <p:transition spd="slow" advTm="103332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0DD96-E10C-42CA-8822-3A063BED0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Assignment</a:t>
            </a:r>
            <a:r>
              <a:rPr lang="nl-BE" dirty="0"/>
              <a:t> #3	b			q3b.py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839E4-9D66-45EE-8EC9-ED765E3D6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196752"/>
            <a:ext cx="3888432" cy="4895850"/>
          </a:xfrm>
        </p:spPr>
        <p:txBody>
          <a:bodyPr/>
          <a:lstStyle/>
          <a:p>
            <a:r>
              <a:rPr lang="nl-BE" dirty="0" err="1"/>
              <a:t>Solve</a:t>
            </a:r>
            <a:r>
              <a:rPr lang="nl-BE" dirty="0"/>
              <a:t> </a:t>
            </a:r>
            <a:r>
              <a:rPr lang="nl-BE" dirty="0" err="1"/>
              <a:t>maze</a:t>
            </a:r>
            <a:r>
              <a:rPr lang="nl-BE" dirty="0"/>
              <a:t> </a:t>
            </a:r>
            <a:r>
              <a:rPr lang="nl-BE" dirty="0" err="1"/>
              <a:t>number</a:t>
            </a:r>
            <a:r>
              <a:rPr lang="nl-BE" dirty="0"/>
              <a:t> 3b:</a:t>
            </a:r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7F5414-FFE4-4E4A-8480-5FDC41420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47</a:t>
            </a:fld>
            <a:endParaRPr lang="nl-NL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DB7F723-3BB0-C128-3B0C-8319A090427D}"/>
              </a:ext>
            </a:extLst>
          </p:cNvPr>
          <p:cNvSpPr txBox="1">
            <a:spLocks/>
          </p:cNvSpPr>
          <p:nvPr/>
        </p:nvSpPr>
        <p:spPr>
          <a:xfrm>
            <a:off x="3635896" y="2096505"/>
            <a:ext cx="5400600" cy="3096344"/>
          </a:xfrm>
          <a:prstGeom prst="rect">
            <a:avLst/>
          </a:prstGeom>
        </p:spPr>
        <p:txBody>
          <a:bodyPr vert="horz" lIns="0" tIns="36000" rIns="0" bIns="3600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2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400" rtl="0" eaLnBrk="1" latinLnBrk="0" hangingPunct="1">
              <a:spcBef>
                <a:spcPct val="20000"/>
              </a:spcBef>
              <a:buSzPct val="85000"/>
              <a:buFont typeface="Wingdings" panose="05000000000000000000" pitchFamily="2" charset="2"/>
              <a:buChar char="§"/>
              <a:defRPr sz="2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76000" indent="-216000" algn="l" defTabSz="914400" rtl="0" eaLnBrk="1" latinLnBrk="0" hangingPunct="1">
              <a:spcBef>
                <a:spcPct val="20000"/>
              </a:spcBef>
              <a:buSzPct val="85000"/>
              <a:buFont typeface="Wingdings" panose="05000000000000000000" pitchFamily="2" charset="2"/>
              <a:buChar char="§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36000" indent="-216000" algn="l" defTabSz="914400" rtl="0" eaLnBrk="1" latinLnBrk="0" hangingPunct="1">
              <a:spcBef>
                <a:spcPct val="20000"/>
              </a:spcBef>
              <a:buSzPct val="85000"/>
              <a:buFont typeface="Wingdings" panose="05000000000000000000" pitchFamily="2" charset="2"/>
              <a:buChar char="§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296000" indent="-216000" algn="l" defTabSz="914400" rtl="0" eaLnBrk="1" latinLnBrk="0" hangingPunct="1">
              <a:spcBef>
                <a:spcPct val="20000"/>
              </a:spcBef>
              <a:buSzPct val="85000"/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BE" dirty="0"/>
              <a:t>Hint:</a:t>
            </a:r>
          </a:p>
          <a:p>
            <a:r>
              <a:rPr lang="nl-BE" dirty="0"/>
              <a:t>   </a:t>
            </a:r>
            <a:r>
              <a:rPr lang="nl-BE" dirty="0" err="1"/>
              <a:t>Conditions</a:t>
            </a:r>
            <a:r>
              <a:rPr lang="nl-BE" dirty="0"/>
              <a:t> </a:t>
            </a:r>
            <a:r>
              <a:rPr lang="nl-BE" dirty="0" err="1"/>
              <a:t>can</a:t>
            </a:r>
            <a:r>
              <a:rPr lang="nl-BE" dirty="0"/>
              <a:t> </a:t>
            </a:r>
            <a:r>
              <a:rPr lang="nl-BE" dirty="0" err="1"/>
              <a:t>be</a:t>
            </a:r>
            <a:r>
              <a:rPr lang="nl-BE" dirty="0"/>
              <a:t>   </a:t>
            </a:r>
            <a:br>
              <a:rPr lang="nl-BE" dirty="0"/>
            </a:br>
            <a:r>
              <a:rPr lang="nl-BE" dirty="0"/>
              <a:t>   </a:t>
            </a:r>
            <a:r>
              <a:rPr lang="nl-BE" dirty="0" err="1"/>
              <a:t>combined</a:t>
            </a:r>
            <a:r>
              <a:rPr lang="nl-BE" dirty="0"/>
              <a:t> </a:t>
            </a:r>
            <a:r>
              <a:rPr lang="nl-BE" dirty="0" err="1"/>
              <a:t>with</a:t>
            </a:r>
            <a:r>
              <a:rPr lang="nl-BE" dirty="0"/>
              <a:t> </a:t>
            </a:r>
            <a:r>
              <a:rPr lang="nl-BE" dirty="0" err="1"/>
              <a:t>and</a:t>
            </a:r>
            <a:r>
              <a:rPr lang="nl-BE" dirty="0"/>
              <a:t>, or, </a:t>
            </a:r>
            <a:r>
              <a:rPr lang="nl-BE" dirty="0" err="1"/>
              <a:t>not</a:t>
            </a:r>
            <a:endParaRPr lang="nl-BE" dirty="0"/>
          </a:p>
          <a:p>
            <a:endParaRPr lang="nl-BE" dirty="0"/>
          </a:p>
          <a:p>
            <a:r>
              <a:rPr lang="nl-BE" dirty="0" err="1"/>
              <a:t>while</a:t>
            </a:r>
            <a:r>
              <a:rPr lang="nl-BE" dirty="0"/>
              <a:t> </a:t>
            </a:r>
            <a:r>
              <a:rPr lang="nl-BE" dirty="0" err="1"/>
              <a:t>not</a:t>
            </a:r>
            <a:r>
              <a:rPr lang="nl-BE" dirty="0"/>
              <a:t> </a:t>
            </a:r>
            <a:r>
              <a:rPr lang="nl-BE" dirty="0" err="1"/>
              <a:t>freeRight</a:t>
            </a:r>
            <a:r>
              <a:rPr lang="nl-BE" dirty="0"/>
              <a:t>() </a:t>
            </a:r>
            <a:r>
              <a:rPr lang="nl-BE" dirty="0" err="1"/>
              <a:t>and</a:t>
            </a:r>
            <a:r>
              <a:rPr lang="nl-BE" dirty="0"/>
              <a:t> </a:t>
            </a:r>
            <a:r>
              <a:rPr lang="nl-BE" dirty="0" err="1"/>
              <a:t>not</a:t>
            </a:r>
            <a:r>
              <a:rPr lang="nl-BE" dirty="0"/>
              <a:t> </a:t>
            </a:r>
            <a:r>
              <a:rPr lang="nl-BE" dirty="0" err="1"/>
              <a:t>freeLeft</a:t>
            </a:r>
            <a:r>
              <a:rPr lang="nl-BE" dirty="0"/>
              <a:t>():</a:t>
            </a:r>
          </a:p>
          <a:p>
            <a:r>
              <a:rPr lang="nl-BE" dirty="0"/>
              <a:t>     … </a:t>
            </a:r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F44647-53DC-8889-8624-E11320336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435" y="1795590"/>
            <a:ext cx="3054179" cy="3880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322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61380"/>
    </mc:Choice>
    <mc:Fallback xmlns="">
      <p:transition spd="slow" advTm="1861380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27BFE-C5FE-BDF4-70B1-C81A8F8A5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68760"/>
            <a:ext cx="8064896" cy="3888432"/>
          </a:xfrm>
        </p:spPr>
        <p:txBody>
          <a:bodyPr>
            <a:noAutofit/>
          </a:bodyPr>
          <a:lstStyle/>
          <a:p>
            <a:pPr algn="ctr"/>
            <a:r>
              <a:rPr lang="nl-BE" sz="4800" dirty="0"/>
              <a:t>The next slides are extra </a:t>
            </a:r>
            <a:r>
              <a:rPr lang="nl-BE" sz="4800" dirty="0" err="1"/>
              <a:t>for</a:t>
            </a:r>
            <a:r>
              <a:rPr lang="nl-BE" sz="4800" dirty="0"/>
              <a:t> </a:t>
            </a:r>
            <a:r>
              <a:rPr lang="nl-BE" sz="4800" dirty="0" err="1"/>
              <a:t>those</a:t>
            </a:r>
            <a:r>
              <a:rPr lang="nl-BE" sz="4800" dirty="0"/>
              <a:t> </a:t>
            </a:r>
            <a:r>
              <a:rPr lang="nl-BE" sz="4800" dirty="0" err="1"/>
              <a:t>interested</a:t>
            </a:r>
            <a:r>
              <a:rPr lang="nl-BE" sz="4800" dirty="0"/>
              <a:t> in a </a:t>
            </a:r>
            <a:r>
              <a:rPr lang="nl-BE" sz="4800" dirty="0" err="1"/>
              <a:t>generic</a:t>
            </a:r>
            <a:r>
              <a:rPr lang="nl-BE" sz="4800" dirty="0"/>
              <a:t> solution </a:t>
            </a:r>
            <a:r>
              <a:rPr lang="nl-BE" sz="4800" dirty="0" err="1"/>
              <a:t>for</a:t>
            </a:r>
            <a:r>
              <a:rPr lang="nl-BE" sz="4800" dirty="0"/>
              <a:t> </a:t>
            </a:r>
            <a:r>
              <a:rPr lang="nl-BE" sz="4800" dirty="0" err="1"/>
              <a:t>any</a:t>
            </a:r>
            <a:r>
              <a:rPr lang="nl-BE" sz="4800" dirty="0"/>
              <a:t> </a:t>
            </a:r>
            <a:r>
              <a:rPr lang="nl-BE" sz="4800" dirty="0" err="1"/>
              <a:t>maze</a:t>
            </a:r>
            <a:r>
              <a:rPr lang="nl-BE" sz="4800" dirty="0"/>
              <a:t>*</a:t>
            </a:r>
            <a:br>
              <a:rPr lang="nl-BE" sz="4800" dirty="0"/>
            </a:br>
            <a:r>
              <a:rPr lang="nl-BE" sz="4800" dirty="0"/>
              <a:t> </a:t>
            </a:r>
            <a:br>
              <a:rPr lang="nl-BE" sz="4800" dirty="0"/>
            </a:br>
            <a:r>
              <a:rPr lang="nl-BE" sz="2400" dirty="0"/>
              <a:t>* </a:t>
            </a:r>
            <a:r>
              <a:rPr lang="nl-BE" sz="2400" dirty="0" err="1"/>
              <a:t>with</a:t>
            </a:r>
            <a:r>
              <a:rPr lang="nl-BE" sz="2400" dirty="0"/>
              <a:t> </a:t>
            </a:r>
            <a:r>
              <a:rPr lang="nl-BE" sz="2400" dirty="0" err="1"/>
              <a:t>entrance</a:t>
            </a:r>
            <a:r>
              <a:rPr lang="nl-BE" sz="2400" dirty="0"/>
              <a:t> </a:t>
            </a:r>
            <a:r>
              <a:rPr lang="nl-BE" sz="2400" dirty="0" err="1"/>
              <a:t>and</a:t>
            </a:r>
            <a:r>
              <a:rPr lang="nl-BE" sz="2400" dirty="0"/>
              <a:t> exit at </a:t>
            </a:r>
            <a:r>
              <a:rPr lang="nl-BE" sz="2400" dirty="0" err="1"/>
              <a:t>the</a:t>
            </a:r>
            <a:r>
              <a:rPr lang="nl-BE" sz="2400" dirty="0"/>
              <a:t> </a:t>
            </a:r>
            <a:r>
              <a:rPr lang="nl-BE" sz="2400" dirty="0" err="1"/>
              <a:t>exterior</a:t>
            </a:r>
            <a:r>
              <a:rPr lang="nl-BE" sz="2400" dirty="0"/>
              <a:t> </a:t>
            </a:r>
            <a:r>
              <a:rPr lang="nl-BE" sz="2400" dirty="0" err="1"/>
              <a:t>wall</a:t>
            </a:r>
            <a:endParaRPr lang="LID4096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E7C5E-BE23-31F8-F7E8-65CF50BF7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48</a:t>
            </a:fld>
            <a:endParaRPr lang="nl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580F7A-3BCE-23F9-3815-15DC9062E78D}"/>
              </a:ext>
            </a:extLst>
          </p:cNvPr>
          <p:cNvSpPr txBox="1"/>
          <p:nvPr/>
        </p:nvSpPr>
        <p:spPr>
          <a:xfrm>
            <a:off x="395536" y="5805264"/>
            <a:ext cx="1813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 err="1">
                <a:hlinkClick r:id="rId2" action="ppaction://hlinksldjump"/>
              </a:rPr>
              <a:t>To</a:t>
            </a:r>
            <a:r>
              <a:rPr lang="nl-BE" dirty="0">
                <a:hlinkClick r:id="rId2" action="ppaction://hlinksldjump"/>
              </a:rPr>
              <a:t> summary slide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3224599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F1B0B-420B-49D4-8D91-812B9DBDA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Righthand </a:t>
            </a:r>
            <a:r>
              <a:rPr lang="nl-BE" dirty="0" err="1"/>
              <a:t>rule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1F192-4B43-42E1-B099-3AD053911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196752"/>
            <a:ext cx="4680520" cy="4895850"/>
          </a:xfrm>
        </p:spPr>
        <p:txBody>
          <a:bodyPr/>
          <a:lstStyle/>
          <a:p>
            <a:r>
              <a:rPr lang="nl-BE" dirty="0" err="1"/>
              <a:t>If</a:t>
            </a:r>
            <a:r>
              <a:rPr lang="nl-BE" dirty="0"/>
              <a:t> start and end </a:t>
            </a:r>
            <a:r>
              <a:rPr lang="nl-BE" dirty="0" err="1"/>
              <a:t>positions</a:t>
            </a:r>
            <a:r>
              <a:rPr lang="nl-BE" dirty="0"/>
              <a:t> in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maze</a:t>
            </a:r>
            <a:r>
              <a:rPr lang="nl-BE" dirty="0"/>
              <a:t> are </a:t>
            </a:r>
            <a:r>
              <a:rPr lang="nl-BE" dirty="0" err="1"/>
              <a:t>both</a:t>
            </a:r>
            <a:r>
              <a:rPr lang="nl-BE" dirty="0"/>
              <a:t> </a:t>
            </a:r>
            <a:r>
              <a:rPr lang="nl-BE" dirty="0">
                <a:solidFill>
                  <a:schemeClr val="accent2"/>
                </a:solidFill>
              </a:rPr>
              <a:t>next </a:t>
            </a:r>
            <a:r>
              <a:rPr lang="nl-BE" dirty="0" err="1">
                <a:solidFill>
                  <a:schemeClr val="accent2"/>
                </a:solidFill>
              </a:rPr>
              <a:t>to</a:t>
            </a:r>
            <a:r>
              <a:rPr lang="nl-BE" dirty="0">
                <a:solidFill>
                  <a:schemeClr val="accent2"/>
                </a:solidFill>
              </a:rPr>
              <a:t> </a:t>
            </a:r>
            <a:r>
              <a:rPr lang="nl-BE" dirty="0" err="1">
                <a:solidFill>
                  <a:schemeClr val="accent2"/>
                </a:solidFill>
              </a:rPr>
              <a:t>the</a:t>
            </a:r>
            <a:r>
              <a:rPr lang="nl-BE" dirty="0">
                <a:solidFill>
                  <a:schemeClr val="accent2"/>
                </a:solidFill>
              </a:rPr>
              <a:t> </a:t>
            </a:r>
            <a:r>
              <a:rPr lang="nl-BE" dirty="0" err="1">
                <a:solidFill>
                  <a:schemeClr val="accent2"/>
                </a:solidFill>
              </a:rPr>
              <a:t>exterior</a:t>
            </a:r>
            <a:r>
              <a:rPr lang="nl-BE" dirty="0">
                <a:solidFill>
                  <a:schemeClr val="accent2"/>
                </a:solidFill>
              </a:rPr>
              <a:t> </a:t>
            </a:r>
            <a:r>
              <a:rPr lang="nl-BE" dirty="0" err="1">
                <a:solidFill>
                  <a:schemeClr val="accent2"/>
                </a:solidFill>
              </a:rPr>
              <a:t>wall</a:t>
            </a:r>
            <a:r>
              <a:rPr lang="nl-BE" dirty="0"/>
              <a:t>,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following</a:t>
            </a:r>
            <a:r>
              <a:rPr lang="nl-BE" dirty="0"/>
              <a:t> </a:t>
            </a:r>
            <a:r>
              <a:rPr lang="nl-BE" dirty="0" err="1"/>
              <a:t>algorithm</a:t>
            </a:r>
            <a:r>
              <a:rPr lang="nl-BE" dirty="0"/>
              <a:t> </a:t>
            </a:r>
            <a:r>
              <a:rPr lang="nl-BE" dirty="0" err="1"/>
              <a:t>always</a:t>
            </a:r>
            <a:r>
              <a:rPr lang="nl-BE" dirty="0"/>
              <a:t> </a:t>
            </a:r>
            <a:r>
              <a:rPr lang="nl-BE" dirty="0" err="1"/>
              <a:t>finds</a:t>
            </a:r>
            <a:r>
              <a:rPr lang="nl-BE" dirty="0"/>
              <a:t> a </a:t>
            </a:r>
            <a:r>
              <a:rPr lang="nl-BE" dirty="0" err="1"/>
              <a:t>path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target </a:t>
            </a:r>
            <a:r>
              <a:rPr lang="nl-BE" dirty="0" err="1"/>
              <a:t>position</a:t>
            </a:r>
            <a:r>
              <a:rPr lang="nl-BE" dirty="0"/>
              <a:t>:</a:t>
            </a:r>
          </a:p>
          <a:p>
            <a:endParaRPr lang="nl-BE" dirty="0"/>
          </a:p>
          <a:p>
            <a:r>
              <a:rPr lang="nl-BE" b="1" dirty="0"/>
              <a:t>Always follow </a:t>
            </a:r>
            <a:r>
              <a:rPr lang="nl-BE" b="1" dirty="0" err="1"/>
              <a:t>the</a:t>
            </a:r>
            <a:r>
              <a:rPr lang="nl-BE" b="1" dirty="0"/>
              <a:t> rightmost </a:t>
            </a:r>
            <a:r>
              <a:rPr lang="nl-BE" b="1" dirty="0" err="1"/>
              <a:t>path</a:t>
            </a:r>
            <a:endParaRPr lang="nl-BE" b="1" dirty="0"/>
          </a:p>
          <a:p>
            <a:r>
              <a:rPr lang="nl-BE" dirty="0"/>
              <a:t>(Make </a:t>
            </a:r>
            <a:r>
              <a:rPr lang="nl-BE" dirty="0" err="1"/>
              <a:t>sure</a:t>
            </a:r>
            <a:r>
              <a:rPr lang="nl-BE" dirty="0"/>
              <a:t> </a:t>
            </a:r>
            <a:r>
              <a:rPr lang="nl-BE" dirty="0" err="1"/>
              <a:t>your</a:t>
            </a:r>
            <a:r>
              <a:rPr lang="nl-BE" dirty="0"/>
              <a:t> right hand </a:t>
            </a:r>
            <a:r>
              <a:rPr lang="nl-BE" dirty="0" err="1"/>
              <a:t>always</a:t>
            </a:r>
            <a:r>
              <a:rPr lang="nl-BE" dirty="0"/>
              <a:t> touches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wall</a:t>
            </a:r>
            <a:r>
              <a:rPr lang="nl-BE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CBBA5F-DE30-4265-A0D7-520492830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49</a:t>
            </a:fld>
            <a:endParaRPr lang="nl-NL"/>
          </a:p>
        </p:txBody>
      </p:sp>
      <p:pic>
        <p:nvPicPr>
          <p:cNvPr id="2050" name="Picture 2" descr="Afbeeldingsresultaat voor spiegelpaleis">
            <a:extLst>
              <a:ext uri="{FF2B5EF4-FFF2-40B4-BE49-F238E27FC236}">
                <a16:creationId xmlns:a16="http://schemas.microsoft.com/office/drawing/2014/main" id="{3C332A69-68AD-4067-B393-CD91D39A8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332656"/>
            <a:ext cx="3432381" cy="2574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fbeeldingsresultaat voor doolhof">
            <a:extLst>
              <a:ext uri="{FF2B5EF4-FFF2-40B4-BE49-F238E27FC236}">
                <a16:creationId xmlns:a16="http://schemas.microsoft.com/office/drawing/2014/main" id="{54BFC312-EA5A-4936-B5A2-34D7A08FD6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2232248"/>
            <a:ext cx="3033721" cy="2276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Afbeeldingsresultaat voor doolhof">
            <a:extLst>
              <a:ext uri="{FF2B5EF4-FFF2-40B4-BE49-F238E27FC236}">
                <a16:creationId xmlns:a16="http://schemas.microsoft.com/office/drawing/2014/main" id="{C438BC85-F567-4F8E-BEAF-B52B34A173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785" y="4293096"/>
            <a:ext cx="2602699" cy="172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2499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750"/>
    </mc:Choice>
    <mc:Fallback xmlns="">
      <p:transition spd="slow" advTm="27750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4A9040A-0044-4277-B724-9EEB8FACF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350" y="4193470"/>
            <a:ext cx="360040" cy="3657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CC1E990-8B94-461E-9838-DB64CE466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Righthand </a:t>
            </a:r>
            <a:r>
              <a:rPr lang="nl-BE" dirty="0" err="1"/>
              <a:t>rule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8C587-8215-4E32-B109-D6896349B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i="1" dirty="0"/>
              <a:t>Follow </a:t>
            </a:r>
            <a:r>
              <a:rPr lang="nl-BE" i="1" dirty="0" err="1"/>
              <a:t>the</a:t>
            </a:r>
            <a:r>
              <a:rPr lang="nl-BE" i="1" dirty="0"/>
              <a:t> rightmost </a:t>
            </a:r>
            <a:r>
              <a:rPr lang="nl-BE" i="1" dirty="0" err="1"/>
              <a:t>path</a:t>
            </a:r>
            <a:endParaRPr lang="nl-BE" i="1" dirty="0"/>
          </a:p>
          <a:p>
            <a:endParaRPr lang="nl-BE" i="1" dirty="0"/>
          </a:p>
          <a:p>
            <a:r>
              <a:rPr lang="nl-BE" dirty="0" err="1"/>
              <a:t>Where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go next in </a:t>
            </a:r>
            <a:r>
              <a:rPr lang="nl-BE" dirty="0" err="1"/>
              <a:t>this</a:t>
            </a:r>
            <a:r>
              <a:rPr lang="nl-BE" dirty="0"/>
              <a:t> </a:t>
            </a:r>
            <a:r>
              <a:rPr lang="nl-BE" dirty="0" err="1"/>
              <a:t>example</a:t>
            </a:r>
            <a:r>
              <a:rPr lang="nl-BE"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E28B6-A941-45FA-BC2A-6BB14D035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50</a:t>
            </a:fld>
            <a:endParaRPr lang="nl-NL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8642E76-31D2-4BDC-AEE2-214A497E894D}"/>
              </a:ext>
            </a:extLst>
          </p:cNvPr>
          <p:cNvGraphicFramePr>
            <a:graphicFrameLocks noGrp="1"/>
          </p:cNvGraphicFramePr>
          <p:nvPr/>
        </p:nvGraphicFramePr>
        <p:xfrm>
          <a:off x="2123728" y="3789040"/>
          <a:ext cx="1296144" cy="1224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149939296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386275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298701834"/>
                    </a:ext>
                  </a:extLst>
                </a:gridCol>
              </a:tblGrid>
              <a:tr h="408045">
                <a:tc>
                  <a:txBody>
                    <a:bodyPr/>
                    <a:lstStyle/>
                    <a:p>
                      <a:endParaRPr lang="nl-BE" dirty="0">
                        <a:highlight>
                          <a:srgbClr val="000000"/>
                        </a:highlight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6701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8709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567704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21EEB87C-05AA-447F-806D-79ADC9025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303049" y="2778071"/>
            <a:ext cx="360040" cy="365754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A54E314-8721-422C-B500-932FA2FACB9D}"/>
              </a:ext>
            </a:extLst>
          </p:cNvPr>
          <p:cNvGraphicFramePr>
            <a:graphicFrameLocks noGrp="1"/>
          </p:cNvGraphicFramePr>
          <p:nvPr/>
        </p:nvGraphicFramePr>
        <p:xfrm>
          <a:off x="5868144" y="2717305"/>
          <a:ext cx="1296144" cy="1224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149939296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386275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298701834"/>
                    </a:ext>
                  </a:extLst>
                </a:gridCol>
              </a:tblGrid>
              <a:tr h="408045">
                <a:tc>
                  <a:txBody>
                    <a:bodyPr/>
                    <a:lstStyle/>
                    <a:p>
                      <a:endParaRPr lang="nl-BE" dirty="0">
                        <a:highlight>
                          <a:srgbClr val="000000"/>
                        </a:highlight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6701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8709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567704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975867FD-5A71-435E-845C-509C919B0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6349522" y="5702781"/>
            <a:ext cx="360040" cy="365754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BA4AD74-DA31-46A1-8520-E8B112F55A8A}"/>
              </a:ext>
            </a:extLst>
          </p:cNvPr>
          <p:cNvGraphicFramePr>
            <a:graphicFrameLocks noGrp="1"/>
          </p:cNvGraphicFramePr>
          <p:nvPr/>
        </p:nvGraphicFramePr>
        <p:xfrm>
          <a:off x="5868144" y="4869161"/>
          <a:ext cx="1296144" cy="1224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149939296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386275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298701834"/>
                    </a:ext>
                  </a:extLst>
                </a:gridCol>
              </a:tblGrid>
              <a:tr h="408045">
                <a:tc>
                  <a:txBody>
                    <a:bodyPr/>
                    <a:lstStyle/>
                    <a:p>
                      <a:endParaRPr lang="nl-BE" dirty="0">
                        <a:highlight>
                          <a:srgbClr val="000000"/>
                        </a:highlight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6701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8709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567704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489E204C-56DB-4B7A-A303-21DBD71349F6}"/>
              </a:ext>
            </a:extLst>
          </p:cNvPr>
          <p:cNvSpPr txBox="1"/>
          <p:nvPr/>
        </p:nvSpPr>
        <p:spPr>
          <a:xfrm>
            <a:off x="5292080" y="3118157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/>
              <a:t>(a)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3226E1-29D2-47B5-A852-7AB3C44F312C}"/>
              </a:ext>
            </a:extLst>
          </p:cNvPr>
          <p:cNvSpPr txBox="1"/>
          <p:nvPr/>
        </p:nvSpPr>
        <p:spPr>
          <a:xfrm>
            <a:off x="5292080" y="5290401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/>
              <a:t>(b)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6F6616E-1877-4B67-B846-1016BCB5F880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3635896" y="3302823"/>
            <a:ext cx="1656184" cy="1091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F2EDD54-42C7-4570-9F24-1CD9B1EB6C1D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3635896" y="4559224"/>
            <a:ext cx="1656184" cy="9158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23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6890"/>
    </mc:Choice>
    <mc:Fallback xmlns="">
      <p:transition spd="slow" advTm="626890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4A9040A-0044-4277-B724-9EEB8FACF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350" y="4193470"/>
            <a:ext cx="360040" cy="3657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CC1E990-8B94-461E-9838-DB64CE466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Righthand </a:t>
            </a:r>
            <a:r>
              <a:rPr lang="nl-BE" dirty="0" err="1"/>
              <a:t>rule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8C587-8215-4E32-B109-D6896349B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i="1" dirty="0"/>
              <a:t>Follow </a:t>
            </a:r>
            <a:r>
              <a:rPr lang="nl-BE" i="1" dirty="0" err="1"/>
              <a:t>the</a:t>
            </a:r>
            <a:r>
              <a:rPr lang="nl-BE" i="1" dirty="0"/>
              <a:t> rightmost </a:t>
            </a:r>
            <a:r>
              <a:rPr lang="nl-BE" i="1" dirty="0" err="1"/>
              <a:t>path</a:t>
            </a:r>
            <a:endParaRPr lang="nl-BE" i="1" dirty="0"/>
          </a:p>
          <a:p>
            <a:endParaRPr lang="nl-BE" i="1" dirty="0"/>
          </a:p>
          <a:p>
            <a:r>
              <a:rPr lang="nl-BE" dirty="0" err="1"/>
              <a:t>Where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go next in </a:t>
            </a:r>
            <a:r>
              <a:rPr lang="nl-BE" dirty="0" err="1"/>
              <a:t>this</a:t>
            </a:r>
            <a:r>
              <a:rPr lang="nl-BE" dirty="0"/>
              <a:t> </a:t>
            </a:r>
            <a:r>
              <a:rPr lang="nl-BE" dirty="0" err="1"/>
              <a:t>example</a:t>
            </a:r>
            <a:r>
              <a:rPr lang="nl-BE"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E28B6-A941-45FA-BC2A-6BB14D035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51</a:t>
            </a:fld>
            <a:endParaRPr lang="nl-NL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8642E76-31D2-4BDC-AEE2-214A497E894D}"/>
              </a:ext>
            </a:extLst>
          </p:cNvPr>
          <p:cNvGraphicFramePr>
            <a:graphicFrameLocks noGrp="1"/>
          </p:cNvGraphicFramePr>
          <p:nvPr/>
        </p:nvGraphicFramePr>
        <p:xfrm>
          <a:off x="2123728" y="3789040"/>
          <a:ext cx="1296144" cy="1224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149939296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386275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298701834"/>
                    </a:ext>
                  </a:extLst>
                </a:gridCol>
              </a:tblGrid>
              <a:tr h="408045">
                <a:tc>
                  <a:txBody>
                    <a:bodyPr/>
                    <a:lstStyle/>
                    <a:p>
                      <a:endParaRPr lang="nl-BE" dirty="0">
                        <a:highlight>
                          <a:srgbClr val="000000"/>
                        </a:highlight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6701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8709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567704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21EEB87C-05AA-447F-806D-79ADC9025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303049" y="2778071"/>
            <a:ext cx="360040" cy="365754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A54E314-8721-422C-B500-932FA2FACB9D}"/>
              </a:ext>
            </a:extLst>
          </p:cNvPr>
          <p:cNvGraphicFramePr>
            <a:graphicFrameLocks noGrp="1"/>
          </p:cNvGraphicFramePr>
          <p:nvPr/>
        </p:nvGraphicFramePr>
        <p:xfrm>
          <a:off x="5868144" y="2717305"/>
          <a:ext cx="1296144" cy="1224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149939296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386275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298701834"/>
                    </a:ext>
                  </a:extLst>
                </a:gridCol>
              </a:tblGrid>
              <a:tr h="408045">
                <a:tc>
                  <a:txBody>
                    <a:bodyPr/>
                    <a:lstStyle/>
                    <a:p>
                      <a:endParaRPr lang="nl-BE" dirty="0">
                        <a:highlight>
                          <a:srgbClr val="000000"/>
                        </a:highlight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6701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8709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567704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975867FD-5A71-435E-845C-509C919B0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6349522" y="5702781"/>
            <a:ext cx="360040" cy="365754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BA4AD74-DA31-46A1-8520-E8B112F55A8A}"/>
              </a:ext>
            </a:extLst>
          </p:cNvPr>
          <p:cNvGraphicFramePr>
            <a:graphicFrameLocks noGrp="1"/>
          </p:cNvGraphicFramePr>
          <p:nvPr/>
        </p:nvGraphicFramePr>
        <p:xfrm>
          <a:off x="5868144" y="4869161"/>
          <a:ext cx="1296144" cy="1224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149939296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386275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298701834"/>
                    </a:ext>
                  </a:extLst>
                </a:gridCol>
              </a:tblGrid>
              <a:tr h="408045">
                <a:tc>
                  <a:txBody>
                    <a:bodyPr/>
                    <a:lstStyle/>
                    <a:p>
                      <a:endParaRPr lang="nl-BE" dirty="0">
                        <a:highlight>
                          <a:srgbClr val="000000"/>
                        </a:highlight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6701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8709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567704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489E204C-56DB-4B7A-A303-21DBD71349F6}"/>
              </a:ext>
            </a:extLst>
          </p:cNvPr>
          <p:cNvSpPr txBox="1"/>
          <p:nvPr/>
        </p:nvSpPr>
        <p:spPr>
          <a:xfrm>
            <a:off x="5292080" y="3118157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/>
              <a:t>(a)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3226E1-29D2-47B5-A852-7AB3C44F312C}"/>
              </a:ext>
            </a:extLst>
          </p:cNvPr>
          <p:cNvSpPr txBox="1"/>
          <p:nvPr/>
        </p:nvSpPr>
        <p:spPr>
          <a:xfrm>
            <a:off x="5292080" y="5290401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/>
              <a:t>(b)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6F6616E-1877-4B67-B846-1016BCB5F880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3635896" y="3302823"/>
            <a:ext cx="1656184" cy="1091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F2EDD54-42C7-4570-9F24-1CD9B1EB6C1D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3635896" y="4559224"/>
            <a:ext cx="1656184" cy="9158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3090CDA1-71EB-43E1-BDF4-5AE3EA067A21}"/>
              </a:ext>
            </a:extLst>
          </p:cNvPr>
          <p:cNvSpPr/>
          <p:nvPr/>
        </p:nvSpPr>
        <p:spPr>
          <a:xfrm>
            <a:off x="5004048" y="4559224"/>
            <a:ext cx="2520280" cy="167808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544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6890"/>
    </mc:Choice>
    <mc:Fallback xmlns="">
      <p:transition spd="slow" advTm="626890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1E990-8B94-461E-9838-DB64CE466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Righthand </a:t>
            </a:r>
            <a:r>
              <a:rPr lang="nl-BE" dirty="0" err="1"/>
              <a:t>rule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8C587-8215-4E32-B109-D6896349B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i="1" dirty="0"/>
              <a:t>Follow </a:t>
            </a:r>
            <a:r>
              <a:rPr lang="nl-BE" i="1" dirty="0" err="1"/>
              <a:t>the</a:t>
            </a:r>
            <a:r>
              <a:rPr lang="nl-BE" i="1" dirty="0"/>
              <a:t> rightmost </a:t>
            </a:r>
            <a:r>
              <a:rPr lang="nl-BE" i="1" dirty="0" err="1"/>
              <a:t>path</a:t>
            </a:r>
            <a:endParaRPr lang="nl-BE" i="1" dirty="0"/>
          </a:p>
          <a:p>
            <a:endParaRPr lang="nl-BE" i="1" dirty="0"/>
          </a:p>
          <a:p>
            <a:r>
              <a:rPr lang="nl-BE" dirty="0" err="1"/>
              <a:t>Where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go next in </a:t>
            </a:r>
            <a:r>
              <a:rPr lang="nl-BE" dirty="0" err="1"/>
              <a:t>this</a:t>
            </a:r>
            <a:r>
              <a:rPr lang="nl-BE" dirty="0"/>
              <a:t> </a:t>
            </a:r>
            <a:r>
              <a:rPr lang="nl-BE" dirty="0" err="1"/>
              <a:t>example</a:t>
            </a:r>
            <a:r>
              <a:rPr lang="nl-BE"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E28B6-A941-45FA-BC2A-6BB14D035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52</a:t>
            </a:fld>
            <a:endParaRPr lang="nl-NL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4EF80D3-413D-432E-93E7-3119B2251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6301" y="3716048"/>
            <a:ext cx="360040" cy="36575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BEADFAB-AACE-4892-8BAB-DD7BD0AC7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4777" y="3689414"/>
            <a:ext cx="360040" cy="365754"/>
          </a:xfrm>
          <a:prstGeom prst="rect">
            <a:avLst/>
          </a:prstGeom>
        </p:spPr>
      </p:pic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3D2CFA83-83C2-4CD9-B3BD-264B2AAA4268}"/>
              </a:ext>
            </a:extLst>
          </p:cNvPr>
          <p:cNvGraphicFramePr>
            <a:graphicFrameLocks noGrp="1"/>
          </p:cNvGraphicFramePr>
          <p:nvPr/>
        </p:nvGraphicFramePr>
        <p:xfrm>
          <a:off x="2411155" y="3284984"/>
          <a:ext cx="1296144" cy="1224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149939296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386275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298701834"/>
                    </a:ext>
                  </a:extLst>
                </a:gridCol>
              </a:tblGrid>
              <a:tr h="408045">
                <a:tc>
                  <a:txBody>
                    <a:bodyPr/>
                    <a:lstStyle/>
                    <a:p>
                      <a:endParaRPr lang="nl-BE" dirty="0">
                        <a:highlight>
                          <a:srgbClr val="000000"/>
                        </a:highlight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6701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8709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567704"/>
                  </a:ext>
                </a:extLst>
              </a:tr>
            </a:tbl>
          </a:graphicData>
        </a:graphic>
      </p:graphicFrame>
      <p:pic>
        <p:nvPicPr>
          <p:cNvPr id="24" name="Picture 23">
            <a:extLst>
              <a:ext uri="{FF2B5EF4-FFF2-40B4-BE49-F238E27FC236}">
                <a16:creationId xmlns:a16="http://schemas.microsoft.com/office/drawing/2014/main" id="{AC583D97-F307-4B1E-92CC-14670238A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590476" y="1833582"/>
            <a:ext cx="360040" cy="365754"/>
          </a:xfrm>
          <a:prstGeom prst="rect">
            <a:avLst/>
          </a:prstGeom>
        </p:spPr>
      </p:pic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B9807C5B-7B3E-4C97-9715-8E4C11389057}"/>
              </a:ext>
            </a:extLst>
          </p:cNvPr>
          <p:cNvGraphicFramePr>
            <a:graphicFrameLocks noGrp="1"/>
          </p:cNvGraphicFramePr>
          <p:nvPr/>
        </p:nvGraphicFramePr>
        <p:xfrm>
          <a:off x="6155571" y="1772816"/>
          <a:ext cx="1296144" cy="1224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149939296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386275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298701834"/>
                    </a:ext>
                  </a:extLst>
                </a:gridCol>
              </a:tblGrid>
              <a:tr h="408045">
                <a:tc>
                  <a:txBody>
                    <a:bodyPr/>
                    <a:lstStyle/>
                    <a:p>
                      <a:endParaRPr lang="nl-BE" dirty="0">
                        <a:highlight>
                          <a:srgbClr val="000000"/>
                        </a:highlight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6701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8709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567704"/>
                  </a:ext>
                </a:extLst>
              </a:tr>
            </a:tbl>
          </a:graphicData>
        </a:graphic>
      </p:graphicFrame>
      <p:pic>
        <p:nvPicPr>
          <p:cNvPr id="26" name="Picture 25">
            <a:extLst>
              <a:ext uri="{FF2B5EF4-FFF2-40B4-BE49-F238E27FC236}">
                <a16:creationId xmlns:a16="http://schemas.microsoft.com/office/drawing/2014/main" id="{A6F199DC-3F75-45B4-B08B-9562FE40D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6636949" y="5702781"/>
            <a:ext cx="360040" cy="365754"/>
          </a:xfrm>
          <a:prstGeom prst="rect">
            <a:avLst/>
          </a:prstGeom>
        </p:spPr>
      </p:pic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4B2513A5-3D02-4CF3-9127-000F6AF97468}"/>
              </a:ext>
            </a:extLst>
          </p:cNvPr>
          <p:cNvGraphicFramePr>
            <a:graphicFrameLocks noGrp="1"/>
          </p:cNvGraphicFramePr>
          <p:nvPr/>
        </p:nvGraphicFramePr>
        <p:xfrm>
          <a:off x="6155571" y="4869161"/>
          <a:ext cx="1296144" cy="1224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149939296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386275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298701834"/>
                    </a:ext>
                  </a:extLst>
                </a:gridCol>
              </a:tblGrid>
              <a:tr h="408045">
                <a:tc>
                  <a:txBody>
                    <a:bodyPr/>
                    <a:lstStyle/>
                    <a:p>
                      <a:endParaRPr lang="nl-BE" dirty="0">
                        <a:highlight>
                          <a:srgbClr val="000000"/>
                        </a:highlight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6701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8709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567704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D1A39F2A-8566-4701-944B-EE268467B73A}"/>
              </a:ext>
            </a:extLst>
          </p:cNvPr>
          <p:cNvSpPr txBox="1"/>
          <p:nvPr/>
        </p:nvSpPr>
        <p:spPr>
          <a:xfrm>
            <a:off x="5579507" y="2173668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/>
              <a:t>(a)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991FBF1-6768-479B-BD26-698EEBB51658}"/>
              </a:ext>
            </a:extLst>
          </p:cNvPr>
          <p:cNvSpPr txBox="1"/>
          <p:nvPr/>
        </p:nvSpPr>
        <p:spPr>
          <a:xfrm>
            <a:off x="5579507" y="5290401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/>
              <a:t>(c)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B55E474-AD40-4A05-A447-E1D8CFEFEA60}"/>
              </a:ext>
            </a:extLst>
          </p:cNvPr>
          <p:cNvCxnSpPr>
            <a:cxnSpLocks/>
            <a:endCxn id="28" idx="1"/>
          </p:cNvCxnSpPr>
          <p:nvPr/>
        </p:nvCxnSpPr>
        <p:spPr>
          <a:xfrm flipV="1">
            <a:off x="3923323" y="2358334"/>
            <a:ext cx="1656184" cy="8546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731F0B7-0615-4617-84BF-6A8BAC95EB88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3923323" y="4559224"/>
            <a:ext cx="1656184" cy="9158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3E50D3D0-E187-41F0-A22A-4482A1721D29}"/>
              </a:ext>
            </a:extLst>
          </p:cNvPr>
          <p:cNvGraphicFramePr>
            <a:graphicFrameLocks noGrp="1"/>
          </p:cNvGraphicFramePr>
          <p:nvPr/>
        </p:nvGraphicFramePr>
        <p:xfrm>
          <a:off x="6156176" y="3293370"/>
          <a:ext cx="1296144" cy="1224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149939296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386275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298701834"/>
                    </a:ext>
                  </a:extLst>
                </a:gridCol>
              </a:tblGrid>
              <a:tr h="408045">
                <a:tc>
                  <a:txBody>
                    <a:bodyPr/>
                    <a:lstStyle/>
                    <a:p>
                      <a:endParaRPr lang="nl-BE" dirty="0">
                        <a:highlight>
                          <a:srgbClr val="000000"/>
                        </a:highlight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6701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8709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567704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4DE60475-8EA6-425D-B87B-A7B270CE5EF7}"/>
              </a:ext>
            </a:extLst>
          </p:cNvPr>
          <p:cNvSpPr txBox="1"/>
          <p:nvPr/>
        </p:nvSpPr>
        <p:spPr>
          <a:xfrm>
            <a:off x="5580112" y="371461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/>
              <a:t>(b)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7A261A6-283E-4BC2-884C-DE4E51E58EB2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3923323" y="3899276"/>
            <a:ext cx="16567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6656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6890"/>
    </mc:Choice>
    <mc:Fallback xmlns="">
      <p:transition spd="slow" advTm="626890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1E990-8B94-461E-9838-DB64CE466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Righthand </a:t>
            </a:r>
            <a:r>
              <a:rPr lang="nl-BE" dirty="0" err="1"/>
              <a:t>rule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8C587-8215-4E32-B109-D6896349B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i="1" dirty="0"/>
              <a:t>Follow </a:t>
            </a:r>
            <a:r>
              <a:rPr lang="nl-BE" i="1" dirty="0" err="1"/>
              <a:t>the</a:t>
            </a:r>
            <a:r>
              <a:rPr lang="nl-BE" i="1" dirty="0"/>
              <a:t> rightmost </a:t>
            </a:r>
            <a:r>
              <a:rPr lang="nl-BE" i="1" dirty="0" err="1"/>
              <a:t>path</a:t>
            </a:r>
            <a:endParaRPr lang="nl-BE" i="1" dirty="0"/>
          </a:p>
          <a:p>
            <a:endParaRPr lang="nl-BE" i="1" dirty="0"/>
          </a:p>
          <a:p>
            <a:r>
              <a:rPr lang="nl-BE" dirty="0" err="1"/>
              <a:t>Where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go next in </a:t>
            </a:r>
            <a:r>
              <a:rPr lang="nl-BE" dirty="0" err="1"/>
              <a:t>this</a:t>
            </a:r>
            <a:r>
              <a:rPr lang="nl-BE" dirty="0"/>
              <a:t> </a:t>
            </a:r>
            <a:r>
              <a:rPr lang="nl-BE" dirty="0" err="1"/>
              <a:t>example</a:t>
            </a:r>
            <a:r>
              <a:rPr lang="nl-BE"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E28B6-A941-45FA-BC2A-6BB14D035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53</a:t>
            </a:fld>
            <a:endParaRPr lang="nl-NL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4EF80D3-413D-432E-93E7-3119B2251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6301" y="3716048"/>
            <a:ext cx="360040" cy="36575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BEADFAB-AACE-4892-8BAB-DD7BD0AC7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4777" y="3689414"/>
            <a:ext cx="360040" cy="365754"/>
          </a:xfrm>
          <a:prstGeom prst="rect">
            <a:avLst/>
          </a:prstGeom>
        </p:spPr>
      </p:pic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3D2CFA83-83C2-4CD9-B3BD-264B2AAA4268}"/>
              </a:ext>
            </a:extLst>
          </p:cNvPr>
          <p:cNvGraphicFramePr>
            <a:graphicFrameLocks noGrp="1"/>
          </p:cNvGraphicFramePr>
          <p:nvPr/>
        </p:nvGraphicFramePr>
        <p:xfrm>
          <a:off x="2411155" y="3284984"/>
          <a:ext cx="1296144" cy="1224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149939296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386275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298701834"/>
                    </a:ext>
                  </a:extLst>
                </a:gridCol>
              </a:tblGrid>
              <a:tr h="408045">
                <a:tc>
                  <a:txBody>
                    <a:bodyPr/>
                    <a:lstStyle/>
                    <a:p>
                      <a:endParaRPr lang="nl-BE" dirty="0">
                        <a:highlight>
                          <a:srgbClr val="000000"/>
                        </a:highlight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6701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8709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567704"/>
                  </a:ext>
                </a:extLst>
              </a:tr>
            </a:tbl>
          </a:graphicData>
        </a:graphic>
      </p:graphicFrame>
      <p:pic>
        <p:nvPicPr>
          <p:cNvPr id="24" name="Picture 23">
            <a:extLst>
              <a:ext uri="{FF2B5EF4-FFF2-40B4-BE49-F238E27FC236}">
                <a16:creationId xmlns:a16="http://schemas.microsoft.com/office/drawing/2014/main" id="{AC583D97-F307-4B1E-92CC-14670238A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590476" y="1833582"/>
            <a:ext cx="360040" cy="365754"/>
          </a:xfrm>
          <a:prstGeom prst="rect">
            <a:avLst/>
          </a:prstGeom>
        </p:spPr>
      </p:pic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B9807C5B-7B3E-4C97-9715-8E4C11389057}"/>
              </a:ext>
            </a:extLst>
          </p:cNvPr>
          <p:cNvGraphicFramePr>
            <a:graphicFrameLocks noGrp="1"/>
          </p:cNvGraphicFramePr>
          <p:nvPr/>
        </p:nvGraphicFramePr>
        <p:xfrm>
          <a:off x="6155571" y="1772816"/>
          <a:ext cx="1296144" cy="1224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149939296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386275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298701834"/>
                    </a:ext>
                  </a:extLst>
                </a:gridCol>
              </a:tblGrid>
              <a:tr h="408045">
                <a:tc>
                  <a:txBody>
                    <a:bodyPr/>
                    <a:lstStyle/>
                    <a:p>
                      <a:endParaRPr lang="nl-BE" dirty="0">
                        <a:highlight>
                          <a:srgbClr val="000000"/>
                        </a:highlight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6701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8709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567704"/>
                  </a:ext>
                </a:extLst>
              </a:tr>
            </a:tbl>
          </a:graphicData>
        </a:graphic>
      </p:graphicFrame>
      <p:pic>
        <p:nvPicPr>
          <p:cNvPr id="26" name="Picture 25">
            <a:extLst>
              <a:ext uri="{FF2B5EF4-FFF2-40B4-BE49-F238E27FC236}">
                <a16:creationId xmlns:a16="http://schemas.microsoft.com/office/drawing/2014/main" id="{A6F199DC-3F75-45B4-B08B-9562FE40D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6636949" y="5702781"/>
            <a:ext cx="360040" cy="365754"/>
          </a:xfrm>
          <a:prstGeom prst="rect">
            <a:avLst/>
          </a:prstGeom>
        </p:spPr>
      </p:pic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4B2513A5-3D02-4CF3-9127-000F6AF97468}"/>
              </a:ext>
            </a:extLst>
          </p:cNvPr>
          <p:cNvGraphicFramePr>
            <a:graphicFrameLocks noGrp="1"/>
          </p:cNvGraphicFramePr>
          <p:nvPr/>
        </p:nvGraphicFramePr>
        <p:xfrm>
          <a:off x="6155571" y="4869161"/>
          <a:ext cx="1296144" cy="1224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149939296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386275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298701834"/>
                    </a:ext>
                  </a:extLst>
                </a:gridCol>
              </a:tblGrid>
              <a:tr h="408045">
                <a:tc>
                  <a:txBody>
                    <a:bodyPr/>
                    <a:lstStyle/>
                    <a:p>
                      <a:endParaRPr lang="nl-BE" dirty="0">
                        <a:highlight>
                          <a:srgbClr val="000000"/>
                        </a:highlight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6701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8709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567704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D1A39F2A-8566-4701-944B-EE268467B73A}"/>
              </a:ext>
            </a:extLst>
          </p:cNvPr>
          <p:cNvSpPr txBox="1"/>
          <p:nvPr/>
        </p:nvSpPr>
        <p:spPr>
          <a:xfrm>
            <a:off x="5579507" y="2173668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/>
              <a:t>(a)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991FBF1-6768-479B-BD26-698EEBB51658}"/>
              </a:ext>
            </a:extLst>
          </p:cNvPr>
          <p:cNvSpPr txBox="1"/>
          <p:nvPr/>
        </p:nvSpPr>
        <p:spPr>
          <a:xfrm>
            <a:off x="5579507" y="5290401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/>
              <a:t>(c)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B55E474-AD40-4A05-A447-E1D8CFEFEA60}"/>
              </a:ext>
            </a:extLst>
          </p:cNvPr>
          <p:cNvCxnSpPr>
            <a:cxnSpLocks/>
            <a:endCxn id="28" idx="1"/>
          </p:cNvCxnSpPr>
          <p:nvPr/>
        </p:nvCxnSpPr>
        <p:spPr>
          <a:xfrm flipV="1">
            <a:off x="3923323" y="2358334"/>
            <a:ext cx="1656184" cy="8546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731F0B7-0615-4617-84BF-6A8BAC95EB88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3923323" y="4559224"/>
            <a:ext cx="1656184" cy="9158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3E50D3D0-E187-41F0-A22A-4482A1721D29}"/>
              </a:ext>
            </a:extLst>
          </p:cNvPr>
          <p:cNvGraphicFramePr>
            <a:graphicFrameLocks noGrp="1"/>
          </p:cNvGraphicFramePr>
          <p:nvPr/>
        </p:nvGraphicFramePr>
        <p:xfrm>
          <a:off x="6156176" y="3293370"/>
          <a:ext cx="1296144" cy="1224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149939296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386275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298701834"/>
                    </a:ext>
                  </a:extLst>
                </a:gridCol>
              </a:tblGrid>
              <a:tr h="408045">
                <a:tc>
                  <a:txBody>
                    <a:bodyPr/>
                    <a:lstStyle/>
                    <a:p>
                      <a:endParaRPr lang="nl-BE" dirty="0">
                        <a:highlight>
                          <a:srgbClr val="000000"/>
                        </a:highlight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6701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8709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567704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4DE60475-8EA6-425D-B87B-A7B270CE5EF7}"/>
              </a:ext>
            </a:extLst>
          </p:cNvPr>
          <p:cNvSpPr txBox="1"/>
          <p:nvPr/>
        </p:nvSpPr>
        <p:spPr>
          <a:xfrm>
            <a:off x="5580112" y="371461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/>
              <a:t>(b)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7A261A6-283E-4BC2-884C-DE4E51E58EB2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3923323" y="3899276"/>
            <a:ext cx="16567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BBE772F7-AA1A-4965-8DE5-F189B3D4D555}"/>
              </a:ext>
            </a:extLst>
          </p:cNvPr>
          <p:cNvSpPr/>
          <p:nvPr/>
        </p:nvSpPr>
        <p:spPr>
          <a:xfrm>
            <a:off x="5004048" y="4559224"/>
            <a:ext cx="2520280" cy="167808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718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6890"/>
    </mc:Choice>
    <mc:Fallback xmlns="">
      <p:transition spd="slow" advTm="626890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1E990-8B94-461E-9838-DB64CE466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Righthand </a:t>
            </a:r>
            <a:r>
              <a:rPr lang="nl-BE" dirty="0" err="1"/>
              <a:t>rule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8C587-8215-4E32-B109-D6896349B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i="1" dirty="0"/>
              <a:t>Follow </a:t>
            </a:r>
            <a:r>
              <a:rPr lang="nl-BE" i="1" dirty="0" err="1"/>
              <a:t>the</a:t>
            </a:r>
            <a:r>
              <a:rPr lang="nl-BE" i="1" dirty="0"/>
              <a:t> rightmost </a:t>
            </a:r>
            <a:r>
              <a:rPr lang="nl-BE" i="1" dirty="0" err="1"/>
              <a:t>path</a:t>
            </a:r>
            <a:endParaRPr lang="nl-BE" i="1" dirty="0"/>
          </a:p>
          <a:p>
            <a:endParaRPr lang="nl-BE" i="1" dirty="0"/>
          </a:p>
          <a:p>
            <a:r>
              <a:rPr lang="nl-BE" dirty="0" err="1"/>
              <a:t>Where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go next in </a:t>
            </a:r>
            <a:r>
              <a:rPr lang="nl-BE" dirty="0" err="1"/>
              <a:t>this</a:t>
            </a:r>
            <a:r>
              <a:rPr lang="nl-BE" dirty="0"/>
              <a:t> </a:t>
            </a:r>
            <a:r>
              <a:rPr lang="nl-BE" dirty="0" err="1"/>
              <a:t>example</a:t>
            </a:r>
            <a:r>
              <a:rPr lang="nl-BE"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E28B6-A941-45FA-BC2A-6BB14D035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54</a:t>
            </a:fld>
            <a:endParaRPr lang="nl-NL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CBCE912-071F-4670-A7E1-544A776DB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6301" y="4787783"/>
            <a:ext cx="360040" cy="365754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F2CC680-F5D9-4246-A8F1-BCF78EA9B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4777" y="4049454"/>
            <a:ext cx="360040" cy="365754"/>
          </a:xfrm>
          <a:prstGeom prst="rect">
            <a:avLst/>
          </a:prstGeom>
        </p:spPr>
      </p:pic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E9FE3664-E163-4F62-BD1E-63F76F25D431}"/>
              </a:ext>
            </a:extLst>
          </p:cNvPr>
          <p:cNvGraphicFramePr>
            <a:graphicFrameLocks noGrp="1"/>
          </p:cNvGraphicFramePr>
          <p:nvPr/>
        </p:nvGraphicFramePr>
        <p:xfrm>
          <a:off x="2411155" y="3645024"/>
          <a:ext cx="1296144" cy="1224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149939296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386275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298701834"/>
                    </a:ext>
                  </a:extLst>
                </a:gridCol>
              </a:tblGrid>
              <a:tr h="408045">
                <a:tc>
                  <a:txBody>
                    <a:bodyPr/>
                    <a:lstStyle/>
                    <a:p>
                      <a:endParaRPr lang="nl-BE" dirty="0">
                        <a:highlight>
                          <a:srgbClr val="000000"/>
                        </a:highlight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6701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8709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567704"/>
                  </a:ext>
                </a:extLst>
              </a:tr>
            </a:tbl>
          </a:graphicData>
        </a:graphic>
      </p:graphicFrame>
      <p:pic>
        <p:nvPicPr>
          <p:cNvPr id="37" name="Picture 36">
            <a:extLst>
              <a:ext uri="{FF2B5EF4-FFF2-40B4-BE49-F238E27FC236}">
                <a16:creationId xmlns:a16="http://schemas.microsoft.com/office/drawing/2014/main" id="{C55327BB-B71F-4E33-B21A-94B064069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590476" y="2905317"/>
            <a:ext cx="360040" cy="365754"/>
          </a:xfrm>
          <a:prstGeom prst="rect">
            <a:avLst/>
          </a:prstGeom>
        </p:spPr>
      </p:pic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4C416685-8B0B-49C7-9908-5CADDDA407AF}"/>
              </a:ext>
            </a:extLst>
          </p:cNvPr>
          <p:cNvGraphicFramePr>
            <a:graphicFrameLocks noGrp="1"/>
          </p:cNvGraphicFramePr>
          <p:nvPr/>
        </p:nvGraphicFramePr>
        <p:xfrm>
          <a:off x="6155571" y="2844551"/>
          <a:ext cx="1296144" cy="1224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149939296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386275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298701834"/>
                    </a:ext>
                  </a:extLst>
                </a:gridCol>
              </a:tblGrid>
              <a:tr h="408045">
                <a:tc>
                  <a:txBody>
                    <a:bodyPr/>
                    <a:lstStyle/>
                    <a:p>
                      <a:endParaRPr lang="nl-BE" dirty="0">
                        <a:highlight>
                          <a:srgbClr val="000000"/>
                        </a:highlight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6701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8709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567704"/>
                  </a:ext>
                </a:extLst>
              </a:tr>
            </a:tbl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5630C4BB-C6CE-4BBD-A1EE-1A5D51314088}"/>
              </a:ext>
            </a:extLst>
          </p:cNvPr>
          <p:cNvSpPr txBox="1"/>
          <p:nvPr/>
        </p:nvSpPr>
        <p:spPr>
          <a:xfrm>
            <a:off x="5579507" y="3245403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/>
              <a:t>(a)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84591F1-AA25-4655-A4A4-3FF987386F5C}"/>
              </a:ext>
            </a:extLst>
          </p:cNvPr>
          <p:cNvCxnSpPr>
            <a:cxnSpLocks/>
            <a:endCxn id="39" idx="1"/>
          </p:cNvCxnSpPr>
          <p:nvPr/>
        </p:nvCxnSpPr>
        <p:spPr>
          <a:xfrm flipV="1">
            <a:off x="3923323" y="3430069"/>
            <a:ext cx="1656184" cy="638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EE600AA4-FE62-4E5E-8A42-768D69618B58}"/>
              </a:ext>
            </a:extLst>
          </p:cNvPr>
          <p:cNvGraphicFramePr>
            <a:graphicFrameLocks noGrp="1"/>
          </p:cNvGraphicFramePr>
          <p:nvPr/>
        </p:nvGraphicFramePr>
        <p:xfrm>
          <a:off x="6156176" y="4365105"/>
          <a:ext cx="1296144" cy="1224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149939296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386275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298701834"/>
                    </a:ext>
                  </a:extLst>
                </a:gridCol>
              </a:tblGrid>
              <a:tr h="408045">
                <a:tc>
                  <a:txBody>
                    <a:bodyPr/>
                    <a:lstStyle/>
                    <a:p>
                      <a:endParaRPr lang="nl-BE" dirty="0">
                        <a:highlight>
                          <a:srgbClr val="000000"/>
                        </a:highlight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6701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8709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567704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675FC0DB-755A-49EE-9956-FED070011D12}"/>
              </a:ext>
            </a:extLst>
          </p:cNvPr>
          <p:cNvSpPr txBox="1"/>
          <p:nvPr/>
        </p:nvSpPr>
        <p:spPr>
          <a:xfrm>
            <a:off x="5580112" y="478634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/>
              <a:t>(b)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DA34E91-4B25-4909-8DEA-212FCC62A71D}"/>
              </a:ext>
            </a:extLst>
          </p:cNvPr>
          <p:cNvCxnSpPr>
            <a:cxnSpLocks/>
            <a:endCxn id="42" idx="1"/>
          </p:cNvCxnSpPr>
          <p:nvPr/>
        </p:nvCxnSpPr>
        <p:spPr>
          <a:xfrm>
            <a:off x="3923323" y="4559225"/>
            <a:ext cx="1656789" cy="4117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2660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6890"/>
    </mc:Choice>
    <mc:Fallback xmlns="">
      <p:transition spd="slow" advTm="626890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1E990-8B94-461E-9838-DB64CE466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Righthand </a:t>
            </a:r>
            <a:r>
              <a:rPr lang="nl-BE" dirty="0" err="1"/>
              <a:t>rule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8C587-8215-4E32-B109-D6896349B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i="1" dirty="0"/>
              <a:t>Follow </a:t>
            </a:r>
            <a:r>
              <a:rPr lang="nl-BE" i="1" dirty="0" err="1"/>
              <a:t>the</a:t>
            </a:r>
            <a:r>
              <a:rPr lang="nl-BE" i="1" dirty="0"/>
              <a:t> rightmost </a:t>
            </a:r>
            <a:r>
              <a:rPr lang="nl-BE" i="1" dirty="0" err="1"/>
              <a:t>path</a:t>
            </a:r>
            <a:endParaRPr lang="nl-BE" i="1" dirty="0"/>
          </a:p>
          <a:p>
            <a:endParaRPr lang="nl-BE" i="1" dirty="0"/>
          </a:p>
          <a:p>
            <a:r>
              <a:rPr lang="nl-BE" dirty="0" err="1"/>
              <a:t>Where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go next in </a:t>
            </a:r>
            <a:r>
              <a:rPr lang="nl-BE" dirty="0" err="1"/>
              <a:t>this</a:t>
            </a:r>
            <a:r>
              <a:rPr lang="nl-BE" dirty="0"/>
              <a:t> </a:t>
            </a:r>
            <a:r>
              <a:rPr lang="nl-BE" dirty="0" err="1"/>
              <a:t>example</a:t>
            </a:r>
            <a:r>
              <a:rPr lang="nl-BE"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E28B6-A941-45FA-BC2A-6BB14D035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55</a:t>
            </a:fld>
            <a:endParaRPr lang="nl-NL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CBCE912-071F-4670-A7E1-544A776DB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6301" y="4787783"/>
            <a:ext cx="360040" cy="365754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F2CC680-F5D9-4246-A8F1-BCF78EA9B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4777" y="4049454"/>
            <a:ext cx="360040" cy="365754"/>
          </a:xfrm>
          <a:prstGeom prst="rect">
            <a:avLst/>
          </a:prstGeom>
        </p:spPr>
      </p:pic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E9FE3664-E163-4F62-BD1E-63F76F25D431}"/>
              </a:ext>
            </a:extLst>
          </p:cNvPr>
          <p:cNvGraphicFramePr>
            <a:graphicFrameLocks noGrp="1"/>
          </p:cNvGraphicFramePr>
          <p:nvPr/>
        </p:nvGraphicFramePr>
        <p:xfrm>
          <a:off x="2411155" y="3645024"/>
          <a:ext cx="1296144" cy="1224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149939296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386275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298701834"/>
                    </a:ext>
                  </a:extLst>
                </a:gridCol>
              </a:tblGrid>
              <a:tr h="408045">
                <a:tc>
                  <a:txBody>
                    <a:bodyPr/>
                    <a:lstStyle/>
                    <a:p>
                      <a:endParaRPr lang="nl-BE" dirty="0">
                        <a:highlight>
                          <a:srgbClr val="000000"/>
                        </a:highlight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6701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8709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567704"/>
                  </a:ext>
                </a:extLst>
              </a:tr>
            </a:tbl>
          </a:graphicData>
        </a:graphic>
      </p:graphicFrame>
      <p:pic>
        <p:nvPicPr>
          <p:cNvPr id="37" name="Picture 36">
            <a:extLst>
              <a:ext uri="{FF2B5EF4-FFF2-40B4-BE49-F238E27FC236}">
                <a16:creationId xmlns:a16="http://schemas.microsoft.com/office/drawing/2014/main" id="{C55327BB-B71F-4E33-B21A-94B064069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590476" y="2905317"/>
            <a:ext cx="360040" cy="365754"/>
          </a:xfrm>
          <a:prstGeom prst="rect">
            <a:avLst/>
          </a:prstGeom>
        </p:spPr>
      </p:pic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4C416685-8B0B-49C7-9908-5CADDDA407AF}"/>
              </a:ext>
            </a:extLst>
          </p:cNvPr>
          <p:cNvGraphicFramePr>
            <a:graphicFrameLocks noGrp="1"/>
          </p:cNvGraphicFramePr>
          <p:nvPr/>
        </p:nvGraphicFramePr>
        <p:xfrm>
          <a:off x="6155571" y="2844551"/>
          <a:ext cx="1296144" cy="1224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149939296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386275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298701834"/>
                    </a:ext>
                  </a:extLst>
                </a:gridCol>
              </a:tblGrid>
              <a:tr h="408045">
                <a:tc>
                  <a:txBody>
                    <a:bodyPr/>
                    <a:lstStyle/>
                    <a:p>
                      <a:endParaRPr lang="nl-BE" dirty="0">
                        <a:highlight>
                          <a:srgbClr val="000000"/>
                        </a:highlight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6701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8709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567704"/>
                  </a:ext>
                </a:extLst>
              </a:tr>
            </a:tbl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5630C4BB-C6CE-4BBD-A1EE-1A5D51314088}"/>
              </a:ext>
            </a:extLst>
          </p:cNvPr>
          <p:cNvSpPr txBox="1"/>
          <p:nvPr/>
        </p:nvSpPr>
        <p:spPr>
          <a:xfrm>
            <a:off x="5579507" y="3245403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/>
              <a:t>(a)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84591F1-AA25-4655-A4A4-3FF987386F5C}"/>
              </a:ext>
            </a:extLst>
          </p:cNvPr>
          <p:cNvCxnSpPr>
            <a:cxnSpLocks/>
            <a:endCxn id="39" idx="1"/>
          </p:cNvCxnSpPr>
          <p:nvPr/>
        </p:nvCxnSpPr>
        <p:spPr>
          <a:xfrm flipV="1">
            <a:off x="3923323" y="3430069"/>
            <a:ext cx="1656184" cy="638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EE600AA4-FE62-4E5E-8A42-768D69618B58}"/>
              </a:ext>
            </a:extLst>
          </p:cNvPr>
          <p:cNvGraphicFramePr>
            <a:graphicFrameLocks noGrp="1"/>
          </p:cNvGraphicFramePr>
          <p:nvPr/>
        </p:nvGraphicFramePr>
        <p:xfrm>
          <a:off x="6156176" y="4365105"/>
          <a:ext cx="1296144" cy="1224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149939296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386275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298701834"/>
                    </a:ext>
                  </a:extLst>
                </a:gridCol>
              </a:tblGrid>
              <a:tr h="408045">
                <a:tc>
                  <a:txBody>
                    <a:bodyPr/>
                    <a:lstStyle/>
                    <a:p>
                      <a:endParaRPr lang="nl-BE" dirty="0">
                        <a:highlight>
                          <a:srgbClr val="000000"/>
                        </a:highlight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6701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8709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567704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675FC0DB-755A-49EE-9956-FED070011D12}"/>
              </a:ext>
            </a:extLst>
          </p:cNvPr>
          <p:cNvSpPr txBox="1"/>
          <p:nvPr/>
        </p:nvSpPr>
        <p:spPr>
          <a:xfrm>
            <a:off x="5580112" y="478634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/>
              <a:t>(b)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DA34E91-4B25-4909-8DEA-212FCC62A71D}"/>
              </a:ext>
            </a:extLst>
          </p:cNvPr>
          <p:cNvCxnSpPr>
            <a:cxnSpLocks/>
            <a:endCxn id="42" idx="1"/>
          </p:cNvCxnSpPr>
          <p:nvPr/>
        </p:nvCxnSpPr>
        <p:spPr>
          <a:xfrm>
            <a:off x="3923323" y="4559225"/>
            <a:ext cx="1656789" cy="4117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3CF54ADA-18CE-42D1-8EA9-5F796C026738}"/>
              </a:ext>
            </a:extLst>
          </p:cNvPr>
          <p:cNvSpPr/>
          <p:nvPr/>
        </p:nvSpPr>
        <p:spPr>
          <a:xfrm>
            <a:off x="5220072" y="4221088"/>
            <a:ext cx="2520280" cy="167808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145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6890"/>
    </mc:Choice>
    <mc:Fallback xmlns="">
      <p:transition spd="slow" advTm="626890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1E990-8B94-461E-9838-DB64CE466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Righthand </a:t>
            </a:r>
            <a:r>
              <a:rPr lang="nl-BE" dirty="0" err="1"/>
              <a:t>rule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8C587-8215-4E32-B109-D6896349B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i="1" dirty="0"/>
              <a:t>Follow </a:t>
            </a:r>
            <a:r>
              <a:rPr lang="nl-BE" i="1" dirty="0" err="1"/>
              <a:t>the</a:t>
            </a:r>
            <a:r>
              <a:rPr lang="nl-BE" i="1" dirty="0"/>
              <a:t> rightmost </a:t>
            </a:r>
            <a:r>
              <a:rPr lang="nl-BE" i="1" dirty="0" err="1"/>
              <a:t>path</a:t>
            </a:r>
            <a:endParaRPr lang="nl-BE" i="1" dirty="0"/>
          </a:p>
          <a:p>
            <a:endParaRPr lang="nl-BE" i="1" dirty="0"/>
          </a:p>
          <a:p>
            <a:r>
              <a:rPr lang="nl-BE" dirty="0" err="1"/>
              <a:t>Where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go next in </a:t>
            </a:r>
            <a:r>
              <a:rPr lang="nl-BE" dirty="0" err="1"/>
              <a:t>this</a:t>
            </a:r>
            <a:r>
              <a:rPr lang="nl-BE" dirty="0"/>
              <a:t> </a:t>
            </a:r>
            <a:r>
              <a:rPr lang="nl-BE" dirty="0" err="1"/>
              <a:t>example</a:t>
            </a:r>
            <a:r>
              <a:rPr lang="nl-BE"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E28B6-A941-45FA-BC2A-6BB14D035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56</a:t>
            </a:fld>
            <a:endParaRPr lang="nl-NL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6F62A13-E473-46FD-ADF1-F14BD2329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6192672" y="4832173"/>
            <a:ext cx="360040" cy="36575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7DBE11A-34F4-43C5-82E6-BEFFBF9BE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4777" y="4049454"/>
            <a:ext cx="360040" cy="365754"/>
          </a:xfrm>
          <a:prstGeom prst="rect">
            <a:avLst/>
          </a:prstGeom>
        </p:spPr>
      </p:pic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DE471DC-7565-4E1C-99C7-E9B64BDE5EA1}"/>
              </a:ext>
            </a:extLst>
          </p:cNvPr>
          <p:cNvGraphicFramePr>
            <a:graphicFrameLocks noGrp="1"/>
          </p:cNvGraphicFramePr>
          <p:nvPr/>
        </p:nvGraphicFramePr>
        <p:xfrm>
          <a:off x="2411155" y="3645024"/>
          <a:ext cx="1296144" cy="1224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149939296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386275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298701834"/>
                    </a:ext>
                  </a:extLst>
                </a:gridCol>
              </a:tblGrid>
              <a:tr h="408045">
                <a:tc>
                  <a:txBody>
                    <a:bodyPr/>
                    <a:lstStyle/>
                    <a:p>
                      <a:endParaRPr lang="nl-BE" dirty="0">
                        <a:highlight>
                          <a:srgbClr val="000000"/>
                        </a:highlight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6701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8709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567704"/>
                  </a:ext>
                </a:extLst>
              </a:tr>
            </a:tbl>
          </a:graphicData>
        </a:graphic>
      </p:graphicFrame>
      <p:pic>
        <p:nvPicPr>
          <p:cNvPr id="19" name="Picture 18">
            <a:extLst>
              <a:ext uri="{FF2B5EF4-FFF2-40B4-BE49-F238E27FC236}">
                <a16:creationId xmlns:a16="http://schemas.microsoft.com/office/drawing/2014/main" id="{4A01BE25-6866-4243-866F-79B20706A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590476" y="2905317"/>
            <a:ext cx="360040" cy="365754"/>
          </a:xfrm>
          <a:prstGeom prst="rect">
            <a:avLst/>
          </a:prstGeom>
        </p:spPr>
      </p:pic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E6697D54-D24A-4191-A56E-1E2680D23E55}"/>
              </a:ext>
            </a:extLst>
          </p:cNvPr>
          <p:cNvGraphicFramePr>
            <a:graphicFrameLocks noGrp="1"/>
          </p:cNvGraphicFramePr>
          <p:nvPr/>
        </p:nvGraphicFramePr>
        <p:xfrm>
          <a:off x="6155571" y="2844551"/>
          <a:ext cx="1296144" cy="1224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149939296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386275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298701834"/>
                    </a:ext>
                  </a:extLst>
                </a:gridCol>
              </a:tblGrid>
              <a:tr h="408045">
                <a:tc>
                  <a:txBody>
                    <a:bodyPr/>
                    <a:lstStyle/>
                    <a:p>
                      <a:endParaRPr lang="nl-BE" dirty="0">
                        <a:highlight>
                          <a:srgbClr val="000000"/>
                        </a:highlight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6701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8709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567704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411A5CE9-E6EF-412B-971E-F410967F5A8F}"/>
              </a:ext>
            </a:extLst>
          </p:cNvPr>
          <p:cNvSpPr txBox="1"/>
          <p:nvPr/>
        </p:nvSpPr>
        <p:spPr>
          <a:xfrm>
            <a:off x="5579507" y="3245403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/>
              <a:t>(a)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7EE0E57-8AE4-47C7-816A-060FF0EF74CA}"/>
              </a:ext>
            </a:extLst>
          </p:cNvPr>
          <p:cNvCxnSpPr>
            <a:cxnSpLocks/>
            <a:endCxn id="22" idx="1"/>
          </p:cNvCxnSpPr>
          <p:nvPr/>
        </p:nvCxnSpPr>
        <p:spPr>
          <a:xfrm flipV="1">
            <a:off x="3923323" y="3430069"/>
            <a:ext cx="1656184" cy="638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B8F831D1-39F2-40FF-9897-254B048A5B72}"/>
              </a:ext>
            </a:extLst>
          </p:cNvPr>
          <p:cNvGraphicFramePr>
            <a:graphicFrameLocks noGrp="1"/>
          </p:cNvGraphicFramePr>
          <p:nvPr/>
        </p:nvGraphicFramePr>
        <p:xfrm>
          <a:off x="6156176" y="4365105"/>
          <a:ext cx="1296144" cy="1224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149939296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386275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298701834"/>
                    </a:ext>
                  </a:extLst>
                </a:gridCol>
              </a:tblGrid>
              <a:tr h="408045">
                <a:tc>
                  <a:txBody>
                    <a:bodyPr/>
                    <a:lstStyle/>
                    <a:p>
                      <a:endParaRPr lang="nl-BE" dirty="0">
                        <a:highlight>
                          <a:srgbClr val="000000"/>
                        </a:highlight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6701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8709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567704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112CDDC5-DC96-4E5D-A24E-EB2703CF0148}"/>
              </a:ext>
            </a:extLst>
          </p:cNvPr>
          <p:cNvSpPr txBox="1"/>
          <p:nvPr/>
        </p:nvSpPr>
        <p:spPr>
          <a:xfrm>
            <a:off x="5580112" y="478634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/>
              <a:t>(b)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7C95235-DD08-49F3-AA59-19AF2719C11C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3923323" y="4559225"/>
            <a:ext cx="1656789" cy="4117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510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6890"/>
    </mc:Choice>
    <mc:Fallback xmlns="">
      <p:transition spd="slow" advTm="626890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1E990-8B94-461E-9838-DB64CE466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Righthand </a:t>
            </a:r>
            <a:r>
              <a:rPr lang="nl-BE" dirty="0" err="1"/>
              <a:t>rule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8C587-8215-4E32-B109-D6896349B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i="1" dirty="0"/>
              <a:t>Follow </a:t>
            </a:r>
            <a:r>
              <a:rPr lang="nl-BE" i="1" dirty="0" err="1"/>
              <a:t>the</a:t>
            </a:r>
            <a:r>
              <a:rPr lang="nl-BE" i="1" dirty="0"/>
              <a:t> rightmost </a:t>
            </a:r>
            <a:r>
              <a:rPr lang="nl-BE" i="1" dirty="0" err="1"/>
              <a:t>path</a:t>
            </a:r>
            <a:endParaRPr lang="nl-BE" i="1" dirty="0"/>
          </a:p>
          <a:p>
            <a:endParaRPr lang="nl-BE" i="1" dirty="0"/>
          </a:p>
          <a:p>
            <a:r>
              <a:rPr lang="nl-BE" dirty="0" err="1"/>
              <a:t>Where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go next in </a:t>
            </a:r>
            <a:r>
              <a:rPr lang="nl-BE" dirty="0" err="1"/>
              <a:t>this</a:t>
            </a:r>
            <a:r>
              <a:rPr lang="nl-BE" dirty="0"/>
              <a:t> </a:t>
            </a:r>
            <a:r>
              <a:rPr lang="nl-BE" dirty="0" err="1"/>
              <a:t>example</a:t>
            </a:r>
            <a:r>
              <a:rPr lang="nl-BE"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E28B6-A941-45FA-BC2A-6BB14D035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57</a:t>
            </a:fld>
            <a:endParaRPr lang="nl-NL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6F62A13-E473-46FD-ADF1-F14BD2329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6192672" y="4832173"/>
            <a:ext cx="360040" cy="36575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7DBE11A-34F4-43C5-82E6-BEFFBF9BE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4777" y="4049454"/>
            <a:ext cx="360040" cy="365754"/>
          </a:xfrm>
          <a:prstGeom prst="rect">
            <a:avLst/>
          </a:prstGeom>
        </p:spPr>
      </p:pic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DE471DC-7565-4E1C-99C7-E9B64BDE5EA1}"/>
              </a:ext>
            </a:extLst>
          </p:cNvPr>
          <p:cNvGraphicFramePr>
            <a:graphicFrameLocks noGrp="1"/>
          </p:cNvGraphicFramePr>
          <p:nvPr/>
        </p:nvGraphicFramePr>
        <p:xfrm>
          <a:off x="2411155" y="3645024"/>
          <a:ext cx="1296144" cy="1224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149939296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386275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298701834"/>
                    </a:ext>
                  </a:extLst>
                </a:gridCol>
              </a:tblGrid>
              <a:tr h="408045">
                <a:tc>
                  <a:txBody>
                    <a:bodyPr/>
                    <a:lstStyle/>
                    <a:p>
                      <a:endParaRPr lang="nl-BE" dirty="0">
                        <a:highlight>
                          <a:srgbClr val="000000"/>
                        </a:highlight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6701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8709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567704"/>
                  </a:ext>
                </a:extLst>
              </a:tr>
            </a:tbl>
          </a:graphicData>
        </a:graphic>
      </p:graphicFrame>
      <p:pic>
        <p:nvPicPr>
          <p:cNvPr id="19" name="Picture 18">
            <a:extLst>
              <a:ext uri="{FF2B5EF4-FFF2-40B4-BE49-F238E27FC236}">
                <a16:creationId xmlns:a16="http://schemas.microsoft.com/office/drawing/2014/main" id="{4A01BE25-6866-4243-866F-79B20706A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590476" y="2905317"/>
            <a:ext cx="360040" cy="365754"/>
          </a:xfrm>
          <a:prstGeom prst="rect">
            <a:avLst/>
          </a:prstGeom>
        </p:spPr>
      </p:pic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E6697D54-D24A-4191-A56E-1E2680D23E55}"/>
              </a:ext>
            </a:extLst>
          </p:cNvPr>
          <p:cNvGraphicFramePr>
            <a:graphicFrameLocks noGrp="1"/>
          </p:cNvGraphicFramePr>
          <p:nvPr/>
        </p:nvGraphicFramePr>
        <p:xfrm>
          <a:off x="6155571" y="2844551"/>
          <a:ext cx="1296144" cy="1224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149939296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386275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298701834"/>
                    </a:ext>
                  </a:extLst>
                </a:gridCol>
              </a:tblGrid>
              <a:tr h="408045">
                <a:tc>
                  <a:txBody>
                    <a:bodyPr/>
                    <a:lstStyle/>
                    <a:p>
                      <a:endParaRPr lang="nl-BE" dirty="0">
                        <a:highlight>
                          <a:srgbClr val="000000"/>
                        </a:highlight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6701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8709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567704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411A5CE9-E6EF-412B-971E-F410967F5A8F}"/>
              </a:ext>
            </a:extLst>
          </p:cNvPr>
          <p:cNvSpPr txBox="1"/>
          <p:nvPr/>
        </p:nvSpPr>
        <p:spPr>
          <a:xfrm>
            <a:off x="5579507" y="3245403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/>
              <a:t>(a)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7EE0E57-8AE4-47C7-816A-060FF0EF74CA}"/>
              </a:ext>
            </a:extLst>
          </p:cNvPr>
          <p:cNvCxnSpPr>
            <a:cxnSpLocks/>
            <a:endCxn id="22" idx="1"/>
          </p:cNvCxnSpPr>
          <p:nvPr/>
        </p:nvCxnSpPr>
        <p:spPr>
          <a:xfrm flipV="1">
            <a:off x="3923323" y="3430069"/>
            <a:ext cx="1656184" cy="638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B8F831D1-39F2-40FF-9897-254B048A5B72}"/>
              </a:ext>
            </a:extLst>
          </p:cNvPr>
          <p:cNvGraphicFramePr>
            <a:graphicFrameLocks noGrp="1"/>
          </p:cNvGraphicFramePr>
          <p:nvPr/>
        </p:nvGraphicFramePr>
        <p:xfrm>
          <a:off x="6156176" y="4365105"/>
          <a:ext cx="1296144" cy="1224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149939296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386275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298701834"/>
                    </a:ext>
                  </a:extLst>
                </a:gridCol>
              </a:tblGrid>
              <a:tr h="408045">
                <a:tc>
                  <a:txBody>
                    <a:bodyPr/>
                    <a:lstStyle/>
                    <a:p>
                      <a:endParaRPr lang="nl-BE" dirty="0">
                        <a:highlight>
                          <a:srgbClr val="000000"/>
                        </a:highlight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6701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8709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567704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112CDDC5-DC96-4E5D-A24E-EB2703CF0148}"/>
              </a:ext>
            </a:extLst>
          </p:cNvPr>
          <p:cNvSpPr txBox="1"/>
          <p:nvPr/>
        </p:nvSpPr>
        <p:spPr>
          <a:xfrm>
            <a:off x="5580112" y="478634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/>
              <a:t>(b)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7C95235-DD08-49F3-AA59-19AF2719C11C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3923323" y="4559225"/>
            <a:ext cx="1656789" cy="4117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1BA0AA7A-055D-422A-9782-681205C46C9D}"/>
              </a:ext>
            </a:extLst>
          </p:cNvPr>
          <p:cNvSpPr/>
          <p:nvPr/>
        </p:nvSpPr>
        <p:spPr>
          <a:xfrm>
            <a:off x="5292572" y="2543000"/>
            <a:ext cx="2520280" cy="167808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484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6890"/>
    </mc:Choice>
    <mc:Fallback xmlns="">
      <p:transition spd="slow" advTm="626890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1E990-8B94-461E-9838-DB64CE466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Righthand </a:t>
            </a:r>
            <a:r>
              <a:rPr lang="nl-BE" dirty="0" err="1"/>
              <a:t>rule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8C587-8215-4E32-B109-D6896349B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i="1" dirty="0"/>
              <a:t>Follow </a:t>
            </a:r>
            <a:r>
              <a:rPr lang="nl-BE" i="1" dirty="0" err="1"/>
              <a:t>the</a:t>
            </a:r>
            <a:r>
              <a:rPr lang="nl-BE" i="1" dirty="0"/>
              <a:t> rightmost </a:t>
            </a:r>
            <a:r>
              <a:rPr lang="nl-BE" i="1" dirty="0" err="1"/>
              <a:t>path</a:t>
            </a:r>
            <a:endParaRPr lang="nl-BE" i="1" dirty="0"/>
          </a:p>
          <a:p>
            <a:endParaRPr lang="nl-BE" i="1" dirty="0"/>
          </a:p>
          <a:p>
            <a:r>
              <a:rPr lang="nl-BE" dirty="0" err="1"/>
              <a:t>Where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go next in </a:t>
            </a:r>
            <a:r>
              <a:rPr lang="nl-BE" dirty="0" err="1"/>
              <a:t>this</a:t>
            </a:r>
            <a:r>
              <a:rPr lang="nl-BE" dirty="0"/>
              <a:t> </a:t>
            </a:r>
            <a:r>
              <a:rPr lang="nl-BE" dirty="0" err="1"/>
              <a:t>example</a:t>
            </a:r>
            <a:r>
              <a:rPr lang="nl-BE"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E28B6-A941-45FA-BC2A-6BB14D035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58</a:t>
            </a:fld>
            <a:endParaRPr lang="nl-NL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7859ACC-D5AF-45AF-A987-434864F26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6192672" y="4832173"/>
            <a:ext cx="360040" cy="36575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3FBEDFD-0E6A-4943-97DF-0C83672B3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4777" y="4049454"/>
            <a:ext cx="360040" cy="365754"/>
          </a:xfrm>
          <a:prstGeom prst="rect">
            <a:avLst/>
          </a:prstGeom>
        </p:spPr>
      </p:pic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FBBF6BC9-B6E7-498D-82C7-F90AE7A6F5E7}"/>
              </a:ext>
            </a:extLst>
          </p:cNvPr>
          <p:cNvGraphicFramePr>
            <a:graphicFrameLocks noGrp="1"/>
          </p:cNvGraphicFramePr>
          <p:nvPr/>
        </p:nvGraphicFramePr>
        <p:xfrm>
          <a:off x="2411155" y="3645024"/>
          <a:ext cx="1296144" cy="1224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149939296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386275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298701834"/>
                    </a:ext>
                  </a:extLst>
                </a:gridCol>
              </a:tblGrid>
              <a:tr h="408045">
                <a:tc>
                  <a:txBody>
                    <a:bodyPr/>
                    <a:lstStyle/>
                    <a:p>
                      <a:endParaRPr lang="nl-BE" dirty="0">
                        <a:highlight>
                          <a:srgbClr val="000000"/>
                        </a:highlight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6701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8709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567704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801E5642-7C55-4ED8-AF60-AAD59DC9443C}"/>
              </a:ext>
            </a:extLst>
          </p:cNvPr>
          <p:cNvSpPr txBox="1"/>
          <p:nvPr/>
        </p:nvSpPr>
        <p:spPr>
          <a:xfrm>
            <a:off x="5579507" y="3245403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/>
              <a:t>(a)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278FFCF-98C0-4755-AA1D-FE382BB0A7B4}"/>
              </a:ext>
            </a:extLst>
          </p:cNvPr>
          <p:cNvCxnSpPr>
            <a:cxnSpLocks/>
            <a:endCxn id="30" idx="1"/>
          </p:cNvCxnSpPr>
          <p:nvPr/>
        </p:nvCxnSpPr>
        <p:spPr>
          <a:xfrm flipV="1">
            <a:off x="3923323" y="3430069"/>
            <a:ext cx="1656184" cy="638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EE9BA931-E583-4556-839B-C78F55138BDD}"/>
              </a:ext>
            </a:extLst>
          </p:cNvPr>
          <p:cNvGraphicFramePr>
            <a:graphicFrameLocks noGrp="1"/>
          </p:cNvGraphicFramePr>
          <p:nvPr/>
        </p:nvGraphicFramePr>
        <p:xfrm>
          <a:off x="6156176" y="4365105"/>
          <a:ext cx="1296144" cy="1224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149939296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386275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298701834"/>
                    </a:ext>
                  </a:extLst>
                </a:gridCol>
              </a:tblGrid>
              <a:tr h="408045">
                <a:tc>
                  <a:txBody>
                    <a:bodyPr/>
                    <a:lstStyle/>
                    <a:p>
                      <a:endParaRPr lang="nl-BE" dirty="0">
                        <a:highlight>
                          <a:srgbClr val="000000"/>
                        </a:highlight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6701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8709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567704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6F46747B-EB00-48E6-92D3-33135BC74EB7}"/>
              </a:ext>
            </a:extLst>
          </p:cNvPr>
          <p:cNvSpPr txBox="1"/>
          <p:nvPr/>
        </p:nvSpPr>
        <p:spPr>
          <a:xfrm>
            <a:off x="5580112" y="478634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/>
              <a:t>(b)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DBDC796-6303-4D3C-80ED-0B647B5939F0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3923323" y="4559225"/>
            <a:ext cx="1656789" cy="4117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73EA11F6-574D-4AE2-9896-43CD67B13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798" y="3185358"/>
            <a:ext cx="360040" cy="365754"/>
          </a:xfrm>
          <a:prstGeom prst="rect">
            <a:avLst/>
          </a:prstGeom>
        </p:spPr>
      </p:pic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DB98F05A-9016-47F3-ADDA-6A5FA4F1275C}"/>
              </a:ext>
            </a:extLst>
          </p:cNvPr>
          <p:cNvGraphicFramePr>
            <a:graphicFrameLocks noGrp="1"/>
          </p:cNvGraphicFramePr>
          <p:nvPr/>
        </p:nvGraphicFramePr>
        <p:xfrm>
          <a:off x="6156176" y="2780928"/>
          <a:ext cx="1296144" cy="1224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149939296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386275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298701834"/>
                    </a:ext>
                  </a:extLst>
                </a:gridCol>
              </a:tblGrid>
              <a:tr h="408045">
                <a:tc>
                  <a:txBody>
                    <a:bodyPr/>
                    <a:lstStyle/>
                    <a:p>
                      <a:endParaRPr lang="nl-BE" dirty="0">
                        <a:highlight>
                          <a:srgbClr val="000000"/>
                        </a:highlight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6701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8709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5677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1375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6890"/>
    </mc:Choice>
    <mc:Fallback xmlns="">
      <p:transition spd="slow" advTm="626890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1E990-8B94-461E-9838-DB64CE466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Righthand </a:t>
            </a:r>
            <a:r>
              <a:rPr lang="nl-BE" dirty="0" err="1"/>
              <a:t>rule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8C587-8215-4E32-B109-D6896349B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i="1" dirty="0"/>
              <a:t>Follow </a:t>
            </a:r>
            <a:r>
              <a:rPr lang="nl-BE" i="1" dirty="0" err="1"/>
              <a:t>the</a:t>
            </a:r>
            <a:r>
              <a:rPr lang="nl-BE" i="1" dirty="0"/>
              <a:t> rightmost </a:t>
            </a:r>
            <a:r>
              <a:rPr lang="nl-BE" i="1" dirty="0" err="1"/>
              <a:t>path</a:t>
            </a:r>
            <a:endParaRPr lang="nl-BE" i="1" dirty="0"/>
          </a:p>
          <a:p>
            <a:endParaRPr lang="nl-BE" i="1" dirty="0"/>
          </a:p>
          <a:p>
            <a:r>
              <a:rPr lang="nl-BE" dirty="0" err="1"/>
              <a:t>Where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go next in </a:t>
            </a:r>
            <a:r>
              <a:rPr lang="nl-BE" dirty="0" err="1"/>
              <a:t>this</a:t>
            </a:r>
            <a:r>
              <a:rPr lang="nl-BE" dirty="0"/>
              <a:t> </a:t>
            </a:r>
            <a:r>
              <a:rPr lang="nl-BE" dirty="0" err="1"/>
              <a:t>example</a:t>
            </a:r>
            <a:r>
              <a:rPr lang="nl-BE"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E28B6-A941-45FA-BC2A-6BB14D035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59</a:t>
            </a:fld>
            <a:endParaRPr lang="nl-NL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7859ACC-D5AF-45AF-A987-434864F26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6192672" y="4832173"/>
            <a:ext cx="360040" cy="36575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3FBEDFD-0E6A-4943-97DF-0C83672B3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4777" y="4049454"/>
            <a:ext cx="360040" cy="365754"/>
          </a:xfrm>
          <a:prstGeom prst="rect">
            <a:avLst/>
          </a:prstGeom>
        </p:spPr>
      </p:pic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FBBF6BC9-B6E7-498D-82C7-F90AE7A6F5E7}"/>
              </a:ext>
            </a:extLst>
          </p:cNvPr>
          <p:cNvGraphicFramePr>
            <a:graphicFrameLocks noGrp="1"/>
          </p:cNvGraphicFramePr>
          <p:nvPr/>
        </p:nvGraphicFramePr>
        <p:xfrm>
          <a:off x="2411155" y="3645024"/>
          <a:ext cx="1296144" cy="1224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149939296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386275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298701834"/>
                    </a:ext>
                  </a:extLst>
                </a:gridCol>
              </a:tblGrid>
              <a:tr h="408045">
                <a:tc>
                  <a:txBody>
                    <a:bodyPr/>
                    <a:lstStyle/>
                    <a:p>
                      <a:endParaRPr lang="nl-BE" dirty="0">
                        <a:highlight>
                          <a:srgbClr val="000000"/>
                        </a:highlight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6701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8709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567704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801E5642-7C55-4ED8-AF60-AAD59DC9443C}"/>
              </a:ext>
            </a:extLst>
          </p:cNvPr>
          <p:cNvSpPr txBox="1"/>
          <p:nvPr/>
        </p:nvSpPr>
        <p:spPr>
          <a:xfrm>
            <a:off x="5579507" y="3245403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/>
              <a:t>(a)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278FFCF-98C0-4755-AA1D-FE382BB0A7B4}"/>
              </a:ext>
            </a:extLst>
          </p:cNvPr>
          <p:cNvCxnSpPr>
            <a:cxnSpLocks/>
            <a:endCxn id="30" idx="1"/>
          </p:cNvCxnSpPr>
          <p:nvPr/>
        </p:nvCxnSpPr>
        <p:spPr>
          <a:xfrm flipV="1">
            <a:off x="3923323" y="3430069"/>
            <a:ext cx="1656184" cy="638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EE9BA931-E583-4556-839B-C78F55138BDD}"/>
              </a:ext>
            </a:extLst>
          </p:cNvPr>
          <p:cNvGraphicFramePr>
            <a:graphicFrameLocks noGrp="1"/>
          </p:cNvGraphicFramePr>
          <p:nvPr/>
        </p:nvGraphicFramePr>
        <p:xfrm>
          <a:off x="6156176" y="4365105"/>
          <a:ext cx="1296144" cy="1224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149939296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386275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298701834"/>
                    </a:ext>
                  </a:extLst>
                </a:gridCol>
              </a:tblGrid>
              <a:tr h="408045">
                <a:tc>
                  <a:txBody>
                    <a:bodyPr/>
                    <a:lstStyle/>
                    <a:p>
                      <a:endParaRPr lang="nl-BE" dirty="0">
                        <a:highlight>
                          <a:srgbClr val="000000"/>
                        </a:highlight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6701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8709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567704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6F46747B-EB00-48E6-92D3-33135BC74EB7}"/>
              </a:ext>
            </a:extLst>
          </p:cNvPr>
          <p:cNvSpPr txBox="1"/>
          <p:nvPr/>
        </p:nvSpPr>
        <p:spPr>
          <a:xfrm>
            <a:off x="5580112" y="478634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/>
              <a:t>(b)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DBDC796-6303-4D3C-80ED-0B647B5939F0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3923323" y="4559225"/>
            <a:ext cx="1656789" cy="4117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73EA11F6-574D-4AE2-9896-43CD67B13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798" y="3185358"/>
            <a:ext cx="360040" cy="365754"/>
          </a:xfrm>
          <a:prstGeom prst="rect">
            <a:avLst/>
          </a:prstGeom>
        </p:spPr>
      </p:pic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DB98F05A-9016-47F3-ADDA-6A5FA4F1275C}"/>
              </a:ext>
            </a:extLst>
          </p:cNvPr>
          <p:cNvGraphicFramePr>
            <a:graphicFrameLocks noGrp="1"/>
          </p:cNvGraphicFramePr>
          <p:nvPr/>
        </p:nvGraphicFramePr>
        <p:xfrm>
          <a:off x="6156176" y="2780928"/>
          <a:ext cx="1296144" cy="1224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149939296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386275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298701834"/>
                    </a:ext>
                  </a:extLst>
                </a:gridCol>
              </a:tblGrid>
              <a:tr h="408045">
                <a:tc>
                  <a:txBody>
                    <a:bodyPr/>
                    <a:lstStyle/>
                    <a:p>
                      <a:endParaRPr lang="nl-BE" dirty="0">
                        <a:highlight>
                          <a:srgbClr val="000000"/>
                        </a:highlight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6701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87097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567704"/>
                  </a:ext>
                </a:extLst>
              </a:tr>
            </a:tbl>
          </a:graphicData>
        </a:graphic>
      </p:graphicFrame>
      <p:sp>
        <p:nvSpPr>
          <p:cNvPr id="37" name="Rectangle 36">
            <a:extLst>
              <a:ext uri="{FF2B5EF4-FFF2-40B4-BE49-F238E27FC236}">
                <a16:creationId xmlns:a16="http://schemas.microsoft.com/office/drawing/2014/main" id="{57173A2D-E8E2-4016-A479-37E3AFC096EC}"/>
              </a:ext>
            </a:extLst>
          </p:cNvPr>
          <p:cNvSpPr/>
          <p:nvPr/>
        </p:nvSpPr>
        <p:spPr>
          <a:xfrm>
            <a:off x="5359658" y="4221088"/>
            <a:ext cx="2520280" cy="167808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717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6890"/>
    </mc:Choice>
    <mc:Fallback xmlns="">
      <p:transition spd="slow" advTm="626890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A0D00-A50D-4C26-9221-0AEBBC0D7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Righthand </a:t>
            </a:r>
            <a:r>
              <a:rPr lang="nl-BE" dirty="0" err="1"/>
              <a:t>rule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09EC4-CCEA-4081-B6FF-5EE06B7E6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Always follow </a:t>
            </a:r>
            <a:r>
              <a:rPr lang="nl-BE" dirty="0" err="1"/>
              <a:t>the</a:t>
            </a:r>
            <a:r>
              <a:rPr lang="nl-BE" dirty="0"/>
              <a:t> rightmost </a:t>
            </a:r>
            <a:r>
              <a:rPr lang="nl-BE" dirty="0" err="1"/>
              <a:t>path</a:t>
            </a:r>
            <a:endParaRPr lang="nl-BE" dirty="0"/>
          </a:p>
          <a:p>
            <a:r>
              <a:rPr lang="nl-BE" dirty="0"/>
              <a:t>		=</a:t>
            </a:r>
          </a:p>
          <a:p>
            <a:r>
              <a:rPr lang="nl-BE" dirty="0" err="1"/>
              <a:t>Until</a:t>
            </a:r>
            <a:r>
              <a:rPr lang="nl-BE" dirty="0"/>
              <a:t> </a:t>
            </a:r>
            <a:r>
              <a:rPr lang="nl-BE" dirty="0" err="1"/>
              <a:t>you</a:t>
            </a:r>
            <a:r>
              <a:rPr lang="nl-BE" dirty="0"/>
              <a:t> </a:t>
            </a:r>
            <a:r>
              <a:rPr lang="nl-BE" dirty="0" err="1"/>
              <a:t>reach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exit, </a:t>
            </a:r>
            <a:r>
              <a:rPr lang="nl-BE" dirty="0" err="1"/>
              <a:t>repeat</a:t>
            </a:r>
            <a:r>
              <a:rPr lang="nl-BE" dirty="0"/>
              <a:t>:</a:t>
            </a:r>
          </a:p>
          <a:p>
            <a:r>
              <a:rPr lang="nl-BE" dirty="0"/>
              <a:t>	</a:t>
            </a:r>
            <a:r>
              <a:rPr lang="nl-BE" b="1" dirty="0" err="1">
                <a:solidFill>
                  <a:srgbClr val="FF0000"/>
                </a:solidFill>
              </a:rPr>
              <a:t>if</a:t>
            </a:r>
            <a:r>
              <a:rPr lang="nl-BE" dirty="0"/>
              <a:t> </a:t>
            </a:r>
            <a:r>
              <a:rPr lang="nl-BE" u="sng" dirty="0"/>
              <a:t>right is free</a:t>
            </a:r>
            <a:r>
              <a:rPr lang="nl-BE" dirty="0"/>
              <a:t>:</a:t>
            </a:r>
          </a:p>
          <a:p>
            <a:r>
              <a:rPr lang="nl-BE" dirty="0"/>
              <a:t>		</a:t>
            </a:r>
            <a:r>
              <a:rPr lang="nl-BE" u="sng" dirty="0"/>
              <a:t>turn right</a:t>
            </a:r>
            <a:r>
              <a:rPr lang="nl-BE" dirty="0"/>
              <a:t> and </a:t>
            </a:r>
            <a:r>
              <a:rPr lang="nl-BE" u="sng" dirty="0"/>
              <a:t>go forward</a:t>
            </a:r>
          </a:p>
          <a:p>
            <a:r>
              <a:rPr lang="nl-BE" dirty="0"/>
              <a:t>	</a:t>
            </a:r>
            <a:r>
              <a:rPr lang="nl-BE" b="1" dirty="0" err="1">
                <a:solidFill>
                  <a:srgbClr val="FF0000"/>
                </a:solidFill>
              </a:rPr>
              <a:t>else</a:t>
            </a:r>
            <a:r>
              <a:rPr lang="nl-BE" b="1" dirty="0">
                <a:solidFill>
                  <a:srgbClr val="FF0000"/>
                </a:solidFill>
              </a:rPr>
              <a:t> </a:t>
            </a:r>
            <a:r>
              <a:rPr lang="nl-BE" b="1" dirty="0" err="1">
                <a:solidFill>
                  <a:srgbClr val="FF0000"/>
                </a:solidFill>
              </a:rPr>
              <a:t>if</a:t>
            </a:r>
            <a:r>
              <a:rPr lang="nl-BE" b="1" dirty="0"/>
              <a:t> </a:t>
            </a:r>
            <a:r>
              <a:rPr lang="nl-BE" u="sng" dirty="0"/>
              <a:t>forward is free</a:t>
            </a:r>
            <a:r>
              <a:rPr lang="nl-BE" dirty="0"/>
              <a:t>:</a:t>
            </a:r>
          </a:p>
          <a:p>
            <a:r>
              <a:rPr lang="nl-BE" dirty="0"/>
              <a:t>		</a:t>
            </a:r>
            <a:r>
              <a:rPr lang="nl-BE" u="sng" dirty="0"/>
              <a:t>go forward</a:t>
            </a:r>
          </a:p>
          <a:p>
            <a:r>
              <a:rPr lang="nl-BE" dirty="0"/>
              <a:t>	</a:t>
            </a:r>
            <a:r>
              <a:rPr lang="nl-BE" b="1" dirty="0" err="1">
                <a:solidFill>
                  <a:srgbClr val="FF0000"/>
                </a:solidFill>
              </a:rPr>
              <a:t>else</a:t>
            </a:r>
            <a:r>
              <a:rPr lang="nl-BE" b="1" dirty="0">
                <a:solidFill>
                  <a:srgbClr val="FF0000"/>
                </a:solidFill>
              </a:rPr>
              <a:t> </a:t>
            </a:r>
            <a:r>
              <a:rPr lang="nl-BE" b="1" dirty="0" err="1">
                <a:solidFill>
                  <a:srgbClr val="FF0000"/>
                </a:solidFill>
              </a:rPr>
              <a:t>if</a:t>
            </a:r>
            <a:r>
              <a:rPr lang="nl-BE" b="1" dirty="0">
                <a:solidFill>
                  <a:srgbClr val="FF0000"/>
                </a:solidFill>
              </a:rPr>
              <a:t> </a:t>
            </a:r>
            <a:r>
              <a:rPr lang="nl-BE" u="sng" dirty="0" err="1"/>
              <a:t>left</a:t>
            </a:r>
            <a:r>
              <a:rPr lang="nl-BE" u="sng" dirty="0"/>
              <a:t> is free </a:t>
            </a:r>
            <a:r>
              <a:rPr lang="nl-BE" dirty="0"/>
              <a:t>is:</a:t>
            </a:r>
          </a:p>
          <a:p>
            <a:r>
              <a:rPr lang="nl-BE" dirty="0"/>
              <a:t>		turn </a:t>
            </a:r>
            <a:r>
              <a:rPr lang="nl-BE" u="sng" dirty="0" err="1"/>
              <a:t>left</a:t>
            </a:r>
            <a:r>
              <a:rPr lang="nl-BE" dirty="0"/>
              <a:t> and </a:t>
            </a:r>
            <a:r>
              <a:rPr lang="nl-BE" u="sng" dirty="0"/>
              <a:t>go forward</a:t>
            </a:r>
          </a:p>
          <a:p>
            <a:r>
              <a:rPr lang="nl-BE" dirty="0"/>
              <a:t>	</a:t>
            </a:r>
            <a:r>
              <a:rPr lang="nl-BE" b="1" dirty="0" err="1">
                <a:solidFill>
                  <a:srgbClr val="FF0000"/>
                </a:solidFill>
              </a:rPr>
              <a:t>else</a:t>
            </a:r>
            <a:r>
              <a:rPr lang="nl-BE" dirty="0"/>
              <a:t>:</a:t>
            </a:r>
          </a:p>
          <a:p>
            <a:r>
              <a:rPr lang="nl-BE" dirty="0"/>
              <a:t>		turn </a:t>
            </a:r>
            <a:r>
              <a:rPr lang="nl-BE" u="sng" dirty="0"/>
              <a:t>180 </a:t>
            </a:r>
            <a:r>
              <a:rPr lang="nl-BE" u="sng" dirty="0" err="1"/>
              <a:t>degrees</a:t>
            </a:r>
            <a:r>
              <a:rPr lang="nl-BE" dirty="0"/>
              <a:t> and </a:t>
            </a:r>
            <a:r>
              <a:rPr lang="nl-BE" u="sng" dirty="0"/>
              <a:t>go forward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D16C5-8A3C-41B7-AE29-78FE87D7E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60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19467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093"/>
    </mc:Choice>
    <mc:Fallback xmlns="">
      <p:transition spd="slow" advTm="26093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0DD96-E10C-42CA-8822-3A063BED0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 dirty="0" err="1"/>
              <a:t>Assignment</a:t>
            </a:r>
            <a:r>
              <a:rPr lang="nl-BE" dirty="0"/>
              <a:t> #4	 - </a:t>
            </a:r>
            <a:r>
              <a:rPr lang="nl-BE" b="1" dirty="0" err="1"/>
              <a:t>together</a:t>
            </a:r>
            <a:r>
              <a:rPr lang="nl-BE" dirty="0"/>
              <a:t>		q4.py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839E4-9D66-45EE-8EC9-ED765E3D6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 err="1"/>
              <a:t>Implement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righthand </a:t>
            </a:r>
            <a:r>
              <a:rPr lang="nl-BE" dirty="0" err="1"/>
              <a:t>rule</a:t>
            </a:r>
            <a:r>
              <a:rPr lang="nl-BE" dirty="0"/>
              <a:t>. </a:t>
            </a:r>
            <a:r>
              <a:rPr lang="nl-BE" dirty="0" err="1"/>
              <a:t>You</a:t>
            </a:r>
            <a:r>
              <a:rPr lang="nl-BE" dirty="0"/>
              <a:t> </a:t>
            </a:r>
            <a:r>
              <a:rPr lang="nl-BE" dirty="0" err="1"/>
              <a:t>can</a:t>
            </a:r>
            <a:r>
              <a:rPr lang="nl-BE" dirty="0"/>
              <a:t> test on </a:t>
            </a:r>
            <a:r>
              <a:rPr lang="nl-BE" dirty="0" err="1"/>
              <a:t>maze</a:t>
            </a:r>
            <a:r>
              <a:rPr lang="nl-BE" dirty="0"/>
              <a:t> #4.</a:t>
            </a:r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r>
              <a:rPr lang="nl-BE" i="1" dirty="0"/>
              <a:t>Always follow </a:t>
            </a:r>
            <a:r>
              <a:rPr lang="nl-BE" i="1" dirty="0" err="1"/>
              <a:t>the</a:t>
            </a:r>
            <a:r>
              <a:rPr lang="nl-BE" i="1" dirty="0"/>
              <a:t> rightmost </a:t>
            </a:r>
            <a:r>
              <a:rPr lang="nl-BE" i="1" dirty="0" err="1"/>
              <a:t>path</a:t>
            </a:r>
            <a:r>
              <a:rPr lang="nl-BE" i="1" dirty="0"/>
              <a:t>, </a:t>
            </a:r>
            <a:r>
              <a:rPr lang="nl-BE" i="1" dirty="0" err="1"/>
              <a:t>until</a:t>
            </a:r>
            <a:r>
              <a:rPr lang="nl-BE" i="1" dirty="0"/>
              <a:t> </a:t>
            </a:r>
            <a:r>
              <a:rPr lang="nl-BE" i="1" dirty="0" err="1"/>
              <a:t>you</a:t>
            </a:r>
            <a:r>
              <a:rPr lang="nl-BE" i="1" dirty="0"/>
              <a:t> </a:t>
            </a:r>
            <a:r>
              <a:rPr lang="nl-BE" i="1" dirty="0" err="1"/>
              <a:t>reach</a:t>
            </a:r>
            <a:r>
              <a:rPr lang="nl-BE" i="1" dirty="0"/>
              <a:t> </a:t>
            </a:r>
            <a:r>
              <a:rPr lang="nl-BE" i="1" dirty="0" err="1"/>
              <a:t>the</a:t>
            </a:r>
            <a:r>
              <a:rPr lang="nl-BE" i="1" dirty="0"/>
              <a:t> end</a:t>
            </a:r>
          </a:p>
          <a:p>
            <a:endParaRPr lang="nl-BE" dirty="0"/>
          </a:p>
          <a:p>
            <a:r>
              <a:rPr lang="nl-BE" dirty="0" err="1"/>
              <a:t>Finished</a:t>
            </a:r>
            <a:r>
              <a:rPr lang="nl-BE" dirty="0"/>
              <a:t>? </a:t>
            </a:r>
            <a:r>
              <a:rPr lang="nl-BE" dirty="0" err="1"/>
              <a:t>Try</a:t>
            </a:r>
            <a:r>
              <a:rPr lang="nl-BE" dirty="0"/>
              <a:t> </a:t>
            </a:r>
            <a:r>
              <a:rPr lang="nl-BE" dirty="0" err="1"/>
              <a:t>also</a:t>
            </a:r>
            <a:r>
              <a:rPr lang="nl-BE" dirty="0"/>
              <a:t> </a:t>
            </a:r>
            <a:r>
              <a:rPr lang="nl-BE" dirty="0" err="1"/>
              <a:t>maze</a:t>
            </a:r>
            <a:r>
              <a:rPr lang="nl-BE" dirty="0"/>
              <a:t> #5!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7F5414-FFE4-4E4A-8480-5FDC41420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61</a:t>
            </a:fld>
            <a:endParaRPr lang="nl-N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EF4DEE-4209-4E42-8C7B-375D4A2A7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1" y="2132856"/>
            <a:ext cx="8480089" cy="64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572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44650"/>
    </mc:Choice>
    <mc:Fallback xmlns="">
      <p:transition spd="slow" advTm="1244650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0DD96-E10C-42CA-8822-3A063BED0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Solution #4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839E4-9D66-45EE-8EC9-ED765E3D6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BE" sz="2000" dirty="0"/>
          </a:p>
          <a:p>
            <a:r>
              <a:rPr lang="nl-BE" sz="1800" dirty="0"/>
              <a:t>As long as </a:t>
            </a:r>
            <a:r>
              <a:rPr lang="nl-BE" sz="1800" dirty="0" err="1"/>
              <a:t>you</a:t>
            </a:r>
            <a:r>
              <a:rPr lang="nl-BE" sz="1800" dirty="0"/>
              <a:t> </a:t>
            </a:r>
            <a:r>
              <a:rPr lang="nl-BE" sz="1800" dirty="0" err="1"/>
              <a:t>haven’t</a:t>
            </a:r>
            <a:r>
              <a:rPr lang="nl-BE" sz="1800" dirty="0"/>
              <a:t> </a:t>
            </a:r>
            <a:r>
              <a:rPr lang="nl-BE" sz="1800" dirty="0" err="1"/>
              <a:t>reached</a:t>
            </a:r>
            <a:r>
              <a:rPr lang="nl-BE" sz="1800" dirty="0"/>
              <a:t> </a:t>
            </a:r>
            <a:r>
              <a:rPr lang="nl-BE" sz="1800" dirty="0" err="1"/>
              <a:t>the</a:t>
            </a:r>
            <a:r>
              <a:rPr lang="nl-BE" sz="1800" dirty="0"/>
              <a:t> exit:</a:t>
            </a:r>
          </a:p>
          <a:p>
            <a:r>
              <a:rPr lang="nl-BE" sz="1800" dirty="0"/>
              <a:t>	Search </a:t>
            </a:r>
            <a:r>
              <a:rPr lang="nl-BE" sz="1800" dirty="0" err="1"/>
              <a:t>the</a:t>
            </a:r>
            <a:r>
              <a:rPr lang="nl-BE" sz="1800" dirty="0"/>
              <a:t> rightmost free next </a:t>
            </a:r>
            <a:r>
              <a:rPr lang="nl-BE" sz="1800" dirty="0" err="1"/>
              <a:t>position</a:t>
            </a:r>
            <a:endParaRPr lang="nl-BE" sz="1800" dirty="0"/>
          </a:p>
          <a:p>
            <a:r>
              <a:rPr lang="nl-BE" sz="1800" dirty="0"/>
              <a:t>	go forward</a:t>
            </a:r>
          </a:p>
          <a:p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7F5414-FFE4-4E4A-8480-5FDC41420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62</a:t>
            </a:fld>
            <a:endParaRPr lang="nl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F0CD8B-8120-4A4E-BB7E-03FF27F51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2148" y="692696"/>
            <a:ext cx="3209925" cy="3429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AC21C4-489C-4CF3-AD97-8B4DAC804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792" y="3717032"/>
            <a:ext cx="3194449" cy="260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119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884"/>
    </mc:Choice>
    <mc:Fallback xmlns="">
      <p:transition spd="slow" advTm="47884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83075-71B2-4E7C-B57A-C493C3486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Summary Part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615C5-CFF8-404D-9B0D-35DA22E283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196751"/>
            <a:ext cx="8352928" cy="5406129"/>
          </a:xfrm>
        </p:spPr>
        <p:txBody>
          <a:bodyPr/>
          <a:lstStyle/>
          <a:p>
            <a:r>
              <a:rPr lang="nl-BE" dirty="0"/>
              <a:t>Programming = </a:t>
            </a:r>
            <a:r>
              <a:rPr lang="nl-BE" dirty="0" err="1"/>
              <a:t>give</a:t>
            </a:r>
            <a:r>
              <a:rPr lang="nl-BE" dirty="0"/>
              <a:t> step-</a:t>
            </a:r>
            <a:r>
              <a:rPr lang="nl-BE" dirty="0" err="1"/>
              <a:t>wise</a:t>
            </a:r>
            <a:r>
              <a:rPr lang="nl-BE" dirty="0"/>
              <a:t> </a:t>
            </a:r>
            <a:r>
              <a:rPr lang="nl-BE" dirty="0" err="1"/>
              <a:t>instructions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solve</a:t>
            </a:r>
            <a:br>
              <a:rPr lang="nl-BE" dirty="0"/>
            </a:br>
            <a:r>
              <a:rPr lang="nl-BE" dirty="0"/>
              <a:t>a </a:t>
            </a:r>
            <a:r>
              <a:rPr lang="nl-BE" dirty="0" err="1"/>
              <a:t>problem</a:t>
            </a:r>
            <a:r>
              <a:rPr lang="nl-BE" dirty="0"/>
              <a:t>.</a:t>
            </a:r>
          </a:p>
          <a:p>
            <a:endParaRPr lang="nl-BE" dirty="0"/>
          </a:p>
          <a:p>
            <a:r>
              <a:rPr lang="nl-BE" b="1" dirty="0"/>
              <a:t>Important </a:t>
            </a:r>
            <a:r>
              <a:rPr lang="nl-BE" b="1" dirty="0" err="1"/>
              <a:t>constructions</a:t>
            </a:r>
            <a:r>
              <a:rPr lang="nl-BE" b="1" dirty="0"/>
              <a:t>:</a:t>
            </a:r>
          </a:p>
          <a:p>
            <a:r>
              <a:rPr lang="nl-BE" i="1" dirty="0" err="1">
                <a:solidFill>
                  <a:schemeClr val="accent2"/>
                </a:solidFill>
              </a:rPr>
              <a:t>Sequence</a:t>
            </a:r>
            <a:r>
              <a:rPr lang="nl-BE" dirty="0"/>
              <a:t> of </a:t>
            </a:r>
            <a:r>
              <a:rPr lang="nl-BE" dirty="0" err="1"/>
              <a:t>commands</a:t>
            </a:r>
            <a:r>
              <a:rPr lang="nl-BE" dirty="0"/>
              <a:t> : </a:t>
            </a:r>
            <a:r>
              <a:rPr lang="nl-BE" dirty="0" err="1"/>
              <a:t>execute</a:t>
            </a:r>
            <a:r>
              <a:rPr lang="nl-BE" dirty="0"/>
              <a:t> </a:t>
            </a:r>
            <a:r>
              <a:rPr lang="nl-BE" dirty="0" err="1"/>
              <a:t>one</a:t>
            </a:r>
            <a:r>
              <a:rPr lang="nl-BE" dirty="0"/>
              <a:t> </a:t>
            </a:r>
            <a:r>
              <a:rPr lang="nl-BE" dirty="0" err="1"/>
              <a:t>by</a:t>
            </a:r>
            <a:r>
              <a:rPr lang="nl-BE" dirty="0"/>
              <a:t> </a:t>
            </a:r>
            <a:r>
              <a:rPr lang="nl-BE" dirty="0" err="1"/>
              <a:t>one</a:t>
            </a:r>
            <a:endParaRPr lang="nl-BE" dirty="0"/>
          </a:p>
          <a:p>
            <a:r>
              <a:rPr lang="nl-BE" i="1" dirty="0" err="1">
                <a:solidFill>
                  <a:schemeClr val="accent2"/>
                </a:solidFill>
              </a:rPr>
              <a:t>Repetition</a:t>
            </a:r>
            <a:r>
              <a:rPr lang="nl-BE" i="1" dirty="0">
                <a:solidFill>
                  <a:schemeClr val="accent2"/>
                </a:solidFill>
              </a:rPr>
              <a:t> loops</a:t>
            </a:r>
            <a:r>
              <a:rPr lang="nl-BE" dirty="0"/>
              <a:t> : </a:t>
            </a:r>
            <a:r>
              <a:rPr lang="nl-BE" dirty="0" err="1"/>
              <a:t>while</a:t>
            </a:r>
            <a:r>
              <a:rPr lang="nl-BE" dirty="0"/>
              <a:t> … </a:t>
            </a:r>
            <a:r>
              <a:rPr lang="nl-BE" dirty="0" err="1"/>
              <a:t>repeat</a:t>
            </a:r>
            <a:r>
              <a:rPr lang="nl-BE" dirty="0"/>
              <a:t> …</a:t>
            </a:r>
          </a:p>
          <a:p>
            <a:r>
              <a:rPr lang="nl-BE" i="1" dirty="0" err="1">
                <a:solidFill>
                  <a:schemeClr val="accent2"/>
                </a:solidFill>
              </a:rPr>
              <a:t>Conditional</a:t>
            </a:r>
            <a:r>
              <a:rPr lang="nl-BE" dirty="0"/>
              <a:t> </a:t>
            </a:r>
            <a:r>
              <a:rPr lang="nl-BE" dirty="0" err="1"/>
              <a:t>execution</a:t>
            </a:r>
            <a:r>
              <a:rPr lang="nl-BE" dirty="0"/>
              <a:t> : </a:t>
            </a:r>
            <a:r>
              <a:rPr lang="nl-BE" dirty="0" err="1"/>
              <a:t>if</a:t>
            </a:r>
            <a:r>
              <a:rPr lang="nl-BE" dirty="0"/>
              <a:t> … </a:t>
            </a:r>
            <a:r>
              <a:rPr lang="nl-BE" dirty="0" err="1"/>
              <a:t>elif</a:t>
            </a:r>
            <a:r>
              <a:rPr lang="nl-BE" dirty="0"/>
              <a:t> … </a:t>
            </a:r>
            <a:r>
              <a:rPr lang="nl-BE" dirty="0" err="1"/>
              <a:t>else</a:t>
            </a:r>
            <a:r>
              <a:rPr lang="nl-BE" dirty="0"/>
              <a:t> …</a:t>
            </a:r>
          </a:p>
          <a:p>
            <a:endParaRPr lang="nl-BE" dirty="0"/>
          </a:p>
          <a:p>
            <a:r>
              <a:rPr lang="nl-BE" dirty="0" err="1"/>
              <a:t>One</a:t>
            </a:r>
            <a:r>
              <a:rPr lang="nl-BE" dirty="0"/>
              <a:t> important concept is </a:t>
            </a:r>
            <a:r>
              <a:rPr lang="nl-BE" dirty="0" err="1"/>
              <a:t>still</a:t>
            </a:r>
            <a:r>
              <a:rPr lang="nl-BE" dirty="0"/>
              <a:t> missing:</a:t>
            </a:r>
          </a:p>
          <a:p>
            <a:r>
              <a:rPr lang="nl-BE" i="1" dirty="0">
                <a:solidFill>
                  <a:schemeClr val="accent2"/>
                </a:solidFill>
              </a:rPr>
              <a:t>Variables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temporarily</a:t>
            </a:r>
            <a:r>
              <a:rPr lang="nl-BE" dirty="0"/>
              <a:t> store </a:t>
            </a:r>
            <a:r>
              <a:rPr lang="nl-BE" dirty="0" err="1"/>
              <a:t>things</a:t>
            </a:r>
            <a:r>
              <a:rPr lang="nl-BE" dirty="0"/>
              <a:t> in memory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E3FE4-9B38-42E5-BD59-B6C878C2A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63</a:t>
            </a:fld>
            <a:endParaRPr lang="nl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E69792-F985-495D-A7EB-D0B09725D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4220" y="0"/>
            <a:ext cx="1599780" cy="1340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268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432"/>
    </mc:Choice>
    <mc:Fallback xmlns="">
      <p:transition spd="slow" advTm="49432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ijdelijke aanduiding voor afbeelding 2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" r="358"/>
          <a:stretch/>
        </p:blipFill>
        <p:spPr/>
      </p:pic>
      <p:pic>
        <p:nvPicPr>
          <p:cNvPr id="28" name="Afbeelding 27" descr="logo_UA_U_wit.eps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733" r="-1"/>
          <a:stretch/>
        </p:blipFill>
        <p:spPr>
          <a:xfrm>
            <a:off x="3229004" y="823913"/>
            <a:ext cx="2685991" cy="1803391"/>
          </a:xfrm>
          <a:prstGeom prst="rect">
            <a:avLst/>
          </a:prstGeom>
        </p:spPr>
      </p:pic>
      <p:pic>
        <p:nvPicPr>
          <p:cNvPr id="4" name="Picture Placeholder 3"/>
          <p:cNvPicPr>
            <a:picLocks noGrp="1" noChangeAspect="1"/>
          </p:cNvPicPr>
          <p:nvPr>
            <p:ph type="pic" sz="quarter" idx="13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" b="19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5406673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Tijdelijke aanduiding voor afbeelding 2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" r="358"/>
          <a:stretch/>
        </p:blipFill>
        <p:spPr>
          <a:xfrm>
            <a:off x="-9246" y="-27384"/>
            <a:ext cx="9153245" cy="6852793"/>
          </a:xfrm>
          <a:prstGeom prst="rect">
            <a:avLst/>
          </a:prstGeom>
        </p:spPr>
      </p:pic>
      <p:pic>
        <p:nvPicPr>
          <p:cNvPr id="6" name="Tijdelijke aanduiding voor afbeelding 5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" b="246"/>
          <a:stretch>
            <a:fillRect/>
          </a:stretch>
        </p:blipFill>
        <p:spPr>
          <a:xfrm>
            <a:off x="-18000" y="5229200"/>
            <a:ext cx="9162000" cy="1662617"/>
          </a:xfrm>
        </p:spPr>
      </p:pic>
      <p:sp>
        <p:nvSpPr>
          <p:cNvPr id="4" name="Titel 3"/>
          <p:cNvSpPr>
            <a:spLocks noGrp="1"/>
          </p:cNvSpPr>
          <p:nvPr>
            <p:ph type="ctrTitle"/>
          </p:nvPr>
        </p:nvSpPr>
        <p:spPr>
          <a:xfrm>
            <a:off x="395536" y="1647776"/>
            <a:ext cx="8352928" cy="749812"/>
          </a:xfrm>
          <a:noFill/>
        </p:spPr>
        <p:txBody>
          <a:bodyPr/>
          <a:lstStyle/>
          <a:p>
            <a:pPr algn="ctr"/>
            <a:r>
              <a:rPr lang="en-GB" sz="4400" dirty="0"/>
              <a:t>Part 2 - Variables</a:t>
            </a:r>
            <a:endParaRPr lang="nl-BE" sz="4400" dirty="0"/>
          </a:p>
        </p:txBody>
      </p:sp>
    </p:spTree>
    <p:extLst>
      <p:ext uri="{BB962C8B-B14F-4D97-AF65-F5344CB8AC3E}">
        <p14:creationId xmlns:p14="http://schemas.microsoft.com/office/powerpoint/2010/main" val="291089859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83075-71B2-4E7C-B57A-C493C3486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Part 2 - Variables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E3FE4-9B38-42E5-BD59-B6C878C2A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66</a:t>
            </a:fld>
            <a:endParaRPr lang="nl-NL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9903AF5-EA75-8A04-0D9E-F1C4F4F4B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196751"/>
            <a:ext cx="8352928" cy="5406129"/>
          </a:xfrm>
        </p:spPr>
        <p:txBody>
          <a:bodyPr/>
          <a:lstStyle/>
          <a:p>
            <a:r>
              <a:rPr lang="nl-BE" dirty="0" err="1"/>
              <a:t>Variable</a:t>
            </a:r>
            <a:r>
              <a:rPr lang="nl-BE" dirty="0"/>
              <a:t> : </a:t>
            </a:r>
            <a:r>
              <a:rPr lang="nl-BE" dirty="0" err="1"/>
              <a:t>place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store a </a:t>
            </a:r>
            <a:r>
              <a:rPr lang="nl-BE" dirty="0" err="1"/>
              <a:t>value</a:t>
            </a:r>
            <a:r>
              <a:rPr lang="nl-BE" dirty="0"/>
              <a:t> in memory</a:t>
            </a:r>
          </a:p>
          <a:p>
            <a:endParaRPr lang="nl-BE" sz="3200" dirty="0"/>
          </a:p>
          <a:p>
            <a:r>
              <a:rPr lang="nl-BE" dirty="0"/>
              <a:t>We </a:t>
            </a:r>
            <a:r>
              <a:rPr lang="nl-BE" dirty="0" err="1"/>
              <a:t>can</a:t>
            </a:r>
            <a:r>
              <a:rPr lang="nl-BE" dirty="0"/>
              <a:t> do </a:t>
            </a:r>
            <a:r>
              <a:rPr lang="nl-BE" dirty="0" err="1"/>
              <a:t>computations</a:t>
            </a:r>
            <a:r>
              <a:rPr lang="nl-BE" dirty="0"/>
              <a:t> </a:t>
            </a:r>
            <a:r>
              <a:rPr lang="nl-BE" dirty="0" err="1"/>
              <a:t>with</a:t>
            </a:r>
            <a:r>
              <a:rPr lang="nl-BE" dirty="0"/>
              <a:t> variables:</a:t>
            </a:r>
          </a:p>
          <a:p>
            <a:endParaRPr lang="nl-BE" dirty="0"/>
          </a:p>
          <a:p>
            <a:endParaRPr lang="nl-BE" dirty="0"/>
          </a:p>
          <a:p>
            <a:r>
              <a:rPr lang="nl-BE" dirty="0" err="1"/>
              <a:t>Use</a:t>
            </a:r>
            <a:r>
              <a:rPr lang="nl-BE" dirty="0"/>
              <a:t> </a:t>
            </a:r>
            <a:r>
              <a:rPr lang="nl-BE" dirty="0" err="1"/>
              <a:t>them</a:t>
            </a:r>
            <a:r>
              <a:rPr lang="nl-BE" dirty="0"/>
              <a:t> in </a:t>
            </a:r>
            <a:r>
              <a:rPr lang="nl-BE" dirty="0" err="1"/>
              <a:t>if’s</a:t>
            </a:r>
            <a:r>
              <a:rPr lang="nl-BE" dirty="0"/>
              <a:t>:</a:t>
            </a:r>
          </a:p>
          <a:p>
            <a:endParaRPr lang="nl-BE" dirty="0"/>
          </a:p>
          <a:p>
            <a:endParaRPr lang="nl-BE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45C42E7-49EE-5E64-3F29-2012C9E48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99" y="1628802"/>
            <a:ext cx="4476203" cy="64807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E5E11FA-392A-3864-7CBC-19CC5865A8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807" y="2708920"/>
            <a:ext cx="3442404" cy="93627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5D08A56-AEC9-140F-5073-89C3E80BE1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804" y="4256919"/>
            <a:ext cx="4944738" cy="1944216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72BD5DB7-0ECB-49DA-9EE2-2449D27C11B1}"/>
              </a:ext>
            </a:extLst>
          </p:cNvPr>
          <p:cNvSpPr/>
          <p:nvPr/>
        </p:nvSpPr>
        <p:spPr>
          <a:xfrm>
            <a:off x="2267744" y="4869160"/>
            <a:ext cx="288032" cy="360038"/>
          </a:xfrm>
          <a:prstGeom prst="ellipse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2D76EF7-1125-DE0F-F923-2FF9C8308730}"/>
              </a:ext>
            </a:extLst>
          </p:cNvPr>
          <p:cNvSpPr/>
          <p:nvPr/>
        </p:nvSpPr>
        <p:spPr>
          <a:xfrm>
            <a:off x="27816" y="3645024"/>
            <a:ext cx="6408712" cy="26116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28403A-3B51-08AA-AE4F-2222A00FD89B}"/>
              </a:ext>
            </a:extLst>
          </p:cNvPr>
          <p:cNvSpPr/>
          <p:nvPr/>
        </p:nvSpPr>
        <p:spPr>
          <a:xfrm>
            <a:off x="179550" y="2363280"/>
            <a:ext cx="6408712" cy="26116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8590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432"/>
    </mc:Choice>
    <mc:Fallback xmlns="">
      <p:transition spd="slow" advTm="494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F744F-D143-51E0-C947-4D9C20D4E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Variables - </a:t>
            </a:r>
            <a:r>
              <a:rPr lang="nl-BE" dirty="0" err="1"/>
              <a:t>Example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32E0C-D85F-6A2F-E26B-256A452A1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67</a:t>
            </a:fld>
            <a:endParaRPr lang="nl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1C49D3-722F-DDE6-A25E-F683828A3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052737"/>
            <a:ext cx="6886575" cy="5191125"/>
          </a:xfrm>
          <a:prstGeom prst="rect">
            <a:avLst/>
          </a:prstGeom>
        </p:spPr>
      </p:pic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84F6DFCF-EF50-A8E6-02D5-8E576C193E95}"/>
              </a:ext>
            </a:extLst>
          </p:cNvPr>
          <p:cNvSpPr/>
          <p:nvPr/>
        </p:nvSpPr>
        <p:spPr>
          <a:xfrm>
            <a:off x="6005636" y="116632"/>
            <a:ext cx="2592288" cy="936105"/>
          </a:xfrm>
          <a:prstGeom prst="wedgeRectCallout">
            <a:avLst>
              <a:gd name="adj1" fmla="val -103289"/>
              <a:gd name="adj2" fmla="val 5356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BE" dirty="0" err="1"/>
              <a:t>Ask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average</a:t>
            </a:r>
            <a:r>
              <a:rPr lang="nl-BE" dirty="0"/>
              <a:t> </a:t>
            </a:r>
            <a:r>
              <a:rPr lang="nl-BE" dirty="0" err="1"/>
              <a:t>grade</a:t>
            </a:r>
            <a:r>
              <a:rPr lang="nl-BE" dirty="0"/>
              <a:t>, </a:t>
            </a:r>
            <a:r>
              <a:rPr lang="nl-BE" dirty="0" err="1"/>
              <a:t>tell</a:t>
            </a:r>
            <a:r>
              <a:rPr lang="nl-BE" dirty="0"/>
              <a:t> Python </a:t>
            </a:r>
            <a:r>
              <a:rPr lang="nl-BE" dirty="0" err="1"/>
              <a:t>it</a:t>
            </a:r>
            <a:r>
              <a:rPr lang="nl-BE" dirty="0"/>
              <a:t> is a real </a:t>
            </a:r>
            <a:r>
              <a:rPr lang="nl-BE" dirty="0" err="1"/>
              <a:t>number</a:t>
            </a:r>
            <a:r>
              <a:rPr lang="nl-BE" dirty="0"/>
              <a:t> (</a:t>
            </a:r>
            <a:r>
              <a:rPr lang="nl-BE" dirty="0" err="1"/>
              <a:t>float</a:t>
            </a:r>
            <a:r>
              <a:rPr lang="nl-BE" dirty="0"/>
              <a:t>)</a:t>
            </a:r>
            <a:endParaRPr lang="LID4096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D6FE81-B614-93CF-B23B-EF688702BEF0}"/>
              </a:ext>
            </a:extLst>
          </p:cNvPr>
          <p:cNvSpPr txBox="1"/>
          <p:nvPr/>
        </p:nvSpPr>
        <p:spPr>
          <a:xfrm>
            <a:off x="7426127" y="1084400"/>
            <a:ext cx="495649" cy="46166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nl-BE" sz="2400" dirty="0">
                <a:solidFill>
                  <a:srgbClr val="00B050"/>
                </a:solidFill>
              </a:rPr>
              <a:t>15</a:t>
            </a:r>
            <a:endParaRPr lang="LID4096" sz="2400" dirty="0">
              <a:solidFill>
                <a:srgbClr val="00B05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C2F8D5-3B48-7437-E24A-F3ACB3D256CD}"/>
              </a:ext>
            </a:extLst>
          </p:cNvPr>
          <p:cNvSpPr txBox="1"/>
          <p:nvPr/>
        </p:nvSpPr>
        <p:spPr>
          <a:xfrm>
            <a:off x="3212491" y="1333226"/>
            <a:ext cx="3754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3200" dirty="0"/>
              <a:t>?</a:t>
            </a:r>
            <a:endParaRPr lang="LID4096" sz="3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E71C90-6423-61A9-D1F0-854DC2994286}"/>
              </a:ext>
            </a:extLst>
          </p:cNvPr>
          <p:cNvSpPr/>
          <p:nvPr/>
        </p:nvSpPr>
        <p:spPr>
          <a:xfrm>
            <a:off x="1763688" y="1412776"/>
            <a:ext cx="1872208" cy="4256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D7DA7A-8331-F3C6-DEFC-2B45B7857B69}"/>
              </a:ext>
            </a:extLst>
          </p:cNvPr>
          <p:cNvSpPr txBox="1"/>
          <p:nvPr/>
        </p:nvSpPr>
        <p:spPr>
          <a:xfrm>
            <a:off x="3500523" y="2168076"/>
            <a:ext cx="3754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3200" dirty="0"/>
              <a:t>?</a:t>
            </a:r>
            <a:endParaRPr lang="LID4096" sz="3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23DE97-DEBF-B105-64B1-83273E81686B}"/>
              </a:ext>
            </a:extLst>
          </p:cNvPr>
          <p:cNvSpPr/>
          <p:nvPr/>
        </p:nvSpPr>
        <p:spPr>
          <a:xfrm>
            <a:off x="2051720" y="2247626"/>
            <a:ext cx="1872208" cy="4256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3B1311-6EE1-3438-0E7C-B43B9D308A47}"/>
              </a:ext>
            </a:extLst>
          </p:cNvPr>
          <p:cNvSpPr txBox="1"/>
          <p:nvPr/>
        </p:nvSpPr>
        <p:spPr>
          <a:xfrm>
            <a:off x="3554114" y="2970347"/>
            <a:ext cx="3754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3200" dirty="0"/>
              <a:t>?</a:t>
            </a:r>
            <a:endParaRPr lang="LID4096" sz="32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A58AB7-4B9F-71A6-19C6-F65DBC0919FB}"/>
              </a:ext>
            </a:extLst>
          </p:cNvPr>
          <p:cNvSpPr/>
          <p:nvPr/>
        </p:nvSpPr>
        <p:spPr>
          <a:xfrm>
            <a:off x="2068860" y="3050557"/>
            <a:ext cx="1872208" cy="4256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CC6A8F5-3ACC-FBFC-B9B1-B1C303EA5199}"/>
              </a:ext>
            </a:extLst>
          </p:cNvPr>
          <p:cNvSpPr/>
          <p:nvPr/>
        </p:nvSpPr>
        <p:spPr>
          <a:xfrm>
            <a:off x="2068860" y="3836272"/>
            <a:ext cx="1872208" cy="4256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94B903-2343-2A01-56FB-F714E516C792}"/>
              </a:ext>
            </a:extLst>
          </p:cNvPr>
          <p:cNvSpPr txBox="1"/>
          <p:nvPr/>
        </p:nvSpPr>
        <p:spPr>
          <a:xfrm>
            <a:off x="3518802" y="3772618"/>
            <a:ext cx="3754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3200" dirty="0"/>
              <a:t>?</a:t>
            </a:r>
            <a:endParaRPr lang="LID4096" sz="3200" dirty="0"/>
          </a:p>
        </p:txBody>
      </p:sp>
      <p:pic>
        <p:nvPicPr>
          <p:cNvPr id="10" name="Graphic 9" descr="Close with solid fill">
            <a:extLst>
              <a:ext uri="{FF2B5EF4-FFF2-40B4-BE49-F238E27FC236}">
                <a16:creationId xmlns:a16="http://schemas.microsoft.com/office/drawing/2014/main" id="{4F5E5624-BDE9-854B-EF81-79C9555285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07394" y="1193343"/>
            <a:ext cx="914400" cy="914400"/>
          </a:xfrm>
          <a:prstGeom prst="rect">
            <a:avLst/>
          </a:prstGeom>
        </p:spPr>
      </p:pic>
      <p:pic>
        <p:nvPicPr>
          <p:cNvPr id="13" name="Graphic 12" descr="Close with solid fill">
            <a:extLst>
              <a:ext uri="{FF2B5EF4-FFF2-40B4-BE49-F238E27FC236}">
                <a16:creationId xmlns:a16="http://schemas.microsoft.com/office/drawing/2014/main" id="{02B7F610-DBEF-998A-AAA0-A28FD7AC8B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34771" y="2003264"/>
            <a:ext cx="914400" cy="914400"/>
          </a:xfrm>
          <a:prstGeom prst="rect">
            <a:avLst/>
          </a:prstGeom>
        </p:spPr>
      </p:pic>
      <p:pic>
        <p:nvPicPr>
          <p:cNvPr id="16" name="Graphic 15" descr="Close with solid fill">
            <a:extLst>
              <a:ext uri="{FF2B5EF4-FFF2-40B4-BE49-F238E27FC236}">
                <a16:creationId xmlns:a16="http://schemas.microsoft.com/office/drawing/2014/main" id="{0907E8DA-417F-E8E2-D1BF-6D6CA5D30B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44303" y="2805535"/>
            <a:ext cx="914400" cy="914400"/>
          </a:xfrm>
          <a:prstGeom prst="rect">
            <a:avLst/>
          </a:prstGeom>
        </p:spPr>
      </p:pic>
      <p:pic>
        <p:nvPicPr>
          <p:cNvPr id="22" name="Graphic 21" descr="Checkmark with solid fill">
            <a:extLst>
              <a:ext uri="{FF2B5EF4-FFF2-40B4-BE49-F238E27FC236}">
                <a16:creationId xmlns:a16="http://schemas.microsoft.com/office/drawing/2014/main" id="{A715D8AE-EEEF-4F1F-B226-AA874F3B9B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86921" y="3507757"/>
            <a:ext cx="914400" cy="914400"/>
          </a:xfrm>
          <a:prstGeom prst="rect">
            <a:avLst/>
          </a:prstGeom>
        </p:spPr>
      </p:pic>
      <p:sp>
        <p:nvSpPr>
          <p:cNvPr id="24" name="Speech Bubble: Rectangle 23">
            <a:extLst>
              <a:ext uri="{FF2B5EF4-FFF2-40B4-BE49-F238E27FC236}">
                <a16:creationId xmlns:a16="http://schemas.microsoft.com/office/drawing/2014/main" id="{D1F7A4C2-A509-4E5E-D72C-8AD5D0B2C3E0}"/>
              </a:ext>
            </a:extLst>
          </p:cNvPr>
          <p:cNvSpPr/>
          <p:nvPr/>
        </p:nvSpPr>
        <p:spPr>
          <a:xfrm>
            <a:off x="6129983" y="3477432"/>
            <a:ext cx="2825452" cy="936105"/>
          </a:xfrm>
          <a:prstGeom prst="wedgeRectCallout">
            <a:avLst>
              <a:gd name="adj1" fmla="val -103289"/>
              <a:gd name="adj2" fmla="val 5356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BE" dirty="0" err="1"/>
              <a:t>Variable</a:t>
            </a:r>
            <a:r>
              <a:rPr lang="nl-BE" dirty="0"/>
              <a:t> </a:t>
            </a:r>
            <a:r>
              <a:rPr lang="nl-BE" dirty="0" err="1"/>
              <a:t>grade</a:t>
            </a:r>
            <a:r>
              <a:rPr lang="nl-BE" dirty="0"/>
              <a:t> is made </a:t>
            </a:r>
            <a:r>
              <a:rPr lang="nl-BE" dirty="0" err="1"/>
              <a:t>and</a:t>
            </a:r>
            <a:r>
              <a:rPr lang="nl-BE" dirty="0"/>
              <a:t> </a:t>
            </a:r>
            <a:r>
              <a:rPr lang="nl-BE" dirty="0" err="1"/>
              <a:t>given</a:t>
            </a:r>
            <a:r>
              <a:rPr lang="nl-BE" dirty="0"/>
              <a:t> </a:t>
            </a:r>
            <a:r>
              <a:rPr lang="nl-BE" dirty="0" err="1"/>
              <a:t>value</a:t>
            </a:r>
            <a:r>
              <a:rPr lang="nl-BE" dirty="0"/>
              <a:t> “Cum Laude”</a:t>
            </a:r>
            <a:endParaRPr lang="LID4096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32454B-AFEA-A9D4-D798-2E48B3C0BB2A}"/>
              </a:ext>
            </a:extLst>
          </p:cNvPr>
          <p:cNvSpPr txBox="1"/>
          <p:nvPr/>
        </p:nvSpPr>
        <p:spPr>
          <a:xfrm>
            <a:off x="3693243" y="5872926"/>
            <a:ext cx="1579278" cy="461665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nl-BE" sz="2400" dirty="0">
                <a:solidFill>
                  <a:srgbClr val="00B050"/>
                </a:solidFill>
              </a:rPr>
              <a:t>Cum Laude</a:t>
            </a:r>
            <a:endParaRPr lang="LID4096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6697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/>
      <p:bldP spid="12" grpId="0" animBg="1"/>
      <p:bldP spid="14" grpId="0"/>
      <p:bldP spid="15" grpId="0" animBg="1"/>
      <p:bldP spid="17" grpId="0"/>
      <p:bldP spid="18" grpId="0" animBg="1"/>
      <p:bldP spid="20" grpId="0" animBg="1"/>
      <p:bldP spid="23" grpId="0"/>
      <p:bldP spid="24" grpId="0" animBg="1"/>
      <p:bldP spid="2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0BB77-4ABF-6DDB-9025-A53AD8B42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Exercise</a:t>
            </a:r>
            <a:r>
              <a:rPr lang="nl-BE" dirty="0"/>
              <a:t> 5 – </a:t>
            </a:r>
            <a:r>
              <a:rPr lang="nl-BE" dirty="0" err="1"/>
              <a:t>Generation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AC1CD-C602-1AF2-62BB-4E2ACCB02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Ask birthyear 	</a:t>
            </a:r>
            <a:r>
              <a:rPr lang="en-US" i="1" dirty="0"/>
              <a:t>hint: a number is “int” </a:t>
            </a:r>
            <a:r>
              <a:rPr lang="en-US" i="1" dirty="0">
                <a:sym typeface="Wingdings" panose="05000000000000000000" pitchFamily="2" charset="2"/>
              </a:rPr>
              <a:t> y=int(input(…</a:t>
            </a:r>
            <a:endParaRPr lang="en-US" i="1" dirty="0"/>
          </a:p>
          <a:p>
            <a:endParaRPr lang="en-US" dirty="0"/>
          </a:p>
          <a:p>
            <a:r>
              <a:rPr lang="en-US" dirty="0"/>
              <a:t>Categorize into: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 Baby Boomer Generation – born 1946-1964.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Generation X – born 1965-1979.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Millennials – born 1980-1994.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Generation Z – born 1995-2012.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Gen Alpha – born 2013 – 2025.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Print the generation someone born in that year belongs to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966D16-C94C-602E-C3A0-E7C01935C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68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9672620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83075-71B2-4E7C-B57A-C493C3486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Example</a:t>
            </a:r>
            <a:r>
              <a:rPr lang="nl-BE" dirty="0"/>
              <a:t> : interest </a:t>
            </a:r>
            <a:r>
              <a:rPr lang="nl-BE" dirty="0" err="1"/>
              <a:t>rate</a:t>
            </a:r>
            <a:endParaRPr lang="nl-BE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03C716A-50DE-69FF-873A-1263EB8C7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E3FE4-9B38-42E5-BD59-B6C878C2A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69</a:t>
            </a:fld>
            <a:endParaRPr lang="nl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7E6CF8-83E2-8FA7-62BB-657FC07D4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201" y="1412776"/>
            <a:ext cx="8215247" cy="11944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3729BB7-2CC8-D7EB-7F8D-2C3590D0B13B}"/>
              </a:ext>
            </a:extLst>
          </p:cNvPr>
          <p:cNvSpPr txBox="1"/>
          <p:nvPr/>
        </p:nvSpPr>
        <p:spPr>
          <a:xfrm>
            <a:off x="5652120" y="1268761"/>
            <a:ext cx="962123" cy="46166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nl-BE" sz="2400" dirty="0">
                <a:solidFill>
                  <a:srgbClr val="00B050"/>
                </a:solidFill>
              </a:rPr>
              <a:t>10000</a:t>
            </a:r>
            <a:endParaRPr lang="LID4096" sz="2400" dirty="0">
              <a:solidFill>
                <a:srgbClr val="00B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C13A89-BEA0-C341-6BC1-5EF8E5AB7228}"/>
              </a:ext>
            </a:extLst>
          </p:cNvPr>
          <p:cNvSpPr txBox="1"/>
          <p:nvPr/>
        </p:nvSpPr>
        <p:spPr>
          <a:xfrm>
            <a:off x="7236296" y="1651993"/>
            <a:ext cx="728084" cy="46166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nl-BE" sz="2400" dirty="0">
                <a:solidFill>
                  <a:srgbClr val="00B050"/>
                </a:solidFill>
              </a:rPr>
              <a:t>0.01</a:t>
            </a:r>
            <a:endParaRPr lang="LID4096" sz="2400" dirty="0">
              <a:solidFill>
                <a:srgbClr val="00B05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4E4AB1-FBFF-FF2B-BDD6-A11E81758CC1}"/>
              </a:ext>
            </a:extLst>
          </p:cNvPr>
          <p:cNvSpPr txBox="1"/>
          <p:nvPr/>
        </p:nvSpPr>
        <p:spPr>
          <a:xfrm>
            <a:off x="5833144" y="1937988"/>
            <a:ext cx="651140" cy="46166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nl-BE" sz="2400" dirty="0">
                <a:solidFill>
                  <a:srgbClr val="00B050"/>
                </a:solidFill>
              </a:rPr>
              <a:t>150</a:t>
            </a:r>
            <a:endParaRPr lang="LID4096" sz="2400" dirty="0">
              <a:solidFill>
                <a:srgbClr val="00B05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4F3FE9-6CF4-4169-EF47-1FA7489B01AB}"/>
              </a:ext>
            </a:extLst>
          </p:cNvPr>
          <p:cNvSpPr txBox="1"/>
          <p:nvPr/>
        </p:nvSpPr>
        <p:spPr>
          <a:xfrm>
            <a:off x="5148064" y="2623628"/>
            <a:ext cx="1039067" cy="461665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nl-BE" sz="2400" dirty="0">
                <a:solidFill>
                  <a:srgbClr val="00B050"/>
                </a:solidFill>
              </a:rPr>
              <a:t>9950.0</a:t>
            </a:r>
            <a:endParaRPr lang="LID4096" sz="2400" dirty="0">
              <a:solidFill>
                <a:srgbClr val="00B050"/>
              </a:solidFill>
            </a:endParaRPr>
          </a:p>
        </p:txBody>
      </p:sp>
      <p:graphicFrame>
        <p:nvGraphicFramePr>
          <p:cNvPr id="16" name="Table 16">
            <a:extLst>
              <a:ext uri="{FF2B5EF4-FFF2-40B4-BE49-F238E27FC236}">
                <a16:creationId xmlns:a16="http://schemas.microsoft.com/office/drawing/2014/main" id="{AE657395-DFC9-B8B8-72FD-94774CBC03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374437"/>
              </p:ext>
            </p:extLst>
          </p:nvPr>
        </p:nvGraphicFramePr>
        <p:xfrm>
          <a:off x="971600" y="3821367"/>
          <a:ext cx="3376108" cy="1527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054">
                  <a:extLst>
                    <a:ext uri="{9D8B030D-6E8A-4147-A177-3AD203B41FA5}">
                      <a16:colId xmlns:a16="http://schemas.microsoft.com/office/drawing/2014/main" val="1578293503"/>
                    </a:ext>
                  </a:extLst>
                </a:gridCol>
                <a:gridCol w="1688054">
                  <a:extLst>
                    <a:ext uri="{9D8B030D-6E8A-4147-A177-3AD203B41FA5}">
                      <a16:colId xmlns:a16="http://schemas.microsoft.com/office/drawing/2014/main" val="1598873801"/>
                    </a:ext>
                  </a:extLst>
                </a:gridCol>
              </a:tblGrid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Variable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 err="1"/>
                        <a:t>value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2581224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loan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10000.0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214135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/>
                        <a:t>interest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0.01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5187052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payment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150.0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7616764"/>
                  </a:ext>
                </a:extLst>
              </a:tr>
            </a:tbl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8EE28605-23E1-B548-8510-329945948C46}"/>
              </a:ext>
            </a:extLst>
          </p:cNvPr>
          <p:cNvSpPr/>
          <p:nvPr/>
        </p:nvSpPr>
        <p:spPr>
          <a:xfrm>
            <a:off x="153493" y="4925144"/>
            <a:ext cx="4202483" cy="6589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C258B5-CD5A-DDC2-0818-C1B6054E75AB}"/>
              </a:ext>
            </a:extLst>
          </p:cNvPr>
          <p:cNvSpPr/>
          <p:nvPr/>
        </p:nvSpPr>
        <p:spPr>
          <a:xfrm>
            <a:off x="179512" y="4570932"/>
            <a:ext cx="4202483" cy="6589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96AA9C-745B-F54D-46A6-21AC297946FB}"/>
              </a:ext>
            </a:extLst>
          </p:cNvPr>
          <p:cNvSpPr/>
          <p:nvPr/>
        </p:nvSpPr>
        <p:spPr>
          <a:xfrm>
            <a:off x="179512" y="4194179"/>
            <a:ext cx="4202483" cy="6589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66376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432"/>
    </mc:Choice>
    <mc:Fallback xmlns="">
      <p:transition spd="slow" advTm="494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1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44BC4-6B62-DE69-8F3C-AFD7E7FAD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Reference – operations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940D7-E6E9-E5D2-11A6-62BA3BF9E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70</a:t>
            </a:fld>
            <a:endParaRPr lang="nl-NL"/>
          </a:p>
        </p:txBody>
      </p:sp>
      <p:graphicFrame>
        <p:nvGraphicFramePr>
          <p:cNvPr id="5" name="Table 20">
            <a:extLst>
              <a:ext uri="{FF2B5EF4-FFF2-40B4-BE49-F238E27FC236}">
                <a16:creationId xmlns:a16="http://schemas.microsoft.com/office/drawing/2014/main" id="{6D4AC9BE-597C-CC32-5990-85E9A2D53772}"/>
              </a:ext>
            </a:extLst>
          </p:cNvPr>
          <p:cNvGraphicFramePr>
            <a:graphicFrameLocks noGrp="1"/>
          </p:cNvGraphicFramePr>
          <p:nvPr/>
        </p:nvGraphicFramePr>
        <p:xfrm>
          <a:off x="1403648" y="1124744"/>
          <a:ext cx="6096000" cy="50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29446060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2342015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39561582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7504868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BE" dirty="0" err="1"/>
                        <a:t>operation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 err="1"/>
                        <a:t>meaning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 err="1"/>
                        <a:t>example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 err="1"/>
                        <a:t>result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1132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+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 err="1"/>
                        <a:t>addition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3 + 6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9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841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-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 err="1"/>
                        <a:t>subtraction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3.0 - 7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-4.0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50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*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 err="1"/>
                        <a:t>multiplication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1.7 * 100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170.0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9032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/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 err="1"/>
                        <a:t>division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9/2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4.5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693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//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int </a:t>
                      </a:r>
                      <a:r>
                        <a:rPr lang="nl-BE" dirty="0" err="1"/>
                        <a:t>division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9//2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4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496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%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 err="1"/>
                        <a:t>remainder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9%2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898428"/>
                  </a:ext>
                </a:extLst>
              </a:tr>
              <a:tr h="231224">
                <a:tc>
                  <a:txBody>
                    <a:bodyPr/>
                    <a:lstStyle/>
                    <a:p>
                      <a:endParaRPr lang="LID4096" sz="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sz="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sz="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sz="1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450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==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 err="1"/>
                        <a:t>equality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2 == 1+1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True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6476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!=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 err="1"/>
                        <a:t>inequality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2 != 3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True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3427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&gt;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more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5+3 &gt; 6+2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 err="1"/>
                        <a:t>False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422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&lt;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 err="1"/>
                        <a:t>less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5 &lt; 6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True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519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&lt;=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 err="1"/>
                        <a:t>less</a:t>
                      </a:r>
                      <a:r>
                        <a:rPr lang="nl-BE" dirty="0"/>
                        <a:t> or </a:t>
                      </a:r>
                      <a:r>
                        <a:rPr lang="nl-BE" dirty="0" err="1"/>
                        <a:t>equal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3&lt;=2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 err="1"/>
                        <a:t>False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179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&gt;=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more or </a:t>
                      </a:r>
                      <a:r>
                        <a:rPr lang="nl-BE" dirty="0" err="1"/>
                        <a:t>equal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dirty="0"/>
                        <a:t>5+3 &gt;= 6+2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True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85233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134940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104032-0A1F-1D4C-8C6F-EFA2ED6B1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544" y="1492304"/>
            <a:ext cx="8528912" cy="19366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6ADFE2-05E4-37F3-2E9E-68A9B1162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Payment</a:t>
            </a:r>
            <a:r>
              <a:rPr lang="nl-BE" dirty="0"/>
              <a:t> </a:t>
            </a:r>
            <a:r>
              <a:rPr lang="nl-BE" dirty="0" err="1"/>
              <a:t>Table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2739D9-FC52-B9EA-DB83-7B9544D01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71</a:t>
            </a:fld>
            <a:endParaRPr lang="nl-NL"/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828EF735-E233-0485-2E8C-0AE8AF2777E8}"/>
              </a:ext>
            </a:extLst>
          </p:cNvPr>
          <p:cNvSpPr/>
          <p:nvPr/>
        </p:nvSpPr>
        <p:spPr>
          <a:xfrm>
            <a:off x="3923928" y="1297011"/>
            <a:ext cx="2808312" cy="776042"/>
          </a:xfrm>
          <a:prstGeom prst="wedgeRectCallout">
            <a:avLst>
              <a:gd name="adj1" fmla="val -90102"/>
              <a:gd name="adj2" fmla="val 4948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 err="1">
                <a:solidFill>
                  <a:schemeClr val="tx1"/>
                </a:solidFill>
              </a:rPr>
              <a:t>Execute</a:t>
            </a:r>
            <a:r>
              <a:rPr lang="nl-BE" dirty="0">
                <a:solidFill>
                  <a:schemeClr val="tx1"/>
                </a:solidFill>
              </a:rPr>
              <a:t> </a:t>
            </a:r>
            <a:r>
              <a:rPr lang="nl-BE" dirty="0" err="1">
                <a:solidFill>
                  <a:schemeClr val="tx1"/>
                </a:solidFill>
              </a:rPr>
              <a:t>for</a:t>
            </a:r>
            <a:r>
              <a:rPr lang="nl-BE" dirty="0">
                <a:solidFill>
                  <a:schemeClr val="tx1"/>
                </a:solidFill>
              </a:rPr>
              <a:t> </a:t>
            </a:r>
            <a:r>
              <a:rPr lang="nl-BE" dirty="0" err="1">
                <a:solidFill>
                  <a:schemeClr val="tx1"/>
                </a:solidFill>
              </a:rPr>
              <a:t>month</a:t>
            </a:r>
            <a:r>
              <a:rPr lang="nl-BE" dirty="0">
                <a:solidFill>
                  <a:schemeClr val="tx1"/>
                </a:solidFill>
              </a:rPr>
              <a:t> </a:t>
            </a:r>
            <a:r>
              <a:rPr lang="nl-BE" dirty="0" err="1">
                <a:solidFill>
                  <a:schemeClr val="tx1"/>
                </a:solidFill>
              </a:rPr>
              <a:t>ranging</a:t>
            </a:r>
            <a:r>
              <a:rPr lang="nl-BE" dirty="0">
                <a:solidFill>
                  <a:schemeClr val="tx1"/>
                </a:solidFill>
              </a:rPr>
              <a:t> </a:t>
            </a:r>
            <a:r>
              <a:rPr lang="nl-BE" dirty="0" err="1">
                <a:solidFill>
                  <a:schemeClr val="tx1"/>
                </a:solidFill>
              </a:rPr>
              <a:t>from</a:t>
            </a:r>
            <a:r>
              <a:rPr lang="nl-BE" dirty="0">
                <a:solidFill>
                  <a:schemeClr val="tx1"/>
                </a:solidFill>
              </a:rPr>
              <a:t> 1 </a:t>
            </a:r>
            <a:r>
              <a:rPr lang="nl-BE" dirty="0" err="1">
                <a:solidFill>
                  <a:schemeClr val="tx1"/>
                </a:solidFill>
              </a:rPr>
              <a:t>to</a:t>
            </a:r>
            <a:r>
              <a:rPr lang="nl-BE" dirty="0">
                <a:solidFill>
                  <a:schemeClr val="tx1"/>
                </a:solidFill>
              </a:rPr>
              <a:t> (</a:t>
            </a:r>
            <a:r>
              <a:rPr lang="nl-BE" dirty="0" err="1">
                <a:solidFill>
                  <a:schemeClr val="tx1"/>
                </a:solidFill>
              </a:rPr>
              <a:t>not</a:t>
            </a:r>
            <a:r>
              <a:rPr lang="nl-BE" dirty="0">
                <a:solidFill>
                  <a:schemeClr val="tx1"/>
                </a:solidFill>
              </a:rPr>
              <a:t> </a:t>
            </a:r>
            <a:r>
              <a:rPr lang="nl-BE" dirty="0" err="1">
                <a:solidFill>
                  <a:schemeClr val="tx1"/>
                </a:solidFill>
              </a:rPr>
              <a:t>including</a:t>
            </a:r>
            <a:r>
              <a:rPr lang="nl-BE" dirty="0">
                <a:solidFill>
                  <a:schemeClr val="tx1"/>
                </a:solidFill>
              </a:rPr>
              <a:t>) 10</a:t>
            </a:r>
            <a:endParaRPr lang="LID4096" dirty="0">
              <a:solidFill>
                <a:schemeClr val="tx1"/>
              </a:solidFill>
            </a:endParaRPr>
          </a:p>
        </p:txBody>
      </p:sp>
      <p:graphicFrame>
        <p:nvGraphicFramePr>
          <p:cNvPr id="7" name="Table 16">
            <a:extLst>
              <a:ext uri="{FF2B5EF4-FFF2-40B4-BE49-F238E27FC236}">
                <a16:creationId xmlns:a16="http://schemas.microsoft.com/office/drawing/2014/main" id="{E62E3FB2-DC06-54B3-7A77-9D95E55271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1836244"/>
              </p:ext>
            </p:extLst>
          </p:nvPr>
        </p:nvGraphicFramePr>
        <p:xfrm>
          <a:off x="755576" y="3645024"/>
          <a:ext cx="3376108" cy="1527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054">
                  <a:extLst>
                    <a:ext uri="{9D8B030D-6E8A-4147-A177-3AD203B41FA5}">
                      <a16:colId xmlns:a16="http://schemas.microsoft.com/office/drawing/2014/main" val="1578293503"/>
                    </a:ext>
                  </a:extLst>
                </a:gridCol>
                <a:gridCol w="1688054">
                  <a:extLst>
                    <a:ext uri="{9D8B030D-6E8A-4147-A177-3AD203B41FA5}">
                      <a16:colId xmlns:a16="http://schemas.microsoft.com/office/drawing/2014/main" val="1598873801"/>
                    </a:ext>
                  </a:extLst>
                </a:gridCol>
              </a:tblGrid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Variable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 err="1"/>
                        <a:t>value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2581224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loan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10000.0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214135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/>
                        <a:t>interest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0.1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6031368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payment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150.0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76167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29543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DFE2-05E4-37F3-2E9E-68A9B1162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Payment</a:t>
            </a:r>
            <a:r>
              <a:rPr lang="nl-BE" dirty="0"/>
              <a:t> </a:t>
            </a:r>
            <a:r>
              <a:rPr lang="nl-BE" dirty="0" err="1"/>
              <a:t>Table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2739D9-FC52-B9EA-DB83-7B9544D01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72</a:t>
            </a:fld>
            <a:endParaRPr lang="nl-NL"/>
          </a:p>
        </p:txBody>
      </p:sp>
      <p:graphicFrame>
        <p:nvGraphicFramePr>
          <p:cNvPr id="7" name="Table 16">
            <a:extLst>
              <a:ext uri="{FF2B5EF4-FFF2-40B4-BE49-F238E27FC236}">
                <a16:creationId xmlns:a16="http://schemas.microsoft.com/office/drawing/2014/main" id="{E62E3FB2-DC06-54B3-7A77-9D95E55271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0409721"/>
              </p:ext>
            </p:extLst>
          </p:nvPr>
        </p:nvGraphicFramePr>
        <p:xfrm>
          <a:off x="683568" y="3057395"/>
          <a:ext cx="3376108" cy="1909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054">
                  <a:extLst>
                    <a:ext uri="{9D8B030D-6E8A-4147-A177-3AD203B41FA5}">
                      <a16:colId xmlns:a16="http://schemas.microsoft.com/office/drawing/2014/main" val="1578293503"/>
                    </a:ext>
                  </a:extLst>
                </a:gridCol>
                <a:gridCol w="1688054">
                  <a:extLst>
                    <a:ext uri="{9D8B030D-6E8A-4147-A177-3AD203B41FA5}">
                      <a16:colId xmlns:a16="http://schemas.microsoft.com/office/drawing/2014/main" val="1598873801"/>
                    </a:ext>
                  </a:extLst>
                </a:gridCol>
              </a:tblGrid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Variable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 err="1"/>
                        <a:t>value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2581224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loan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10000.0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214135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/>
                        <a:t>interest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0.1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6031368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payment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150.0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7616764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outstanding</a:t>
                      </a:r>
                      <a:endParaRPr lang="LID4096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10000.0</a:t>
                      </a:r>
                      <a:endParaRPr lang="LID4096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114125"/>
                  </a:ext>
                </a:extLst>
              </a:tr>
            </a:tbl>
          </a:graphicData>
        </a:graphic>
      </p:graphicFrame>
      <p:sp>
        <p:nvSpPr>
          <p:cNvPr id="8" name="Arrow: Right 7">
            <a:extLst>
              <a:ext uri="{FF2B5EF4-FFF2-40B4-BE49-F238E27FC236}">
                <a16:creationId xmlns:a16="http://schemas.microsoft.com/office/drawing/2014/main" id="{5A2B2E43-DC3E-5583-F6A9-DFCAB923BE29}"/>
              </a:ext>
            </a:extLst>
          </p:cNvPr>
          <p:cNvSpPr/>
          <p:nvPr/>
        </p:nvSpPr>
        <p:spPr>
          <a:xfrm>
            <a:off x="194163" y="1021343"/>
            <a:ext cx="288032" cy="2572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7C38D0-E67D-9640-3D38-2B6AF80D8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453" y="980728"/>
            <a:ext cx="8528912" cy="1936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51064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DFE2-05E4-37F3-2E9E-68A9B1162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Payment</a:t>
            </a:r>
            <a:r>
              <a:rPr lang="nl-BE" dirty="0"/>
              <a:t> </a:t>
            </a:r>
            <a:r>
              <a:rPr lang="nl-BE" dirty="0" err="1"/>
              <a:t>Table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2739D9-FC52-B9EA-DB83-7B9544D01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73</a:t>
            </a:fld>
            <a:endParaRPr lang="nl-NL"/>
          </a:p>
        </p:txBody>
      </p:sp>
      <p:graphicFrame>
        <p:nvGraphicFramePr>
          <p:cNvPr id="7" name="Table 16">
            <a:extLst>
              <a:ext uri="{FF2B5EF4-FFF2-40B4-BE49-F238E27FC236}">
                <a16:creationId xmlns:a16="http://schemas.microsoft.com/office/drawing/2014/main" id="{E62E3FB2-DC06-54B3-7A77-9D95E55271D0}"/>
              </a:ext>
            </a:extLst>
          </p:cNvPr>
          <p:cNvGraphicFramePr>
            <a:graphicFrameLocks noGrp="1"/>
          </p:cNvGraphicFramePr>
          <p:nvPr/>
        </p:nvGraphicFramePr>
        <p:xfrm>
          <a:off x="683568" y="3057395"/>
          <a:ext cx="3376108" cy="2291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054">
                  <a:extLst>
                    <a:ext uri="{9D8B030D-6E8A-4147-A177-3AD203B41FA5}">
                      <a16:colId xmlns:a16="http://schemas.microsoft.com/office/drawing/2014/main" val="1578293503"/>
                    </a:ext>
                  </a:extLst>
                </a:gridCol>
                <a:gridCol w="1688054">
                  <a:extLst>
                    <a:ext uri="{9D8B030D-6E8A-4147-A177-3AD203B41FA5}">
                      <a16:colId xmlns:a16="http://schemas.microsoft.com/office/drawing/2014/main" val="1598873801"/>
                    </a:ext>
                  </a:extLst>
                </a:gridCol>
              </a:tblGrid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Variable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 err="1"/>
                        <a:t>value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2581224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loan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10000.0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214135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/>
                        <a:t>interest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0.1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6031368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payment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150.0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7616764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outstanding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10000.0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114125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month</a:t>
                      </a:r>
                      <a:endParaRPr lang="LID4096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</a:t>
                      </a:r>
                      <a:endParaRPr lang="LID4096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460607"/>
                  </a:ext>
                </a:extLst>
              </a:tr>
            </a:tbl>
          </a:graphicData>
        </a:graphic>
      </p:graphicFrame>
      <p:sp>
        <p:nvSpPr>
          <p:cNvPr id="8" name="Arrow: Right 7">
            <a:extLst>
              <a:ext uri="{FF2B5EF4-FFF2-40B4-BE49-F238E27FC236}">
                <a16:creationId xmlns:a16="http://schemas.microsoft.com/office/drawing/2014/main" id="{5A2B2E43-DC3E-5583-F6A9-DFCAB923BE29}"/>
              </a:ext>
            </a:extLst>
          </p:cNvPr>
          <p:cNvSpPr/>
          <p:nvPr/>
        </p:nvSpPr>
        <p:spPr>
          <a:xfrm>
            <a:off x="107504" y="1382039"/>
            <a:ext cx="288032" cy="2572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598469-0336-6AF5-2FC0-EDFA44CB4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815" y="1005895"/>
            <a:ext cx="8528912" cy="1936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38667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63C12-3EBA-A8E2-23CD-13CD88514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4A878-1DD1-09C4-7BD2-C272AE03D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Payment</a:t>
            </a:r>
            <a:r>
              <a:rPr lang="nl-BE" dirty="0"/>
              <a:t> </a:t>
            </a:r>
            <a:r>
              <a:rPr lang="nl-BE" dirty="0" err="1"/>
              <a:t>Table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F0B67A-4A26-AF16-9D4E-CBEA88E08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74</a:t>
            </a:fld>
            <a:endParaRPr lang="nl-NL"/>
          </a:p>
        </p:txBody>
      </p:sp>
      <p:graphicFrame>
        <p:nvGraphicFramePr>
          <p:cNvPr id="7" name="Table 16">
            <a:extLst>
              <a:ext uri="{FF2B5EF4-FFF2-40B4-BE49-F238E27FC236}">
                <a16:creationId xmlns:a16="http://schemas.microsoft.com/office/drawing/2014/main" id="{6F8C5DCD-A4D2-E045-BD96-D87AEDE80FCE}"/>
              </a:ext>
            </a:extLst>
          </p:cNvPr>
          <p:cNvGraphicFramePr>
            <a:graphicFrameLocks noGrp="1"/>
          </p:cNvGraphicFramePr>
          <p:nvPr/>
        </p:nvGraphicFramePr>
        <p:xfrm>
          <a:off x="683568" y="3057395"/>
          <a:ext cx="3376108" cy="2291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054">
                  <a:extLst>
                    <a:ext uri="{9D8B030D-6E8A-4147-A177-3AD203B41FA5}">
                      <a16:colId xmlns:a16="http://schemas.microsoft.com/office/drawing/2014/main" val="1578293503"/>
                    </a:ext>
                  </a:extLst>
                </a:gridCol>
                <a:gridCol w="1688054">
                  <a:extLst>
                    <a:ext uri="{9D8B030D-6E8A-4147-A177-3AD203B41FA5}">
                      <a16:colId xmlns:a16="http://schemas.microsoft.com/office/drawing/2014/main" val="1598873801"/>
                    </a:ext>
                  </a:extLst>
                </a:gridCol>
              </a:tblGrid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Variable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 err="1"/>
                        <a:t>value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2581224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loan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10000.0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214135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/>
                        <a:t>interest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0.1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6031368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payment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150.0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7616764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outstanding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10000.0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114125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month</a:t>
                      </a:r>
                      <a:endParaRPr lang="LID4096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</a:t>
                      </a:r>
                      <a:endParaRPr lang="LID4096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460607"/>
                  </a:ext>
                </a:extLst>
              </a:tr>
            </a:tbl>
          </a:graphicData>
        </a:graphic>
      </p:graphicFrame>
      <p:sp>
        <p:nvSpPr>
          <p:cNvPr id="8" name="Arrow: Right 7">
            <a:extLst>
              <a:ext uri="{FF2B5EF4-FFF2-40B4-BE49-F238E27FC236}">
                <a16:creationId xmlns:a16="http://schemas.microsoft.com/office/drawing/2014/main" id="{A3CB4D39-F754-67E5-0F8C-DF221F664793}"/>
              </a:ext>
            </a:extLst>
          </p:cNvPr>
          <p:cNvSpPr/>
          <p:nvPr/>
        </p:nvSpPr>
        <p:spPr>
          <a:xfrm>
            <a:off x="111636" y="1688242"/>
            <a:ext cx="288032" cy="2572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A5C5FD-4EA0-7D68-6D24-56A482A82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815" y="1005895"/>
            <a:ext cx="8528912" cy="1936696"/>
          </a:xfrm>
          <a:prstGeom prst="rect">
            <a:avLst/>
          </a:prstGeom>
        </p:spPr>
      </p:pic>
      <p:pic>
        <p:nvPicPr>
          <p:cNvPr id="5" name="Graphic 4" descr="Checkmark with solid fill">
            <a:extLst>
              <a:ext uri="{FF2B5EF4-FFF2-40B4-BE49-F238E27FC236}">
                <a16:creationId xmlns:a16="http://schemas.microsoft.com/office/drawing/2014/main" id="{72F31575-D882-D120-EA8C-74DC093B3A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8802" y="106107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338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DFE2-05E4-37F3-2E9E-68A9B1162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Payment</a:t>
            </a:r>
            <a:r>
              <a:rPr lang="nl-BE" dirty="0"/>
              <a:t> </a:t>
            </a:r>
            <a:r>
              <a:rPr lang="nl-BE" dirty="0" err="1"/>
              <a:t>Table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2739D9-FC52-B9EA-DB83-7B9544D01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75</a:t>
            </a:fld>
            <a:endParaRPr lang="nl-NL"/>
          </a:p>
        </p:txBody>
      </p:sp>
      <p:graphicFrame>
        <p:nvGraphicFramePr>
          <p:cNvPr id="7" name="Table 16">
            <a:extLst>
              <a:ext uri="{FF2B5EF4-FFF2-40B4-BE49-F238E27FC236}">
                <a16:creationId xmlns:a16="http://schemas.microsoft.com/office/drawing/2014/main" id="{E62E3FB2-DC06-54B3-7A77-9D95E55271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0399575"/>
              </p:ext>
            </p:extLst>
          </p:nvPr>
        </p:nvGraphicFramePr>
        <p:xfrm>
          <a:off x="683568" y="3057395"/>
          <a:ext cx="3376108" cy="2291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054">
                  <a:extLst>
                    <a:ext uri="{9D8B030D-6E8A-4147-A177-3AD203B41FA5}">
                      <a16:colId xmlns:a16="http://schemas.microsoft.com/office/drawing/2014/main" val="1578293503"/>
                    </a:ext>
                  </a:extLst>
                </a:gridCol>
                <a:gridCol w="1688054">
                  <a:extLst>
                    <a:ext uri="{9D8B030D-6E8A-4147-A177-3AD203B41FA5}">
                      <a16:colId xmlns:a16="http://schemas.microsoft.com/office/drawing/2014/main" val="1598873801"/>
                    </a:ext>
                  </a:extLst>
                </a:gridCol>
              </a:tblGrid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Variable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 err="1"/>
                        <a:t>value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2581224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loan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10000.0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0222325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/>
                        <a:t>interest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0.1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6031368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payment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150.0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7616764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outstanding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10850.0</a:t>
                      </a:r>
                      <a:endParaRPr lang="LID4096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114125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month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7460607"/>
                  </a:ext>
                </a:extLst>
              </a:tr>
            </a:tbl>
          </a:graphicData>
        </a:graphic>
      </p:graphicFrame>
      <p:sp>
        <p:nvSpPr>
          <p:cNvPr id="8" name="Arrow: Right 7">
            <a:extLst>
              <a:ext uri="{FF2B5EF4-FFF2-40B4-BE49-F238E27FC236}">
                <a16:creationId xmlns:a16="http://schemas.microsoft.com/office/drawing/2014/main" id="{5A2B2E43-DC3E-5583-F6A9-DFCAB923BE29}"/>
              </a:ext>
            </a:extLst>
          </p:cNvPr>
          <p:cNvSpPr/>
          <p:nvPr/>
        </p:nvSpPr>
        <p:spPr>
          <a:xfrm>
            <a:off x="147419" y="1974243"/>
            <a:ext cx="288032" cy="2572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2D58C1-F5BD-60F3-96B3-32E4A5ABB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815" y="1005895"/>
            <a:ext cx="8528912" cy="1936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30761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DFE2-05E4-37F3-2E9E-68A9B1162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Payment</a:t>
            </a:r>
            <a:r>
              <a:rPr lang="nl-BE" dirty="0"/>
              <a:t> </a:t>
            </a:r>
            <a:r>
              <a:rPr lang="nl-BE" dirty="0" err="1"/>
              <a:t>Table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2739D9-FC52-B9EA-DB83-7B9544D01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76</a:t>
            </a:fld>
            <a:endParaRPr lang="nl-NL"/>
          </a:p>
        </p:txBody>
      </p:sp>
      <p:graphicFrame>
        <p:nvGraphicFramePr>
          <p:cNvPr id="7" name="Table 16">
            <a:extLst>
              <a:ext uri="{FF2B5EF4-FFF2-40B4-BE49-F238E27FC236}">
                <a16:creationId xmlns:a16="http://schemas.microsoft.com/office/drawing/2014/main" id="{E62E3FB2-DC06-54B3-7A77-9D95E55271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332535"/>
              </p:ext>
            </p:extLst>
          </p:nvPr>
        </p:nvGraphicFramePr>
        <p:xfrm>
          <a:off x="683568" y="3057395"/>
          <a:ext cx="3376108" cy="2291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054">
                  <a:extLst>
                    <a:ext uri="{9D8B030D-6E8A-4147-A177-3AD203B41FA5}">
                      <a16:colId xmlns:a16="http://schemas.microsoft.com/office/drawing/2014/main" val="1578293503"/>
                    </a:ext>
                  </a:extLst>
                </a:gridCol>
                <a:gridCol w="1688054">
                  <a:extLst>
                    <a:ext uri="{9D8B030D-6E8A-4147-A177-3AD203B41FA5}">
                      <a16:colId xmlns:a16="http://schemas.microsoft.com/office/drawing/2014/main" val="1598873801"/>
                    </a:ext>
                  </a:extLst>
                </a:gridCol>
              </a:tblGrid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Variable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 err="1"/>
                        <a:t>value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2581224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loan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10000.0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214135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/>
                        <a:t>interest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0.1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6031368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payment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150.0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7616764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outstanding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10850.0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114125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month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7460607"/>
                  </a:ext>
                </a:extLst>
              </a:tr>
            </a:tbl>
          </a:graphicData>
        </a:graphic>
      </p:graphicFrame>
      <p:sp>
        <p:nvSpPr>
          <p:cNvPr id="8" name="Arrow: Right 7">
            <a:extLst>
              <a:ext uri="{FF2B5EF4-FFF2-40B4-BE49-F238E27FC236}">
                <a16:creationId xmlns:a16="http://schemas.microsoft.com/office/drawing/2014/main" id="{5A2B2E43-DC3E-5583-F6A9-DFCAB923BE29}"/>
              </a:ext>
            </a:extLst>
          </p:cNvPr>
          <p:cNvSpPr/>
          <p:nvPr/>
        </p:nvSpPr>
        <p:spPr>
          <a:xfrm>
            <a:off x="157929" y="2297892"/>
            <a:ext cx="288032" cy="2572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5627D5-42AE-9CF7-A283-CD45FCB7F117}"/>
              </a:ext>
            </a:extLst>
          </p:cNvPr>
          <p:cNvSpPr txBox="1"/>
          <p:nvPr/>
        </p:nvSpPr>
        <p:spPr>
          <a:xfrm>
            <a:off x="4427984" y="3045019"/>
            <a:ext cx="4543423" cy="40011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nl-BE" sz="2000" dirty="0" err="1">
                <a:solidFill>
                  <a:srgbClr val="00B050"/>
                </a:solidFill>
              </a:rPr>
              <a:t>Outstanding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loan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after</a:t>
            </a:r>
            <a:r>
              <a:rPr lang="nl-BE" sz="2000" dirty="0">
                <a:solidFill>
                  <a:srgbClr val="00B050"/>
                </a:solidFill>
              </a:rPr>
              <a:t> 1 </a:t>
            </a:r>
            <a:r>
              <a:rPr lang="nl-BE" sz="2000" dirty="0" err="1">
                <a:solidFill>
                  <a:srgbClr val="00B050"/>
                </a:solidFill>
              </a:rPr>
              <a:t>months</a:t>
            </a:r>
            <a:r>
              <a:rPr lang="nl-BE" sz="2000" dirty="0">
                <a:solidFill>
                  <a:srgbClr val="00B050"/>
                </a:solidFill>
              </a:rPr>
              <a:t>: 10850.0</a:t>
            </a:r>
            <a:endParaRPr lang="LID4096" sz="2000" dirty="0">
              <a:solidFill>
                <a:srgbClr val="00B05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BFD39B-7860-31F2-880E-2BF6B9A54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815" y="1005895"/>
            <a:ext cx="8528912" cy="1936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20962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DFE2-05E4-37F3-2E9E-68A9B1162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Payment</a:t>
            </a:r>
            <a:r>
              <a:rPr lang="nl-BE" dirty="0"/>
              <a:t> </a:t>
            </a:r>
            <a:r>
              <a:rPr lang="nl-BE" dirty="0" err="1"/>
              <a:t>Table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2739D9-FC52-B9EA-DB83-7B9544D01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77</a:t>
            </a:fld>
            <a:endParaRPr lang="nl-NL"/>
          </a:p>
        </p:txBody>
      </p:sp>
      <p:graphicFrame>
        <p:nvGraphicFramePr>
          <p:cNvPr id="7" name="Table 16">
            <a:extLst>
              <a:ext uri="{FF2B5EF4-FFF2-40B4-BE49-F238E27FC236}">
                <a16:creationId xmlns:a16="http://schemas.microsoft.com/office/drawing/2014/main" id="{E62E3FB2-DC06-54B3-7A77-9D95E55271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8438028"/>
              </p:ext>
            </p:extLst>
          </p:nvPr>
        </p:nvGraphicFramePr>
        <p:xfrm>
          <a:off x="683568" y="3057395"/>
          <a:ext cx="3376108" cy="2291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054">
                  <a:extLst>
                    <a:ext uri="{9D8B030D-6E8A-4147-A177-3AD203B41FA5}">
                      <a16:colId xmlns:a16="http://schemas.microsoft.com/office/drawing/2014/main" val="1578293503"/>
                    </a:ext>
                  </a:extLst>
                </a:gridCol>
                <a:gridCol w="1688054">
                  <a:extLst>
                    <a:ext uri="{9D8B030D-6E8A-4147-A177-3AD203B41FA5}">
                      <a16:colId xmlns:a16="http://schemas.microsoft.com/office/drawing/2014/main" val="1598873801"/>
                    </a:ext>
                  </a:extLst>
                </a:gridCol>
              </a:tblGrid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Variable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 err="1"/>
                        <a:t>value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2581224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loan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10000.0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214135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/>
                        <a:t>interest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0.1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6031368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payment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150.0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7616764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outstanding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dirty="0"/>
                        <a:t>10850.0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114125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month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2</a:t>
                      </a:r>
                      <a:endParaRPr lang="LID4096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6379973"/>
                  </a:ext>
                </a:extLst>
              </a:tr>
            </a:tbl>
          </a:graphicData>
        </a:graphic>
      </p:graphicFrame>
      <p:sp>
        <p:nvSpPr>
          <p:cNvPr id="8" name="Arrow: Right 7">
            <a:extLst>
              <a:ext uri="{FF2B5EF4-FFF2-40B4-BE49-F238E27FC236}">
                <a16:creationId xmlns:a16="http://schemas.microsoft.com/office/drawing/2014/main" id="{5A2B2E43-DC3E-5583-F6A9-DFCAB923BE29}"/>
              </a:ext>
            </a:extLst>
          </p:cNvPr>
          <p:cNvSpPr/>
          <p:nvPr/>
        </p:nvSpPr>
        <p:spPr>
          <a:xfrm>
            <a:off x="169168" y="2627944"/>
            <a:ext cx="288032" cy="2572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FE1ACF-864E-E224-5E7E-20913661FAD3}"/>
              </a:ext>
            </a:extLst>
          </p:cNvPr>
          <p:cNvSpPr txBox="1"/>
          <p:nvPr/>
        </p:nvSpPr>
        <p:spPr>
          <a:xfrm>
            <a:off x="4427984" y="3045019"/>
            <a:ext cx="4543423" cy="40011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nl-BE" sz="2000" dirty="0" err="1">
                <a:solidFill>
                  <a:srgbClr val="00B050"/>
                </a:solidFill>
              </a:rPr>
              <a:t>Outstanding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loan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after</a:t>
            </a:r>
            <a:r>
              <a:rPr lang="nl-BE" sz="2000" dirty="0">
                <a:solidFill>
                  <a:srgbClr val="00B050"/>
                </a:solidFill>
              </a:rPr>
              <a:t> 1 </a:t>
            </a:r>
            <a:r>
              <a:rPr lang="nl-BE" sz="2000" dirty="0" err="1">
                <a:solidFill>
                  <a:srgbClr val="00B050"/>
                </a:solidFill>
              </a:rPr>
              <a:t>months</a:t>
            </a:r>
            <a:r>
              <a:rPr lang="nl-BE" sz="2000" dirty="0">
                <a:solidFill>
                  <a:srgbClr val="00B050"/>
                </a:solidFill>
              </a:rPr>
              <a:t>: 10850.0</a:t>
            </a:r>
            <a:endParaRPr lang="LID4096" sz="2000" dirty="0">
              <a:solidFill>
                <a:srgbClr val="00B05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DD531F-77A4-B81E-D47B-3FAD00D45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815" y="1005895"/>
            <a:ext cx="8528912" cy="1936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11780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4DA07-F57B-C20E-27CC-733185A44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48D6D-1BD8-EBA6-8056-B7CCB656A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Payment</a:t>
            </a:r>
            <a:r>
              <a:rPr lang="nl-BE" dirty="0"/>
              <a:t> </a:t>
            </a:r>
            <a:r>
              <a:rPr lang="nl-BE" dirty="0" err="1"/>
              <a:t>Table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63F23-398B-8C65-96D1-A40A7C62A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78</a:t>
            </a:fld>
            <a:endParaRPr lang="nl-NL"/>
          </a:p>
        </p:txBody>
      </p:sp>
      <p:graphicFrame>
        <p:nvGraphicFramePr>
          <p:cNvPr id="7" name="Table 16">
            <a:extLst>
              <a:ext uri="{FF2B5EF4-FFF2-40B4-BE49-F238E27FC236}">
                <a16:creationId xmlns:a16="http://schemas.microsoft.com/office/drawing/2014/main" id="{E16AAA8C-6114-019F-227C-D311F6F0EAE6}"/>
              </a:ext>
            </a:extLst>
          </p:cNvPr>
          <p:cNvGraphicFramePr>
            <a:graphicFrameLocks noGrp="1"/>
          </p:cNvGraphicFramePr>
          <p:nvPr/>
        </p:nvGraphicFramePr>
        <p:xfrm>
          <a:off x="683568" y="3057395"/>
          <a:ext cx="3376108" cy="2291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054">
                  <a:extLst>
                    <a:ext uri="{9D8B030D-6E8A-4147-A177-3AD203B41FA5}">
                      <a16:colId xmlns:a16="http://schemas.microsoft.com/office/drawing/2014/main" val="1578293503"/>
                    </a:ext>
                  </a:extLst>
                </a:gridCol>
                <a:gridCol w="1688054">
                  <a:extLst>
                    <a:ext uri="{9D8B030D-6E8A-4147-A177-3AD203B41FA5}">
                      <a16:colId xmlns:a16="http://schemas.microsoft.com/office/drawing/2014/main" val="1598873801"/>
                    </a:ext>
                  </a:extLst>
                </a:gridCol>
              </a:tblGrid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Variable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 err="1"/>
                        <a:t>value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2581224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loan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10000.0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214135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/>
                        <a:t>interest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0.1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6031368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payment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150.0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7616764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outstanding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dirty="0"/>
                        <a:t>10850.0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114125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month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2</a:t>
                      </a:r>
                      <a:endParaRPr lang="LID4096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6379973"/>
                  </a:ext>
                </a:extLst>
              </a:tr>
            </a:tbl>
          </a:graphicData>
        </a:graphic>
      </p:graphicFrame>
      <p:sp>
        <p:nvSpPr>
          <p:cNvPr id="8" name="Arrow: Right 7">
            <a:extLst>
              <a:ext uri="{FF2B5EF4-FFF2-40B4-BE49-F238E27FC236}">
                <a16:creationId xmlns:a16="http://schemas.microsoft.com/office/drawing/2014/main" id="{633D3D21-2312-44C7-6B7F-C35CD984572E}"/>
              </a:ext>
            </a:extLst>
          </p:cNvPr>
          <p:cNvSpPr/>
          <p:nvPr/>
        </p:nvSpPr>
        <p:spPr>
          <a:xfrm>
            <a:off x="147419" y="1693178"/>
            <a:ext cx="288032" cy="2572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5AAB35-1FB8-8F09-8452-67D448B2D771}"/>
              </a:ext>
            </a:extLst>
          </p:cNvPr>
          <p:cNvSpPr txBox="1"/>
          <p:nvPr/>
        </p:nvSpPr>
        <p:spPr>
          <a:xfrm>
            <a:off x="4427984" y="3045019"/>
            <a:ext cx="4543423" cy="40011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nl-BE" sz="2000" dirty="0" err="1">
                <a:solidFill>
                  <a:srgbClr val="00B050"/>
                </a:solidFill>
              </a:rPr>
              <a:t>Outstanding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loan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after</a:t>
            </a:r>
            <a:r>
              <a:rPr lang="nl-BE" sz="2000" dirty="0">
                <a:solidFill>
                  <a:srgbClr val="00B050"/>
                </a:solidFill>
              </a:rPr>
              <a:t> 1 </a:t>
            </a:r>
            <a:r>
              <a:rPr lang="nl-BE" sz="2000" dirty="0" err="1">
                <a:solidFill>
                  <a:srgbClr val="00B050"/>
                </a:solidFill>
              </a:rPr>
              <a:t>months</a:t>
            </a:r>
            <a:r>
              <a:rPr lang="nl-BE" sz="2000" dirty="0">
                <a:solidFill>
                  <a:srgbClr val="00B050"/>
                </a:solidFill>
              </a:rPr>
              <a:t>: 10850.0</a:t>
            </a:r>
            <a:endParaRPr lang="LID4096" sz="2000" dirty="0">
              <a:solidFill>
                <a:srgbClr val="00B05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D005C0-3F27-40D2-BE49-05879CB69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815" y="1005895"/>
            <a:ext cx="8528912" cy="1936696"/>
          </a:xfrm>
          <a:prstGeom prst="rect">
            <a:avLst/>
          </a:prstGeom>
        </p:spPr>
      </p:pic>
      <p:pic>
        <p:nvPicPr>
          <p:cNvPr id="5" name="Graphic 4" descr="Checkmark with solid fill">
            <a:extLst>
              <a:ext uri="{FF2B5EF4-FFF2-40B4-BE49-F238E27FC236}">
                <a16:creationId xmlns:a16="http://schemas.microsoft.com/office/drawing/2014/main" id="{BA2A2C8C-7987-578E-F0B2-20DFFE7C90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8802" y="106107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366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DFE2-05E4-37F3-2E9E-68A9B1162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Payment</a:t>
            </a:r>
            <a:r>
              <a:rPr lang="nl-BE" dirty="0"/>
              <a:t> </a:t>
            </a:r>
            <a:r>
              <a:rPr lang="nl-BE" dirty="0" err="1"/>
              <a:t>Table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2739D9-FC52-B9EA-DB83-7B9544D01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79</a:t>
            </a:fld>
            <a:endParaRPr lang="nl-NL"/>
          </a:p>
        </p:txBody>
      </p:sp>
      <p:graphicFrame>
        <p:nvGraphicFramePr>
          <p:cNvPr id="7" name="Table 16">
            <a:extLst>
              <a:ext uri="{FF2B5EF4-FFF2-40B4-BE49-F238E27FC236}">
                <a16:creationId xmlns:a16="http://schemas.microsoft.com/office/drawing/2014/main" id="{E62E3FB2-DC06-54B3-7A77-9D95E55271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286669"/>
              </p:ext>
            </p:extLst>
          </p:nvPr>
        </p:nvGraphicFramePr>
        <p:xfrm>
          <a:off x="683568" y="3057395"/>
          <a:ext cx="3376108" cy="2291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054">
                  <a:extLst>
                    <a:ext uri="{9D8B030D-6E8A-4147-A177-3AD203B41FA5}">
                      <a16:colId xmlns:a16="http://schemas.microsoft.com/office/drawing/2014/main" val="1578293503"/>
                    </a:ext>
                  </a:extLst>
                </a:gridCol>
                <a:gridCol w="1688054">
                  <a:extLst>
                    <a:ext uri="{9D8B030D-6E8A-4147-A177-3AD203B41FA5}">
                      <a16:colId xmlns:a16="http://schemas.microsoft.com/office/drawing/2014/main" val="1598873801"/>
                    </a:ext>
                  </a:extLst>
                </a:gridCol>
              </a:tblGrid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Variable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 err="1"/>
                        <a:t>value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2581224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loan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10000.0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214135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/>
                        <a:t>interest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0.1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6031368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payment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150.0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7616764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outstanding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11785.0</a:t>
                      </a:r>
                      <a:endParaRPr lang="LID4096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114125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month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2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7460607"/>
                  </a:ext>
                </a:extLst>
              </a:tr>
            </a:tbl>
          </a:graphicData>
        </a:graphic>
      </p:graphicFrame>
      <p:sp>
        <p:nvSpPr>
          <p:cNvPr id="8" name="Arrow: Right 7">
            <a:extLst>
              <a:ext uri="{FF2B5EF4-FFF2-40B4-BE49-F238E27FC236}">
                <a16:creationId xmlns:a16="http://schemas.microsoft.com/office/drawing/2014/main" id="{5A2B2E43-DC3E-5583-F6A9-DFCAB923BE29}"/>
              </a:ext>
            </a:extLst>
          </p:cNvPr>
          <p:cNvSpPr/>
          <p:nvPr/>
        </p:nvSpPr>
        <p:spPr>
          <a:xfrm>
            <a:off x="111636" y="1974243"/>
            <a:ext cx="288032" cy="2572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5627D5-42AE-9CF7-A283-CD45FCB7F117}"/>
              </a:ext>
            </a:extLst>
          </p:cNvPr>
          <p:cNvSpPr txBox="1"/>
          <p:nvPr/>
        </p:nvSpPr>
        <p:spPr>
          <a:xfrm>
            <a:off x="4427984" y="3045019"/>
            <a:ext cx="4543423" cy="40011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nl-BE" sz="2000" dirty="0" err="1">
                <a:solidFill>
                  <a:srgbClr val="00B050"/>
                </a:solidFill>
              </a:rPr>
              <a:t>Outstanding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loan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after</a:t>
            </a:r>
            <a:r>
              <a:rPr lang="nl-BE" sz="2000" dirty="0">
                <a:solidFill>
                  <a:srgbClr val="00B050"/>
                </a:solidFill>
              </a:rPr>
              <a:t> 1 </a:t>
            </a:r>
            <a:r>
              <a:rPr lang="nl-BE" sz="2000" dirty="0" err="1">
                <a:solidFill>
                  <a:srgbClr val="00B050"/>
                </a:solidFill>
              </a:rPr>
              <a:t>months</a:t>
            </a:r>
            <a:r>
              <a:rPr lang="nl-BE" sz="2000" dirty="0">
                <a:solidFill>
                  <a:srgbClr val="00B050"/>
                </a:solidFill>
              </a:rPr>
              <a:t>: 10850.0</a:t>
            </a:r>
            <a:endParaRPr lang="LID4096" sz="2000" dirty="0">
              <a:solidFill>
                <a:srgbClr val="00B05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41DDD5-EC23-4984-3E4B-FE7EB992E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815" y="1005895"/>
            <a:ext cx="8528912" cy="1936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20911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DFE2-05E4-37F3-2E9E-68A9B1162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Payment</a:t>
            </a:r>
            <a:r>
              <a:rPr lang="nl-BE" dirty="0"/>
              <a:t> </a:t>
            </a:r>
            <a:r>
              <a:rPr lang="nl-BE" dirty="0" err="1"/>
              <a:t>Table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2739D9-FC52-B9EA-DB83-7B9544D01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80</a:t>
            </a:fld>
            <a:endParaRPr lang="nl-NL"/>
          </a:p>
        </p:txBody>
      </p:sp>
      <p:graphicFrame>
        <p:nvGraphicFramePr>
          <p:cNvPr id="7" name="Table 16">
            <a:extLst>
              <a:ext uri="{FF2B5EF4-FFF2-40B4-BE49-F238E27FC236}">
                <a16:creationId xmlns:a16="http://schemas.microsoft.com/office/drawing/2014/main" id="{E62E3FB2-DC06-54B3-7A77-9D95E55271D0}"/>
              </a:ext>
            </a:extLst>
          </p:cNvPr>
          <p:cNvGraphicFramePr>
            <a:graphicFrameLocks noGrp="1"/>
          </p:cNvGraphicFramePr>
          <p:nvPr/>
        </p:nvGraphicFramePr>
        <p:xfrm>
          <a:off x="683568" y="3057395"/>
          <a:ext cx="3376108" cy="2291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054">
                  <a:extLst>
                    <a:ext uri="{9D8B030D-6E8A-4147-A177-3AD203B41FA5}">
                      <a16:colId xmlns:a16="http://schemas.microsoft.com/office/drawing/2014/main" val="1578293503"/>
                    </a:ext>
                  </a:extLst>
                </a:gridCol>
                <a:gridCol w="1688054">
                  <a:extLst>
                    <a:ext uri="{9D8B030D-6E8A-4147-A177-3AD203B41FA5}">
                      <a16:colId xmlns:a16="http://schemas.microsoft.com/office/drawing/2014/main" val="1598873801"/>
                    </a:ext>
                  </a:extLst>
                </a:gridCol>
              </a:tblGrid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Variable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 err="1"/>
                        <a:t>value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2581224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loan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10000.0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214135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/>
                        <a:t>interest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0.1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6031368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payment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150.0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7616764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outstanding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11785.0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114125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month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2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7460607"/>
                  </a:ext>
                </a:extLst>
              </a:tr>
            </a:tbl>
          </a:graphicData>
        </a:graphic>
      </p:graphicFrame>
      <p:sp>
        <p:nvSpPr>
          <p:cNvPr id="8" name="Arrow: Right 7">
            <a:extLst>
              <a:ext uri="{FF2B5EF4-FFF2-40B4-BE49-F238E27FC236}">
                <a16:creationId xmlns:a16="http://schemas.microsoft.com/office/drawing/2014/main" id="{5A2B2E43-DC3E-5583-F6A9-DFCAB923BE29}"/>
              </a:ext>
            </a:extLst>
          </p:cNvPr>
          <p:cNvSpPr/>
          <p:nvPr/>
        </p:nvSpPr>
        <p:spPr>
          <a:xfrm>
            <a:off x="226422" y="2287382"/>
            <a:ext cx="288032" cy="2572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5627D5-42AE-9CF7-A283-CD45FCB7F117}"/>
              </a:ext>
            </a:extLst>
          </p:cNvPr>
          <p:cNvSpPr txBox="1"/>
          <p:nvPr/>
        </p:nvSpPr>
        <p:spPr>
          <a:xfrm>
            <a:off x="4427984" y="3045019"/>
            <a:ext cx="4543423" cy="70788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nl-BE" sz="2000" dirty="0" err="1">
                <a:solidFill>
                  <a:srgbClr val="00B050"/>
                </a:solidFill>
              </a:rPr>
              <a:t>Outstanding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loan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after</a:t>
            </a:r>
            <a:r>
              <a:rPr lang="nl-BE" sz="2000" dirty="0">
                <a:solidFill>
                  <a:srgbClr val="00B050"/>
                </a:solidFill>
              </a:rPr>
              <a:t> 1 </a:t>
            </a:r>
            <a:r>
              <a:rPr lang="nl-BE" sz="2000" dirty="0" err="1">
                <a:solidFill>
                  <a:srgbClr val="00B050"/>
                </a:solidFill>
              </a:rPr>
              <a:t>months</a:t>
            </a:r>
            <a:r>
              <a:rPr lang="nl-BE" sz="2000" dirty="0">
                <a:solidFill>
                  <a:srgbClr val="00B050"/>
                </a:solidFill>
              </a:rPr>
              <a:t>: 10850.0</a:t>
            </a:r>
          </a:p>
          <a:p>
            <a:r>
              <a:rPr lang="nl-BE" sz="2000" dirty="0" err="1">
                <a:solidFill>
                  <a:srgbClr val="00B050"/>
                </a:solidFill>
              </a:rPr>
              <a:t>Outstanding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loan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after</a:t>
            </a:r>
            <a:r>
              <a:rPr lang="nl-BE" sz="2000" dirty="0">
                <a:solidFill>
                  <a:srgbClr val="00B050"/>
                </a:solidFill>
              </a:rPr>
              <a:t> 2 </a:t>
            </a:r>
            <a:r>
              <a:rPr lang="nl-BE" sz="2000" dirty="0" err="1">
                <a:solidFill>
                  <a:srgbClr val="00B050"/>
                </a:solidFill>
              </a:rPr>
              <a:t>months</a:t>
            </a:r>
            <a:r>
              <a:rPr lang="nl-BE" sz="2000" dirty="0">
                <a:solidFill>
                  <a:srgbClr val="00B050"/>
                </a:solidFill>
              </a:rPr>
              <a:t>: 11785.0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47B599-674B-6F5A-B57C-F2377530D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815" y="1005895"/>
            <a:ext cx="8528912" cy="1936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62577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DFE2-05E4-37F3-2E9E-68A9B1162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Payment</a:t>
            </a:r>
            <a:r>
              <a:rPr lang="nl-BE" dirty="0"/>
              <a:t> </a:t>
            </a:r>
            <a:r>
              <a:rPr lang="nl-BE" dirty="0" err="1"/>
              <a:t>Table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2739D9-FC52-B9EA-DB83-7B9544D01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81</a:t>
            </a:fld>
            <a:endParaRPr lang="nl-NL"/>
          </a:p>
        </p:txBody>
      </p:sp>
      <p:graphicFrame>
        <p:nvGraphicFramePr>
          <p:cNvPr id="7" name="Table 16">
            <a:extLst>
              <a:ext uri="{FF2B5EF4-FFF2-40B4-BE49-F238E27FC236}">
                <a16:creationId xmlns:a16="http://schemas.microsoft.com/office/drawing/2014/main" id="{E62E3FB2-DC06-54B3-7A77-9D95E55271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959460"/>
              </p:ext>
            </p:extLst>
          </p:nvPr>
        </p:nvGraphicFramePr>
        <p:xfrm>
          <a:off x="683568" y="3057395"/>
          <a:ext cx="3376108" cy="2291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054">
                  <a:extLst>
                    <a:ext uri="{9D8B030D-6E8A-4147-A177-3AD203B41FA5}">
                      <a16:colId xmlns:a16="http://schemas.microsoft.com/office/drawing/2014/main" val="1578293503"/>
                    </a:ext>
                  </a:extLst>
                </a:gridCol>
                <a:gridCol w="1688054">
                  <a:extLst>
                    <a:ext uri="{9D8B030D-6E8A-4147-A177-3AD203B41FA5}">
                      <a16:colId xmlns:a16="http://schemas.microsoft.com/office/drawing/2014/main" val="1598873801"/>
                    </a:ext>
                  </a:extLst>
                </a:gridCol>
              </a:tblGrid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Variable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 err="1"/>
                        <a:t>value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2581224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loan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10000.0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214135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/>
                        <a:t>interest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0.1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6031368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payment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150.0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7616764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outstanding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dirty="0"/>
                        <a:t>11785.0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114125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month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3</a:t>
                      </a:r>
                      <a:endParaRPr lang="LID4096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6379973"/>
                  </a:ext>
                </a:extLst>
              </a:tr>
            </a:tbl>
          </a:graphicData>
        </a:graphic>
      </p:graphicFrame>
      <p:sp>
        <p:nvSpPr>
          <p:cNvPr id="8" name="Arrow: Right 7">
            <a:extLst>
              <a:ext uri="{FF2B5EF4-FFF2-40B4-BE49-F238E27FC236}">
                <a16:creationId xmlns:a16="http://schemas.microsoft.com/office/drawing/2014/main" id="{5A2B2E43-DC3E-5583-F6A9-DFCAB923BE29}"/>
              </a:ext>
            </a:extLst>
          </p:cNvPr>
          <p:cNvSpPr/>
          <p:nvPr/>
        </p:nvSpPr>
        <p:spPr>
          <a:xfrm>
            <a:off x="168440" y="2617435"/>
            <a:ext cx="288032" cy="2572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C2B7A2-6A23-64B9-D919-EF9863242EA0}"/>
              </a:ext>
            </a:extLst>
          </p:cNvPr>
          <p:cNvSpPr txBox="1"/>
          <p:nvPr/>
        </p:nvSpPr>
        <p:spPr>
          <a:xfrm>
            <a:off x="4427984" y="3045019"/>
            <a:ext cx="4543423" cy="70788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nl-BE" sz="2000" dirty="0" err="1">
                <a:solidFill>
                  <a:srgbClr val="00B050"/>
                </a:solidFill>
              </a:rPr>
              <a:t>Outstanding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loan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after</a:t>
            </a:r>
            <a:r>
              <a:rPr lang="nl-BE" sz="2000" dirty="0">
                <a:solidFill>
                  <a:srgbClr val="00B050"/>
                </a:solidFill>
              </a:rPr>
              <a:t> 1 </a:t>
            </a:r>
            <a:r>
              <a:rPr lang="nl-BE" sz="2000" dirty="0" err="1">
                <a:solidFill>
                  <a:srgbClr val="00B050"/>
                </a:solidFill>
              </a:rPr>
              <a:t>months</a:t>
            </a:r>
            <a:r>
              <a:rPr lang="nl-BE" sz="2000" dirty="0">
                <a:solidFill>
                  <a:srgbClr val="00B050"/>
                </a:solidFill>
              </a:rPr>
              <a:t>: 10850.0</a:t>
            </a:r>
          </a:p>
          <a:p>
            <a:r>
              <a:rPr lang="nl-BE" sz="2000" dirty="0" err="1">
                <a:solidFill>
                  <a:srgbClr val="00B050"/>
                </a:solidFill>
              </a:rPr>
              <a:t>Outstanding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loan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after</a:t>
            </a:r>
            <a:r>
              <a:rPr lang="nl-BE" sz="2000" dirty="0">
                <a:solidFill>
                  <a:srgbClr val="00B050"/>
                </a:solidFill>
              </a:rPr>
              <a:t> 2 </a:t>
            </a:r>
            <a:r>
              <a:rPr lang="nl-BE" sz="2000" dirty="0" err="1">
                <a:solidFill>
                  <a:srgbClr val="00B050"/>
                </a:solidFill>
              </a:rPr>
              <a:t>months</a:t>
            </a:r>
            <a:r>
              <a:rPr lang="nl-BE" sz="2000" dirty="0">
                <a:solidFill>
                  <a:srgbClr val="00B050"/>
                </a:solidFill>
              </a:rPr>
              <a:t>: 11785.0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49BEE8-810D-29C8-EE85-DCF68A03A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815" y="1005895"/>
            <a:ext cx="8528912" cy="1936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31292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07AE9-149A-F3DF-B775-C38AD3BCB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DACA0-52E1-EEC7-7681-D9E39B993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Payment</a:t>
            </a:r>
            <a:r>
              <a:rPr lang="nl-BE" dirty="0"/>
              <a:t> </a:t>
            </a:r>
            <a:r>
              <a:rPr lang="nl-BE" dirty="0" err="1"/>
              <a:t>Table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ECFCD0-73BD-C9E6-99CF-A47190426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82</a:t>
            </a:fld>
            <a:endParaRPr lang="nl-NL"/>
          </a:p>
        </p:txBody>
      </p:sp>
      <p:graphicFrame>
        <p:nvGraphicFramePr>
          <p:cNvPr id="7" name="Table 16">
            <a:extLst>
              <a:ext uri="{FF2B5EF4-FFF2-40B4-BE49-F238E27FC236}">
                <a16:creationId xmlns:a16="http://schemas.microsoft.com/office/drawing/2014/main" id="{B9E13784-67DA-D76C-EA29-9A6107F898A9}"/>
              </a:ext>
            </a:extLst>
          </p:cNvPr>
          <p:cNvGraphicFramePr>
            <a:graphicFrameLocks noGrp="1"/>
          </p:cNvGraphicFramePr>
          <p:nvPr/>
        </p:nvGraphicFramePr>
        <p:xfrm>
          <a:off x="683568" y="3057395"/>
          <a:ext cx="3376108" cy="2291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054">
                  <a:extLst>
                    <a:ext uri="{9D8B030D-6E8A-4147-A177-3AD203B41FA5}">
                      <a16:colId xmlns:a16="http://schemas.microsoft.com/office/drawing/2014/main" val="1578293503"/>
                    </a:ext>
                  </a:extLst>
                </a:gridCol>
                <a:gridCol w="1688054">
                  <a:extLst>
                    <a:ext uri="{9D8B030D-6E8A-4147-A177-3AD203B41FA5}">
                      <a16:colId xmlns:a16="http://schemas.microsoft.com/office/drawing/2014/main" val="1598873801"/>
                    </a:ext>
                  </a:extLst>
                </a:gridCol>
              </a:tblGrid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Variable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 err="1"/>
                        <a:t>value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2581224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loan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10000.0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214135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/>
                        <a:t>interest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0.1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6031368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payment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150.0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7616764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outstanding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dirty="0"/>
                        <a:t>11785.0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114125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month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3</a:t>
                      </a:r>
                      <a:endParaRPr lang="LID4096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6379973"/>
                  </a:ext>
                </a:extLst>
              </a:tr>
            </a:tbl>
          </a:graphicData>
        </a:graphic>
      </p:graphicFrame>
      <p:sp>
        <p:nvSpPr>
          <p:cNvPr id="8" name="Arrow: Right 7">
            <a:extLst>
              <a:ext uri="{FF2B5EF4-FFF2-40B4-BE49-F238E27FC236}">
                <a16:creationId xmlns:a16="http://schemas.microsoft.com/office/drawing/2014/main" id="{DFFC88DE-0A64-6C77-CB42-E38653995B1F}"/>
              </a:ext>
            </a:extLst>
          </p:cNvPr>
          <p:cNvSpPr/>
          <p:nvPr/>
        </p:nvSpPr>
        <p:spPr>
          <a:xfrm>
            <a:off x="196995" y="1649820"/>
            <a:ext cx="288032" cy="2572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DDF3F7-5B87-DD69-CDAF-B96823C840C1}"/>
              </a:ext>
            </a:extLst>
          </p:cNvPr>
          <p:cNvSpPr txBox="1"/>
          <p:nvPr/>
        </p:nvSpPr>
        <p:spPr>
          <a:xfrm>
            <a:off x="4427984" y="3045019"/>
            <a:ext cx="4543423" cy="70788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nl-BE" sz="2000" dirty="0" err="1">
                <a:solidFill>
                  <a:srgbClr val="00B050"/>
                </a:solidFill>
              </a:rPr>
              <a:t>Outstanding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loan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after</a:t>
            </a:r>
            <a:r>
              <a:rPr lang="nl-BE" sz="2000" dirty="0">
                <a:solidFill>
                  <a:srgbClr val="00B050"/>
                </a:solidFill>
              </a:rPr>
              <a:t> 1 </a:t>
            </a:r>
            <a:r>
              <a:rPr lang="nl-BE" sz="2000" dirty="0" err="1">
                <a:solidFill>
                  <a:srgbClr val="00B050"/>
                </a:solidFill>
              </a:rPr>
              <a:t>months</a:t>
            </a:r>
            <a:r>
              <a:rPr lang="nl-BE" sz="2000" dirty="0">
                <a:solidFill>
                  <a:srgbClr val="00B050"/>
                </a:solidFill>
              </a:rPr>
              <a:t>: 10850.0</a:t>
            </a:r>
          </a:p>
          <a:p>
            <a:r>
              <a:rPr lang="nl-BE" sz="2000" dirty="0" err="1">
                <a:solidFill>
                  <a:srgbClr val="00B050"/>
                </a:solidFill>
              </a:rPr>
              <a:t>Outstanding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loan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after</a:t>
            </a:r>
            <a:r>
              <a:rPr lang="nl-BE" sz="2000" dirty="0">
                <a:solidFill>
                  <a:srgbClr val="00B050"/>
                </a:solidFill>
              </a:rPr>
              <a:t> 2 </a:t>
            </a:r>
            <a:r>
              <a:rPr lang="nl-BE" sz="2000" dirty="0" err="1">
                <a:solidFill>
                  <a:srgbClr val="00B050"/>
                </a:solidFill>
              </a:rPr>
              <a:t>months</a:t>
            </a:r>
            <a:r>
              <a:rPr lang="nl-BE" sz="2000" dirty="0">
                <a:solidFill>
                  <a:srgbClr val="00B050"/>
                </a:solidFill>
              </a:rPr>
              <a:t>: 11785.0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25E23D-6CA1-4B9B-45AE-E4E59E218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815" y="1005895"/>
            <a:ext cx="8528912" cy="1936696"/>
          </a:xfrm>
          <a:prstGeom prst="rect">
            <a:avLst/>
          </a:prstGeom>
        </p:spPr>
      </p:pic>
      <p:pic>
        <p:nvPicPr>
          <p:cNvPr id="5" name="Graphic 4" descr="Checkmark with solid fill">
            <a:extLst>
              <a:ext uri="{FF2B5EF4-FFF2-40B4-BE49-F238E27FC236}">
                <a16:creationId xmlns:a16="http://schemas.microsoft.com/office/drawing/2014/main" id="{B8E29E06-A7DF-007F-4663-4160EB9FF7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8802" y="106107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463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DFE2-05E4-37F3-2E9E-68A9B1162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Payment</a:t>
            </a:r>
            <a:r>
              <a:rPr lang="nl-BE" dirty="0"/>
              <a:t> </a:t>
            </a:r>
            <a:r>
              <a:rPr lang="nl-BE" dirty="0" err="1"/>
              <a:t>Table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2739D9-FC52-B9EA-DB83-7B9544D01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83</a:t>
            </a:fld>
            <a:endParaRPr lang="nl-NL"/>
          </a:p>
        </p:txBody>
      </p:sp>
      <p:graphicFrame>
        <p:nvGraphicFramePr>
          <p:cNvPr id="7" name="Table 16">
            <a:extLst>
              <a:ext uri="{FF2B5EF4-FFF2-40B4-BE49-F238E27FC236}">
                <a16:creationId xmlns:a16="http://schemas.microsoft.com/office/drawing/2014/main" id="{E62E3FB2-DC06-54B3-7A77-9D95E55271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3897573"/>
              </p:ext>
            </p:extLst>
          </p:nvPr>
        </p:nvGraphicFramePr>
        <p:xfrm>
          <a:off x="683568" y="3057395"/>
          <a:ext cx="3376108" cy="2291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054">
                  <a:extLst>
                    <a:ext uri="{9D8B030D-6E8A-4147-A177-3AD203B41FA5}">
                      <a16:colId xmlns:a16="http://schemas.microsoft.com/office/drawing/2014/main" val="1578293503"/>
                    </a:ext>
                  </a:extLst>
                </a:gridCol>
                <a:gridCol w="1688054">
                  <a:extLst>
                    <a:ext uri="{9D8B030D-6E8A-4147-A177-3AD203B41FA5}">
                      <a16:colId xmlns:a16="http://schemas.microsoft.com/office/drawing/2014/main" val="1598873801"/>
                    </a:ext>
                  </a:extLst>
                </a:gridCol>
              </a:tblGrid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Variable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 err="1"/>
                        <a:t>value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2581224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loan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10000.0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214135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/>
                        <a:t>interest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0.1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6031368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payment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150.0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7616764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outstanding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12813.5</a:t>
                      </a:r>
                      <a:endParaRPr lang="LID4096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114125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month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3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7460607"/>
                  </a:ext>
                </a:extLst>
              </a:tr>
            </a:tbl>
          </a:graphicData>
        </a:graphic>
      </p:graphicFrame>
      <p:sp>
        <p:nvSpPr>
          <p:cNvPr id="8" name="Arrow: Right 7">
            <a:extLst>
              <a:ext uri="{FF2B5EF4-FFF2-40B4-BE49-F238E27FC236}">
                <a16:creationId xmlns:a16="http://schemas.microsoft.com/office/drawing/2014/main" id="{5A2B2E43-DC3E-5583-F6A9-DFCAB923BE29}"/>
              </a:ext>
            </a:extLst>
          </p:cNvPr>
          <p:cNvSpPr/>
          <p:nvPr/>
        </p:nvSpPr>
        <p:spPr>
          <a:xfrm>
            <a:off x="111636" y="1974243"/>
            <a:ext cx="288032" cy="2572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839297-3A32-EB08-5ACD-7AE478EDB638}"/>
              </a:ext>
            </a:extLst>
          </p:cNvPr>
          <p:cNvSpPr txBox="1"/>
          <p:nvPr/>
        </p:nvSpPr>
        <p:spPr>
          <a:xfrm>
            <a:off x="4427984" y="3045019"/>
            <a:ext cx="4543423" cy="70788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nl-BE" sz="2000" dirty="0" err="1">
                <a:solidFill>
                  <a:srgbClr val="00B050"/>
                </a:solidFill>
              </a:rPr>
              <a:t>Outstanding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loan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after</a:t>
            </a:r>
            <a:r>
              <a:rPr lang="nl-BE" sz="2000" dirty="0">
                <a:solidFill>
                  <a:srgbClr val="00B050"/>
                </a:solidFill>
              </a:rPr>
              <a:t> 1 </a:t>
            </a:r>
            <a:r>
              <a:rPr lang="nl-BE" sz="2000" dirty="0" err="1">
                <a:solidFill>
                  <a:srgbClr val="00B050"/>
                </a:solidFill>
              </a:rPr>
              <a:t>months</a:t>
            </a:r>
            <a:r>
              <a:rPr lang="nl-BE" sz="2000" dirty="0">
                <a:solidFill>
                  <a:srgbClr val="00B050"/>
                </a:solidFill>
              </a:rPr>
              <a:t>: 10850.0</a:t>
            </a:r>
          </a:p>
          <a:p>
            <a:r>
              <a:rPr lang="nl-BE" sz="2000" dirty="0" err="1">
                <a:solidFill>
                  <a:srgbClr val="00B050"/>
                </a:solidFill>
              </a:rPr>
              <a:t>Outstanding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loan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after</a:t>
            </a:r>
            <a:r>
              <a:rPr lang="nl-BE" sz="2000" dirty="0">
                <a:solidFill>
                  <a:srgbClr val="00B050"/>
                </a:solidFill>
              </a:rPr>
              <a:t> 2 </a:t>
            </a:r>
            <a:r>
              <a:rPr lang="nl-BE" sz="2000" dirty="0" err="1">
                <a:solidFill>
                  <a:srgbClr val="00B050"/>
                </a:solidFill>
              </a:rPr>
              <a:t>months</a:t>
            </a:r>
            <a:r>
              <a:rPr lang="nl-BE" sz="2000" dirty="0">
                <a:solidFill>
                  <a:srgbClr val="00B050"/>
                </a:solidFill>
              </a:rPr>
              <a:t>: 11785.0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314458-0B4E-6AC1-AB3C-2D3F402D0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815" y="1005895"/>
            <a:ext cx="8528912" cy="1936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48375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DFE2-05E4-37F3-2E9E-68A9B1162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Payment</a:t>
            </a:r>
            <a:r>
              <a:rPr lang="nl-BE" dirty="0"/>
              <a:t> </a:t>
            </a:r>
            <a:r>
              <a:rPr lang="nl-BE" dirty="0" err="1"/>
              <a:t>Table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2739D9-FC52-B9EA-DB83-7B9544D01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84</a:t>
            </a:fld>
            <a:endParaRPr lang="nl-NL"/>
          </a:p>
        </p:txBody>
      </p:sp>
      <p:graphicFrame>
        <p:nvGraphicFramePr>
          <p:cNvPr id="7" name="Table 16">
            <a:extLst>
              <a:ext uri="{FF2B5EF4-FFF2-40B4-BE49-F238E27FC236}">
                <a16:creationId xmlns:a16="http://schemas.microsoft.com/office/drawing/2014/main" id="{E62E3FB2-DC06-54B3-7A77-9D95E55271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265757"/>
              </p:ext>
            </p:extLst>
          </p:nvPr>
        </p:nvGraphicFramePr>
        <p:xfrm>
          <a:off x="683568" y="3057395"/>
          <a:ext cx="3376108" cy="2291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054">
                  <a:extLst>
                    <a:ext uri="{9D8B030D-6E8A-4147-A177-3AD203B41FA5}">
                      <a16:colId xmlns:a16="http://schemas.microsoft.com/office/drawing/2014/main" val="1578293503"/>
                    </a:ext>
                  </a:extLst>
                </a:gridCol>
                <a:gridCol w="1688054">
                  <a:extLst>
                    <a:ext uri="{9D8B030D-6E8A-4147-A177-3AD203B41FA5}">
                      <a16:colId xmlns:a16="http://schemas.microsoft.com/office/drawing/2014/main" val="1598873801"/>
                    </a:ext>
                  </a:extLst>
                </a:gridCol>
              </a:tblGrid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Variable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 err="1"/>
                        <a:t>value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2581224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loan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10000.0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214135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/>
                        <a:t>interest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0.1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6031368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payment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150.0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7616764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outstanding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12813.5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114125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month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3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7460607"/>
                  </a:ext>
                </a:extLst>
              </a:tr>
            </a:tbl>
          </a:graphicData>
        </a:graphic>
      </p:graphicFrame>
      <p:sp>
        <p:nvSpPr>
          <p:cNvPr id="8" name="Arrow: Right 7">
            <a:extLst>
              <a:ext uri="{FF2B5EF4-FFF2-40B4-BE49-F238E27FC236}">
                <a16:creationId xmlns:a16="http://schemas.microsoft.com/office/drawing/2014/main" id="{5A2B2E43-DC3E-5583-F6A9-DFCAB923BE29}"/>
              </a:ext>
            </a:extLst>
          </p:cNvPr>
          <p:cNvSpPr/>
          <p:nvPr/>
        </p:nvSpPr>
        <p:spPr>
          <a:xfrm>
            <a:off x="154250" y="2316629"/>
            <a:ext cx="288032" cy="2572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5627D5-42AE-9CF7-A283-CD45FCB7F117}"/>
              </a:ext>
            </a:extLst>
          </p:cNvPr>
          <p:cNvSpPr txBox="1"/>
          <p:nvPr/>
        </p:nvSpPr>
        <p:spPr>
          <a:xfrm>
            <a:off x="4427984" y="3045019"/>
            <a:ext cx="4543423" cy="101566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nl-BE" sz="2000" dirty="0" err="1">
                <a:solidFill>
                  <a:srgbClr val="00B050"/>
                </a:solidFill>
              </a:rPr>
              <a:t>Outstanding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loan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after</a:t>
            </a:r>
            <a:r>
              <a:rPr lang="nl-BE" sz="2000" dirty="0">
                <a:solidFill>
                  <a:srgbClr val="00B050"/>
                </a:solidFill>
              </a:rPr>
              <a:t> 1 </a:t>
            </a:r>
            <a:r>
              <a:rPr lang="nl-BE" sz="2000" dirty="0" err="1">
                <a:solidFill>
                  <a:srgbClr val="00B050"/>
                </a:solidFill>
              </a:rPr>
              <a:t>months</a:t>
            </a:r>
            <a:r>
              <a:rPr lang="nl-BE" sz="2000" dirty="0">
                <a:solidFill>
                  <a:srgbClr val="00B050"/>
                </a:solidFill>
              </a:rPr>
              <a:t>: 10850.0</a:t>
            </a:r>
          </a:p>
          <a:p>
            <a:r>
              <a:rPr lang="nl-BE" sz="2000" dirty="0" err="1">
                <a:solidFill>
                  <a:srgbClr val="00B050"/>
                </a:solidFill>
              </a:rPr>
              <a:t>Outstanding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loan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after</a:t>
            </a:r>
            <a:r>
              <a:rPr lang="nl-BE" sz="2000" dirty="0">
                <a:solidFill>
                  <a:srgbClr val="00B050"/>
                </a:solidFill>
              </a:rPr>
              <a:t> 2 </a:t>
            </a:r>
            <a:r>
              <a:rPr lang="nl-BE" sz="2000" dirty="0" err="1">
                <a:solidFill>
                  <a:srgbClr val="00B050"/>
                </a:solidFill>
              </a:rPr>
              <a:t>months</a:t>
            </a:r>
            <a:r>
              <a:rPr lang="nl-BE" sz="2000" dirty="0">
                <a:solidFill>
                  <a:srgbClr val="00B050"/>
                </a:solidFill>
              </a:rPr>
              <a:t>: 11785.0</a:t>
            </a:r>
          </a:p>
          <a:p>
            <a:r>
              <a:rPr lang="nl-BE" sz="2000" dirty="0" err="1">
                <a:solidFill>
                  <a:srgbClr val="00B050"/>
                </a:solidFill>
              </a:rPr>
              <a:t>Outstanding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loan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after</a:t>
            </a:r>
            <a:r>
              <a:rPr lang="nl-BE" sz="2000" dirty="0">
                <a:solidFill>
                  <a:srgbClr val="00B050"/>
                </a:solidFill>
              </a:rPr>
              <a:t> 3 </a:t>
            </a:r>
            <a:r>
              <a:rPr lang="nl-BE" sz="2000" dirty="0" err="1">
                <a:solidFill>
                  <a:srgbClr val="00B050"/>
                </a:solidFill>
              </a:rPr>
              <a:t>months</a:t>
            </a:r>
            <a:r>
              <a:rPr lang="nl-BE" sz="2000" dirty="0">
                <a:solidFill>
                  <a:srgbClr val="00B050"/>
                </a:solidFill>
              </a:rPr>
              <a:t>: 12813.5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2777A1-CFB2-7F00-6789-9082CAAF47F1}"/>
              </a:ext>
            </a:extLst>
          </p:cNvPr>
          <p:cNvSpPr txBox="1"/>
          <p:nvPr/>
        </p:nvSpPr>
        <p:spPr>
          <a:xfrm>
            <a:off x="3923928" y="4941168"/>
            <a:ext cx="105990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9600" b="1" dirty="0"/>
              <a:t>…</a:t>
            </a:r>
            <a:endParaRPr lang="LID4096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1196CE-7875-42B1-E292-63D408B13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815" y="1005895"/>
            <a:ext cx="8528912" cy="1936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535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DFE2-05E4-37F3-2E9E-68A9B1162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Payment</a:t>
            </a:r>
            <a:r>
              <a:rPr lang="nl-BE" dirty="0"/>
              <a:t> </a:t>
            </a:r>
            <a:r>
              <a:rPr lang="nl-BE" dirty="0" err="1"/>
              <a:t>Table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2739D9-FC52-B9EA-DB83-7B9544D01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85</a:t>
            </a:fld>
            <a:endParaRPr lang="nl-NL"/>
          </a:p>
        </p:txBody>
      </p:sp>
      <p:graphicFrame>
        <p:nvGraphicFramePr>
          <p:cNvPr id="7" name="Table 16">
            <a:extLst>
              <a:ext uri="{FF2B5EF4-FFF2-40B4-BE49-F238E27FC236}">
                <a16:creationId xmlns:a16="http://schemas.microsoft.com/office/drawing/2014/main" id="{E62E3FB2-DC06-54B3-7A77-9D95E55271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413517"/>
              </p:ext>
            </p:extLst>
          </p:nvPr>
        </p:nvGraphicFramePr>
        <p:xfrm>
          <a:off x="683568" y="3057395"/>
          <a:ext cx="3376108" cy="2291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054">
                  <a:extLst>
                    <a:ext uri="{9D8B030D-6E8A-4147-A177-3AD203B41FA5}">
                      <a16:colId xmlns:a16="http://schemas.microsoft.com/office/drawing/2014/main" val="1578293503"/>
                    </a:ext>
                  </a:extLst>
                </a:gridCol>
                <a:gridCol w="1688054">
                  <a:extLst>
                    <a:ext uri="{9D8B030D-6E8A-4147-A177-3AD203B41FA5}">
                      <a16:colId xmlns:a16="http://schemas.microsoft.com/office/drawing/2014/main" val="1598873801"/>
                    </a:ext>
                  </a:extLst>
                </a:gridCol>
              </a:tblGrid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Variable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 err="1"/>
                        <a:t>value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2581224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loan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10000.0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214135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/>
                        <a:t>interest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0.1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6031368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payment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150.0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7616764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outstanding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21542.55…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114125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month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9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7460607"/>
                  </a:ext>
                </a:extLst>
              </a:tr>
            </a:tbl>
          </a:graphicData>
        </a:graphic>
      </p:graphicFrame>
      <p:sp>
        <p:nvSpPr>
          <p:cNvPr id="8" name="Arrow: Right 7">
            <a:extLst>
              <a:ext uri="{FF2B5EF4-FFF2-40B4-BE49-F238E27FC236}">
                <a16:creationId xmlns:a16="http://schemas.microsoft.com/office/drawing/2014/main" id="{5A2B2E43-DC3E-5583-F6A9-DFCAB923BE29}"/>
              </a:ext>
            </a:extLst>
          </p:cNvPr>
          <p:cNvSpPr/>
          <p:nvPr/>
        </p:nvSpPr>
        <p:spPr>
          <a:xfrm>
            <a:off x="121418" y="2276922"/>
            <a:ext cx="288032" cy="2572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5627D5-42AE-9CF7-A283-CD45FCB7F117}"/>
              </a:ext>
            </a:extLst>
          </p:cNvPr>
          <p:cNvSpPr txBox="1"/>
          <p:nvPr/>
        </p:nvSpPr>
        <p:spPr>
          <a:xfrm>
            <a:off x="4427985" y="3045019"/>
            <a:ext cx="4536504" cy="163121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BE" sz="2000" dirty="0" err="1">
                <a:solidFill>
                  <a:srgbClr val="00B050"/>
                </a:solidFill>
              </a:rPr>
              <a:t>Outstanding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loan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after</a:t>
            </a:r>
            <a:r>
              <a:rPr lang="nl-BE" sz="2000" dirty="0">
                <a:solidFill>
                  <a:srgbClr val="00B050"/>
                </a:solidFill>
              </a:rPr>
              <a:t> 1 </a:t>
            </a:r>
            <a:r>
              <a:rPr lang="nl-BE" sz="2000" dirty="0" err="1">
                <a:solidFill>
                  <a:srgbClr val="00B050"/>
                </a:solidFill>
              </a:rPr>
              <a:t>months</a:t>
            </a:r>
            <a:r>
              <a:rPr lang="nl-BE" sz="2000" dirty="0">
                <a:solidFill>
                  <a:srgbClr val="00B050"/>
                </a:solidFill>
              </a:rPr>
              <a:t>: 10850.0</a:t>
            </a:r>
          </a:p>
          <a:p>
            <a:r>
              <a:rPr lang="nl-BE" sz="2000" dirty="0" err="1">
                <a:solidFill>
                  <a:srgbClr val="00B050"/>
                </a:solidFill>
              </a:rPr>
              <a:t>Outstanding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loan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after</a:t>
            </a:r>
            <a:r>
              <a:rPr lang="nl-BE" sz="2000" dirty="0">
                <a:solidFill>
                  <a:srgbClr val="00B050"/>
                </a:solidFill>
              </a:rPr>
              <a:t> 2 </a:t>
            </a:r>
            <a:r>
              <a:rPr lang="nl-BE" sz="2000" dirty="0" err="1">
                <a:solidFill>
                  <a:srgbClr val="00B050"/>
                </a:solidFill>
              </a:rPr>
              <a:t>months</a:t>
            </a:r>
            <a:r>
              <a:rPr lang="nl-BE" sz="2000" dirty="0">
                <a:solidFill>
                  <a:srgbClr val="00B050"/>
                </a:solidFill>
              </a:rPr>
              <a:t>: 11785.0</a:t>
            </a:r>
          </a:p>
          <a:p>
            <a:r>
              <a:rPr lang="nl-BE" sz="2000" dirty="0" err="1">
                <a:solidFill>
                  <a:srgbClr val="00B050"/>
                </a:solidFill>
              </a:rPr>
              <a:t>Outstanding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loan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after</a:t>
            </a:r>
            <a:r>
              <a:rPr lang="nl-BE" sz="2000" dirty="0">
                <a:solidFill>
                  <a:srgbClr val="00B050"/>
                </a:solidFill>
              </a:rPr>
              <a:t> 3 </a:t>
            </a:r>
            <a:r>
              <a:rPr lang="nl-BE" sz="2000" dirty="0" err="1">
                <a:solidFill>
                  <a:srgbClr val="00B050"/>
                </a:solidFill>
              </a:rPr>
              <a:t>months</a:t>
            </a:r>
            <a:r>
              <a:rPr lang="nl-BE" sz="2000" dirty="0">
                <a:solidFill>
                  <a:srgbClr val="00B050"/>
                </a:solidFill>
              </a:rPr>
              <a:t>: 12813.5</a:t>
            </a:r>
          </a:p>
          <a:p>
            <a:r>
              <a:rPr lang="nl-BE" sz="2000" dirty="0">
                <a:solidFill>
                  <a:srgbClr val="00B050"/>
                </a:solidFill>
              </a:rPr>
              <a:t>…</a:t>
            </a:r>
          </a:p>
          <a:p>
            <a:r>
              <a:rPr lang="nl-BE" sz="2000" dirty="0" err="1">
                <a:solidFill>
                  <a:srgbClr val="00B050"/>
                </a:solidFill>
              </a:rPr>
              <a:t>Outstanding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loan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after</a:t>
            </a:r>
            <a:r>
              <a:rPr lang="nl-BE" sz="2000" dirty="0">
                <a:solidFill>
                  <a:srgbClr val="00B050"/>
                </a:solidFill>
              </a:rPr>
              <a:t> 9 </a:t>
            </a:r>
            <a:r>
              <a:rPr lang="nl-BE" sz="2000" dirty="0" err="1">
                <a:solidFill>
                  <a:srgbClr val="00B050"/>
                </a:solidFill>
              </a:rPr>
              <a:t>months</a:t>
            </a:r>
            <a:r>
              <a:rPr lang="nl-BE" sz="2000" dirty="0">
                <a:solidFill>
                  <a:srgbClr val="00B050"/>
                </a:solidFill>
              </a:rPr>
              <a:t>: 21542.6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73526B-C7A2-6645-78CC-EA2F2B0DA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815" y="1005895"/>
            <a:ext cx="8528912" cy="1936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30473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28B21-CC6E-FF06-50A5-9D3234D9B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F815B-30A9-E59C-BC7D-735A3CD10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Payment</a:t>
            </a:r>
            <a:r>
              <a:rPr lang="nl-BE" dirty="0"/>
              <a:t> </a:t>
            </a:r>
            <a:r>
              <a:rPr lang="nl-BE" dirty="0" err="1"/>
              <a:t>Table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B7E255-C050-3885-4912-D6C32668A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86</a:t>
            </a:fld>
            <a:endParaRPr lang="nl-NL"/>
          </a:p>
        </p:txBody>
      </p:sp>
      <p:graphicFrame>
        <p:nvGraphicFramePr>
          <p:cNvPr id="7" name="Table 16">
            <a:extLst>
              <a:ext uri="{FF2B5EF4-FFF2-40B4-BE49-F238E27FC236}">
                <a16:creationId xmlns:a16="http://schemas.microsoft.com/office/drawing/2014/main" id="{079C5485-00F4-0802-91F0-24FD7574D0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808707"/>
              </p:ext>
            </p:extLst>
          </p:nvPr>
        </p:nvGraphicFramePr>
        <p:xfrm>
          <a:off x="683568" y="3057395"/>
          <a:ext cx="3376108" cy="2291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054">
                  <a:extLst>
                    <a:ext uri="{9D8B030D-6E8A-4147-A177-3AD203B41FA5}">
                      <a16:colId xmlns:a16="http://schemas.microsoft.com/office/drawing/2014/main" val="1578293503"/>
                    </a:ext>
                  </a:extLst>
                </a:gridCol>
                <a:gridCol w="1688054">
                  <a:extLst>
                    <a:ext uri="{9D8B030D-6E8A-4147-A177-3AD203B41FA5}">
                      <a16:colId xmlns:a16="http://schemas.microsoft.com/office/drawing/2014/main" val="1598873801"/>
                    </a:ext>
                  </a:extLst>
                </a:gridCol>
              </a:tblGrid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Variable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 err="1"/>
                        <a:t>value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2581224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loan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10000.0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214135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/>
                        <a:t>interest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0.1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6031368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payment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150.0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7616764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outstanding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21542.55…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114125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month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10</a:t>
                      </a:r>
                      <a:endParaRPr lang="LID4096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460607"/>
                  </a:ext>
                </a:extLst>
              </a:tr>
            </a:tbl>
          </a:graphicData>
        </a:graphic>
      </p:graphicFrame>
      <p:sp>
        <p:nvSpPr>
          <p:cNvPr id="8" name="Arrow: Right 7">
            <a:extLst>
              <a:ext uri="{FF2B5EF4-FFF2-40B4-BE49-F238E27FC236}">
                <a16:creationId xmlns:a16="http://schemas.microsoft.com/office/drawing/2014/main" id="{343862DA-D34E-71E1-BE77-7796894812DC}"/>
              </a:ext>
            </a:extLst>
          </p:cNvPr>
          <p:cNvSpPr/>
          <p:nvPr/>
        </p:nvSpPr>
        <p:spPr>
          <a:xfrm>
            <a:off x="121418" y="2667649"/>
            <a:ext cx="288032" cy="2572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C056DA-5194-8D9D-76DC-90BDFE33BC50}"/>
              </a:ext>
            </a:extLst>
          </p:cNvPr>
          <p:cNvSpPr txBox="1"/>
          <p:nvPr/>
        </p:nvSpPr>
        <p:spPr>
          <a:xfrm>
            <a:off x="4427985" y="3045019"/>
            <a:ext cx="4536504" cy="163121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BE" sz="2000" dirty="0" err="1">
                <a:solidFill>
                  <a:srgbClr val="00B050"/>
                </a:solidFill>
              </a:rPr>
              <a:t>Outstanding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loan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after</a:t>
            </a:r>
            <a:r>
              <a:rPr lang="nl-BE" sz="2000" dirty="0">
                <a:solidFill>
                  <a:srgbClr val="00B050"/>
                </a:solidFill>
              </a:rPr>
              <a:t> 1 </a:t>
            </a:r>
            <a:r>
              <a:rPr lang="nl-BE" sz="2000" dirty="0" err="1">
                <a:solidFill>
                  <a:srgbClr val="00B050"/>
                </a:solidFill>
              </a:rPr>
              <a:t>months</a:t>
            </a:r>
            <a:r>
              <a:rPr lang="nl-BE" sz="2000" dirty="0">
                <a:solidFill>
                  <a:srgbClr val="00B050"/>
                </a:solidFill>
              </a:rPr>
              <a:t>: 10850.0</a:t>
            </a:r>
          </a:p>
          <a:p>
            <a:r>
              <a:rPr lang="nl-BE" sz="2000" dirty="0" err="1">
                <a:solidFill>
                  <a:srgbClr val="00B050"/>
                </a:solidFill>
              </a:rPr>
              <a:t>Outstanding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loan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after</a:t>
            </a:r>
            <a:r>
              <a:rPr lang="nl-BE" sz="2000" dirty="0">
                <a:solidFill>
                  <a:srgbClr val="00B050"/>
                </a:solidFill>
              </a:rPr>
              <a:t> 2 </a:t>
            </a:r>
            <a:r>
              <a:rPr lang="nl-BE" sz="2000" dirty="0" err="1">
                <a:solidFill>
                  <a:srgbClr val="00B050"/>
                </a:solidFill>
              </a:rPr>
              <a:t>months</a:t>
            </a:r>
            <a:r>
              <a:rPr lang="nl-BE" sz="2000" dirty="0">
                <a:solidFill>
                  <a:srgbClr val="00B050"/>
                </a:solidFill>
              </a:rPr>
              <a:t>: 11785.0</a:t>
            </a:r>
          </a:p>
          <a:p>
            <a:r>
              <a:rPr lang="nl-BE" sz="2000" dirty="0" err="1">
                <a:solidFill>
                  <a:srgbClr val="00B050"/>
                </a:solidFill>
              </a:rPr>
              <a:t>Outstanding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loan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after</a:t>
            </a:r>
            <a:r>
              <a:rPr lang="nl-BE" sz="2000" dirty="0">
                <a:solidFill>
                  <a:srgbClr val="00B050"/>
                </a:solidFill>
              </a:rPr>
              <a:t> 3 </a:t>
            </a:r>
            <a:r>
              <a:rPr lang="nl-BE" sz="2000" dirty="0" err="1">
                <a:solidFill>
                  <a:srgbClr val="00B050"/>
                </a:solidFill>
              </a:rPr>
              <a:t>months</a:t>
            </a:r>
            <a:r>
              <a:rPr lang="nl-BE" sz="2000" dirty="0">
                <a:solidFill>
                  <a:srgbClr val="00B050"/>
                </a:solidFill>
              </a:rPr>
              <a:t>: 12813.5</a:t>
            </a:r>
          </a:p>
          <a:p>
            <a:r>
              <a:rPr lang="nl-BE" sz="2000" dirty="0">
                <a:solidFill>
                  <a:srgbClr val="00B050"/>
                </a:solidFill>
              </a:rPr>
              <a:t>…</a:t>
            </a:r>
          </a:p>
          <a:p>
            <a:r>
              <a:rPr lang="nl-BE" sz="2000" dirty="0" err="1">
                <a:solidFill>
                  <a:srgbClr val="00B050"/>
                </a:solidFill>
              </a:rPr>
              <a:t>Outstanding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loan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after</a:t>
            </a:r>
            <a:r>
              <a:rPr lang="nl-BE" sz="2000" dirty="0">
                <a:solidFill>
                  <a:srgbClr val="00B050"/>
                </a:solidFill>
              </a:rPr>
              <a:t> 9 </a:t>
            </a:r>
            <a:r>
              <a:rPr lang="nl-BE" sz="2000" dirty="0" err="1">
                <a:solidFill>
                  <a:srgbClr val="00B050"/>
                </a:solidFill>
              </a:rPr>
              <a:t>months</a:t>
            </a:r>
            <a:r>
              <a:rPr lang="nl-BE" sz="2000" dirty="0">
                <a:solidFill>
                  <a:srgbClr val="00B050"/>
                </a:solidFill>
              </a:rPr>
              <a:t>: 21542.6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8A5CD1-59AF-2243-A7EF-0E542E45E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815" y="1005895"/>
            <a:ext cx="8528912" cy="1936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98504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432EA-3989-BA33-F4A3-FCE2004DF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02130-9503-2B60-CD19-BE2775660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Payment</a:t>
            </a:r>
            <a:r>
              <a:rPr lang="nl-BE" dirty="0"/>
              <a:t> </a:t>
            </a:r>
            <a:r>
              <a:rPr lang="nl-BE" dirty="0" err="1"/>
              <a:t>Table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8CED6E-738E-8301-5B22-13D962695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87</a:t>
            </a:fld>
            <a:endParaRPr lang="nl-NL"/>
          </a:p>
        </p:txBody>
      </p:sp>
      <p:graphicFrame>
        <p:nvGraphicFramePr>
          <p:cNvPr id="7" name="Table 16">
            <a:extLst>
              <a:ext uri="{FF2B5EF4-FFF2-40B4-BE49-F238E27FC236}">
                <a16:creationId xmlns:a16="http://schemas.microsoft.com/office/drawing/2014/main" id="{45870283-89B2-B1C5-55CC-A7D6531AFBD7}"/>
              </a:ext>
            </a:extLst>
          </p:cNvPr>
          <p:cNvGraphicFramePr>
            <a:graphicFrameLocks noGrp="1"/>
          </p:cNvGraphicFramePr>
          <p:nvPr/>
        </p:nvGraphicFramePr>
        <p:xfrm>
          <a:off x="683568" y="3057395"/>
          <a:ext cx="3376108" cy="2291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054">
                  <a:extLst>
                    <a:ext uri="{9D8B030D-6E8A-4147-A177-3AD203B41FA5}">
                      <a16:colId xmlns:a16="http://schemas.microsoft.com/office/drawing/2014/main" val="1578293503"/>
                    </a:ext>
                  </a:extLst>
                </a:gridCol>
                <a:gridCol w="1688054">
                  <a:extLst>
                    <a:ext uri="{9D8B030D-6E8A-4147-A177-3AD203B41FA5}">
                      <a16:colId xmlns:a16="http://schemas.microsoft.com/office/drawing/2014/main" val="1598873801"/>
                    </a:ext>
                  </a:extLst>
                </a:gridCol>
              </a:tblGrid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Variable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 err="1"/>
                        <a:t>value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2581224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loan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10000.0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214135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/>
                        <a:t>interest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0.1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6031368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payment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150.0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7616764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outstanding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21542.55…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114125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nl-BE" dirty="0" err="1"/>
                        <a:t>month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10</a:t>
                      </a:r>
                      <a:endParaRPr lang="LID4096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460607"/>
                  </a:ext>
                </a:extLst>
              </a:tr>
            </a:tbl>
          </a:graphicData>
        </a:graphic>
      </p:graphicFrame>
      <p:sp>
        <p:nvSpPr>
          <p:cNvPr id="8" name="Arrow: Right 7">
            <a:extLst>
              <a:ext uri="{FF2B5EF4-FFF2-40B4-BE49-F238E27FC236}">
                <a16:creationId xmlns:a16="http://schemas.microsoft.com/office/drawing/2014/main" id="{E4947826-C722-894D-58D9-D35C97E9B506}"/>
              </a:ext>
            </a:extLst>
          </p:cNvPr>
          <p:cNvSpPr/>
          <p:nvPr/>
        </p:nvSpPr>
        <p:spPr>
          <a:xfrm>
            <a:off x="178950" y="1632867"/>
            <a:ext cx="288032" cy="2572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5816D0-A6DD-C451-DAEA-495E2B8C9526}"/>
              </a:ext>
            </a:extLst>
          </p:cNvPr>
          <p:cNvSpPr txBox="1"/>
          <p:nvPr/>
        </p:nvSpPr>
        <p:spPr>
          <a:xfrm>
            <a:off x="4427985" y="3045019"/>
            <a:ext cx="4536504" cy="163121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BE" sz="2000" dirty="0" err="1">
                <a:solidFill>
                  <a:srgbClr val="00B050"/>
                </a:solidFill>
              </a:rPr>
              <a:t>Outstanding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loan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after</a:t>
            </a:r>
            <a:r>
              <a:rPr lang="nl-BE" sz="2000" dirty="0">
                <a:solidFill>
                  <a:srgbClr val="00B050"/>
                </a:solidFill>
              </a:rPr>
              <a:t> 1 </a:t>
            </a:r>
            <a:r>
              <a:rPr lang="nl-BE" sz="2000" dirty="0" err="1">
                <a:solidFill>
                  <a:srgbClr val="00B050"/>
                </a:solidFill>
              </a:rPr>
              <a:t>months</a:t>
            </a:r>
            <a:r>
              <a:rPr lang="nl-BE" sz="2000" dirty="0">
                <a:solidFill>
                  <a:srgbClr val="00B050"/>
                </a:solidFill>
              </a:rPr>
              <a:t>: 10850.0</a:t>
            </a:r>
          </a:p>
          <a:p>
            <a:r>
              <a:rPr lang="nl-BE" sz="2000" dirty="0" err="1">
                <a:solidFill>
                  <a:srgbClr val="00B050"/>
                </a:solidFill>
              </a:rPr>
              <a:t>Outstanding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loan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after</a:t>
            </a:r>
            <a:r>
              <a:rPr lang="nl-BE" sz="2000" dirty="0">
                <a:solidFill>
                  <a:srgbClr val="00B050"/>
                </a:solidFill>
              </a:rPr>
              <a:t> 2 </a:t>
            </a:r>
            <a:r>
              <a:rPr lang="nl-BE" sz="2000" dirty="0" err="1">
                <a:solidFill>
                  <a:srgbClr val="00B050"/>
                </a:solidFill>
              </a:rPr>
              <a:t>months</a:t>
            </a:r>
            <a:r>
              <a:rPr lang="nl-BE" sz="2000" dirty="0">
                <a:solidFill>
                  <a:srgbClr val="00B050"/>
                </a:solidFill>
              </a:rPr>
              <a:t>: 11785.0</a:t>
            </a:r>
          </a:p>
          <a:p>
            <a:r>
              <a:rPr lang="nl-BE" sz="2000" dirty="0" err="1">
                <a:solidFill>
                  <a:srgbClr val="00B050"/>
                </a:solidFill>
              </a:rPr>
              <a:t>Outstanding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loan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after</a:t>
            </a:r>
            <a:r>
              <a:rPr lang="nl-BE" sz="2000" dirty="0">
                <a:solidFill>
                  <a:srgbClr val="00B050"/>
                </a:solidFill>
              </a:rPr>
              <a:t> 3 </a:t>
            </a:r>
            <a:r>
              <a:rPr lang="nl-BE" sz="2000" dirty="0" err="1">
                <a:solidFill>
                  <a:srgbClr val="00B050"/>
                </a:solidFill>
              </a:rPr>
              <a:t>months</a:t>
            </a:r>
            <a:r>
              <a:rPr lang="nl-BE" sz="2000" dirty="0">
                <a:solidFill>
                  <a:srgbClr val="00B050"/>
                </a:solidFill>
              </a:rPr>
              <a:t>: 12813.5</a:t>
            </a:r>
          </a:p>
          <a:p>
            <a:r>
              <a:rPr lang="nl-BE" sz="2000" dirty="0">
                <a:solidFill>
                  <a:srgbClr val="00B050"/>
                </a:solidFill>
              </a:rPr>
              <a:t>…</a:t>
            </a:r>
          </a:p>
          <a:p>
            <a:r>
              <a:rPr lang="nl-BE" sz="2000" dirty="0" err="1">
                <a:solidFill>
                  <a:srgbClr val="00B050"/>
                </a:solidFill>
              </a:rPr>
              <a:t>Outstanding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loan</a:t>
            </a:r>
            <a:r>
              <a:rPr lang="nl-BE" sz="2000" dirty="0">
                <a:solidFill>
                  <a:srgbClr val="00B050"/>
                </a:solidFill>
              </a:rPr>
              <a:t> </a:t>
            </a:r>
            <a:r>
              <a:rPr lang="nl-BE" sz="2000" dirty="0" err="1">
                <a:solidFill>
                  <a:srgbClr val="00B050"/>
                </a:solidFill>
              </a:rPr>
              <a:t>after</a:t>
            </a:r>
            <a:r>
              <a:rPr lang="nl-BE" sz="2000" dirty="0">
                <a:solidFill>
                  <a:srgbClr val="00B050"/>
                </a:solidFill>
              </a:rPr>
              <a:t> 9 </a:t>
            </a:r>
            <a:r>
              <a:rPr lang="nl-BE" sz="2000" dirty="0" err="1">
                <a:solidFill>
                  <a:srgbClr val="00B050"/>
                </a:solidFill>
              </a:rPr>
              <a:t>months</a:t>
            </a:r>
            <a:r>
              <a:rPr lang="nl-BE" sz="2000" dirty="0">
                <a:solidFill>
                  <a:srgbClr val="00B050"/>
                </a:solidFill>
              </a:rPr>
              <a:t>: 21542.6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ABB964-E0E0-25BF-A124-CEE3E071C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815" y="1005895"/>
            <a:ext cx="8528912" cy="1936696"/>
          </a:xfrm>
          <a:prstGeom prst="rect">
            <a:avLst/>
          </a:prstGeom>
        </p:spPr>
      </p:pic>
      <p:pic>
        <p:nvPicPr>
          <p:cNvPr id="9" name="Graphic 8" descr="Close with solid fill">
            <a:extLst>
              <a:ext uri="{FF2B5EF4-FFF2-40B4-BE49-F238E27FC236}">
                <a16:creationId xmlns:a16="http://schemas.microsoft.com/office/drawing/2014/main" id="{E316D47A-87EC-5B18-BD9B-BEC7265DE1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45276" y="114489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823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97FCD-2CC0-0726-828C-E1FA03E69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Note</a:t>
            </a:r>
            <a:r>
              <a:rPr lang="nl-BE" dirty="0"/>
              <a:t>: </a:t>
            </a:r>
            <a:r>
              <a:rPr lang="nl-BE" i="1" dirty="0" err="1"/>
              <a:t>for</a:t>
            </a:r>
            <a:r>
              <a:rPr lang="nl-BE" dirty="0"/>
              <a:t> versus </a:t>
            </a:r>
            <a:r>
              <a:rPr lang="nl-BE" i="1" dirty="0" err="1"/>
              <a:t>while</a:t>
            </a:r>
            <a:endParaRPr lang="LID4096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D56F0-BDAD-6D5E-3303-CAF4304D9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 err="1"/>
              <a:t>Everything</a:t>
            </a:r>
            <a:r>
              <a:rPr lang="nl-BE" dirty="0"/>
              <a:t> we </a:t>
            </a:r>
            <a:r>
              <a:rPr lang="nl-BE" dirty="0" err="1"/>
              <a:t>can</a:t>
            </a:r>
            <a:r>
              <a:rPr lang="nl-BE" dirty="0"/>
              <a:t> do </a:t>
            </a:r>
            <a:r>
              <a:rPr lang="nl-BE" dirty="0" err="1"/>
              <a:t>with</a:t>
            </a:r>
            <a:r>
              <a:rPr lang="nl-BE" dirty="0"/>
              <a:t> </a:t>
            </a:r>
            <a:r>
              <a:rPr lang="nl-BE" dirty="0" err="1"/>
              <a:t>for</a:t>
            </a:r>
            <a:r>
              <a:rPr lang="nl-BE" dirty="0"/>
              <a:t> we </a:t>
            </a:r>
            <a:r>
              <a:rPr lang="nl-BE" dirty="0" err="1"/>
              <a:t>can</a:t>
            </a:r>
            <a:r>
              <a:rPr lang="nl-BE" dirty="0"/>
              <a:t> </a:t>
            </a:r>
            <a:r>
              <a:rPr lang="nl-BE" dirty="0" err="1"/>
              <a:t>also</a:t>
            </a:r>
            <a:r>
              <a:rPr lang="nl-BE" dirty="0"/>
              <a:t> do </a:t>
            </a:r>
            <a:r>
              <a:rPr lang="nl-BE" dirty="0" err="1"/>
              <a:t>with</a:t>
            </a:r>
            <a:r>
              <a:rPr lang="nl-BE" dirty="0"/>
              <a:t> </a:t>
            </a:r>
            <a:r>
              <a:rPr lang="nl-BE" dirty="0" err="1"/>
              <a:t>while</a:t>
            </a:r>
            <a:r>
              <a:rPr lang="nl-BE" dirty="0"/>
              <a:t>: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33C31-084C-0B8A-B394-70CACEC7A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88</a:t>
            </a:fld>
            <a:endParaRPr lang="nl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24AD64-7F14-29D9-78DE-5AC73056F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44824"/>
            <a:ext cx="8541065" cy="12961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3C7CD1-479A-3DF1-08F2-6EDC7DD67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53" y="3584882"/>
            <a:ext cx="8528912" cy="193669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F676B22-A274-8F9A-422D-83844C0CC807}"/>
                  </a:ext>
                </a:extLst>
              </p14:cNvPr>
              <p14:cNvContentPartPr/>
              <p14:nvPr/>
            </p14:nvContentPartPr>
            <p14:xfrm>
              <a:off x="1102418" y="4044982"/>
              <a:ext cx="891000" cy="180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F676B22-A274-8F9A-422D-83844C0CC80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8778" y="3936982"/>
                <a:ext cx="99864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F80C149-797B-4EBC-EA2A-770081C449FF}"/>
                  </a:ext>
                </a:extLst>
              </p14:cNvPr>
              <p14:cNvContentPartPr/>
              <p14:nvPr/>
            </p14:nvContentPartPr>
            <p14:xfrm>
              <a:off x="1107818" y="4370782"/>
              <a:ext cx="1818000" cy="576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F80C149-797B-4EBC-EA2A-770081C449F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54178" y="4263142"/>
                <a:ext cx="192564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47A3A50-1B31-4ED3-03F4-B6B15EA9E21F}"/>
                  </a:ext>
                </a:extLst>
              </p14:cNvPr>
              <p14:cNvContentPartPr/>
              <p14:nvPr/>
            </p14:nvContentPartPr>
            <p14:xfrm>
              <a:off x="1368458" y="5308582"/>
              <a:ext cx="1554480" cy="673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47A3A50-1B31-4ED3-03F4-B6B15EA9E21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14458" y="5200942"/>
                <a:ext cx="166212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70D4418-534C-08BC-4ED7-751DE3D7DD3B}"/>
                  </a:ext>
                </a:extLst>
              </p14:cNvPr>
              <p14:cNvContentPartPr/>
              <p14:nvPr/>
            </p14:nvContentPartPr>
            <p14:xfrm>
              <a:off x="1113218" y="2315542"/>
              <a:ext cx="2998080" cy="399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70D4418-534C-08BC-4ED7-751DE3D7DD3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59578" y="2207542"/>
                <a:ext cx="3105720" cy="255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1381407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D9C0D-996D-AF67-F92E-48A97EBE9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Exercise</a:t>
            </a:r>
            <a:r>
              <a:rPr lang="nl-BE" dirty="0"/>
              <a:t> 6 – interest </a:t>
            </a:r>
            <a:r>
              <a:rPr lang="nl-BE" dirty="0" err="1"/>
              <a:t>rate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CE881-4CB4-B196-AB8B-463273135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Change </a:t>
            </a:r>
            <a:r>
              <a:rPr lang="nl-BE" dirty="0" err="1"/>
              <a:t>the</a:t>
            </a:r>
            <a:r>
              <a:rPr lang="nl-BE" dirty="0"/>
              <a:t> code: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 err="1"/>
              <a:t>Ask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user </a:t>
            </a:r>
            <a:r>
              <a:rPr lang="nl-BE" dirty="0" err="1"/>
              <a:t>for</a:t>
            </a:r>
            <a:r>
              <a:rPr lang="nl-BE" dirty="0"/>
              <a:t> </a:t>
            </a:r>
            <a:r>
              <a:rPr lang="nl-BE" dirty="0" err="1"/>
              <a:t>how</a:t>
            </a:r>
            <a:r>
              <a:rPr lang="nl-BE" dirty="0"/>
              <a:t> </a:t>
            </a:r>
            <a:r>
              <a:rPr lang="nl-BE" dirty="0" err="1"/>
              <a:t>many</a:t>
            </a:r>
            <a:r>
              <a:rPr lang="nl-BE" dirty="0"/>
              <a:t> </a:t>
            </a:r>
            <a:r>
              <a:rPr lang="nl-BE" dirty="0" err="1"/>
              <a:t>years</a:t>
            </a:r>
            <a:r>
              <a:rPr lang="nl-BE" dirty="0"/>
              <a:t> </a:t>
            </a:r>
            <a:r>
              <a:rPr lang="nl-BE" dirty="0" err="1"/>
              <a:t>they</a:t>
            </a:r>
            <a:r>
              <a:rPr lang="nl-BE" dirty="0"/>
              <a:t> want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table</a:t>
            </a:r>
            <a:endParaRPr lang="nl-BE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Print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monthly</a:t>
            </a:r>
            <a:r>
              <a:rPr lang="nl-BE" dirty="0"/>
              <a:t> </a:t>
            </a:r>
            <a:r>
              <a:rPr lang="nl-BE" dirty="0" err="1"/>
              <a:t>table</a:t>
            </a:r>
            <a:r>
              <a:rPr lang="nl-BE" dirty="0"/>
              <a:t> </a:t>
            </a:r>
            <a:r>
              <a:rPr lang="nl-BE" dirty="0" err="1"/>
              <a:t>for</a:t>
            </a:r>
            <a:r>
              <a:rPr lang="nl-BE" dirty="0"/>
              <a:t> </a:t>
            </a:r>
            <a:r>
              <a:rPr lang="nl-BE" dirty="0" err="1"/>
              <a:t>that</a:t>
            </a:r>
            <a:r>
              <a:rPr lang="nl-BE" dirty="0"/>
              <a:t> </a:t>
            </a:r>
            <a:r>
              <a:rPr lang="nl-BE" dirty="0" err="1"/>
              <a:t>many</a:t>
            </a:r>
            <a:r>
              <a:rPr lang="nl-BE" dirty="0"/>
              <a:t> </a:t>
            </a:r>
            <a:r>
              <a:rPr lang="nl-BE" dirty="0" err="1"/>
              <a:t>years</a:t>
            </a:r>
            <a:endParaRPr lang="nl-BE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dirty="0"/>
          </a:p>
          <a:p>
            <a:r>
              <a:rPr lang="nl-BE" dirty="0" err="1"/>
              <a:t>Extensions</a:t>
            </a:r>
            <a:r>
              <a:rPr lang="nl-BE" dirty="0"/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Stop </a:t>
            </a:r>
            <a:r>
              <a:rPr lang="nl-BE" dirty="0" err="1"/>
              <a:t>if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outstanding</a:t>
            </a:r>
            <a:r>
              <a:rPr lang="nl-BE" dirty="0"/>
              <a:t> </a:t>
            </a:r>
            <a:r>
              <a:rPr lang="nl-BE" dirty="0" err="1"/>
              <a:t>amount</a:t>
            </a:r>
            <a:r>
              <a:rPr lang="nl-BE" dirty="0"/>
              <a:t> </a:t>
            </a:r>
            <a:r>
              <a:rPr lang="nl-BE" dirty="0" err="1"/>
              <a:t>reaches</a:t>
            </a:r>
            <a:r>
              <a:rPr lang="nl-BE" dirty="0"/>
              <a:t> (or </a:t>
            </a:r>
            <a:r>
              <a:rPr lang="nl-BE" dirty="0" err="1"/>
              <a:t>becomes</a:t>
            </a:r>
            <a:r>
              <a:rPr lang="nl-BE" dirty="0"/>
              <a:t> </a:t>
            </a:r>
            <a:r>
              <a:rPr lang="nl-BE" dirty="0" err="1"/>
              <a:t>lower</a:t>
            </a:r>
            <a:r>
              <a:rPr lang="nl-BE" dirty="0"/>
              <a:t> </a:t>
            </a:r>
            <a:r>
              <a:rPr lang="nl-BE" dirty="0" err="1"/>
              <a:t>than</a:t>
            </a:r>
            <a:r>
              <a:rPr lang="nl-BE" dirty="0"/>
              <a:t>) 0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 err="1"/>
              <a:t>Compute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total</a:t>
            </a:r>
            <a:r>
              <a:rPr lang="nl-BE" dirty="0"/>
              <a:t> </a:t>
            </a:r>
            <a:r>
              <a:rPr lang="nl-BE" dirty="0" err="1"/>
              <a:t>payment</a:t>
            </a:r>
            <a:endParaRPr lang="nl-BE" dirty="0"/>
          </a:p>
          <a:p>
            <a:pPr marL="673200" lvl="1" indent="-457200">
              <a:buFont typeface="Arial" panose="020B0604020202020204" pitchFamily="34" charset="0"/>
              <a:buChar char="•"/>
            </a:pPr>
            <a:r>
              <a:rPr lang="nl-BE" dirty="0"/>
              <a:t>Take </a:t>
            </a:r>
            <a:r>
              <a:rPr lang="nl-BE" dirty="0" err="1"/>
              <a:t>into</a:t>
            </a:r>
            <a:r>
              <a:rPr lang="nl-BE" dirty="0"/>
              <a:t> account </a:t>
            </a:r>
            <a:r>
              <a:rPr lang="nl-BE" dirty="0" err="1"/>
              <a:t>that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last </a:t>
            </a:r>
            <a:r>
              <a:rPr lang="nl-BE" dirty="0" err="1"/>
              <a:t>payment</a:t>
            </a:r>
            <a:r>
              <a:rPr lang="nl-BE" dirty="0"/>
              <a:t> is </a:t>
            </a:r>
            <a:r>
              <a:rPr lang="nl-BE" dirty="0" err="1"/>
              <a:t>not</a:t>
            </a:r>
            <a:r>
              <a:rPr lang="nl-BE" dirty="0"/>
              <a:t> </a:t>
            </a:r>
            <a:r>
              <a:rPr lang="nl-BE" dirty="0" err="1"/>
              <a:t>for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full </a:t>
            </a:r>
            <a:r>
              <a:rPr lang="nl-BE" dirty="0" err="1"/>
              <a:t>amount</a:t>
            </a:r>
            <a:r>
              <a:rPr lang="nl-BE" dirty="0"/>
              <a:t>, but </a:t>
            </a:r>
            <a:r>
              <a:rPr lang="nl-BE" dirty="0" err="1"/>
              <a:t>such</a:t>
            </a:r>
            <a:r>
              <a:rPr lang="nl-BE" dirty="0"/>
              <a:t> </a:t>
            </a:r>
            <a:r>
              <a:rPr lang="nl-BE" dirty="0" err="1"/>
              <a:t>that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balance</a:t>
            </a:r>
            <a:r>
              <a:rPr lang="nl-BE" dirty="0"/>
              <a:t> is </a:t>
            </a:r>
            <a:r>
              <a:rPr lang="nl-BE" dirty="0" err="1"/>
              <a:t>exactly</a:t>
            </a:r>
            <a:r>
              <a:rPr lang="nl-BE" dirty="0"/>
              <a:t> 0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A95E5-01DC-697C-D401-A7A34A94D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89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7518337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83075-71B2-4E7C-B57A-C493C3486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Summary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615C5-CFF8-404D-9B0D-35DA22E283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196751"/>
            <a:ext cx="8352928" cy="5406129"/>
          </a:xfrm>
        </p:spPr>
        <p:txBody>
          <a:bodyPr/>
          <a:lstStyle/>
          <a:p>
            <a:r>
              <a:rPr lang="nl-BE" dirty="0"/>
              <a:t>Variables </a:t>
            </a:r>
            <a:r>
              <a:rPr lang="nl-BE" dirty="0" err="1"/>
              <a:t>to</a:t>
            </a:r>
            <a:r>
              <a:rPr lang="nl-BE" dirty="0"/>
              <a:t> store </a:t>
            </a:r>
            <a:r>
              <a:rPr lang="nl-BE" dirty="0" err="1"/>
              <a:t>values</a:t>
            </a:r>
            <a:endParaRPr lang="nl-BE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Different types : int, </a:t>
            </a:r>
            <a:r>
              <a:rPr lang="nl-BE" dirty="0" err="1"/>
              <a:t>float</a:t>
            </a:r>
            <a:r>
              <a:rPr lang="nl-BE" dirty="0"/>
              <a:t>, string</a:t>
            </a:r>
          </a:p>
          <a:p>
            <a:r>
              <a:rPr lang="nl-BE" dirty="0" err="1"/>
              <a:t>Calculations</a:t>
            </a:r>
            <a:r>
              <a:rPr lang="nl-BE" dirty="0"/>
              <a:t> </a:t>
            </a:r>
            <a:r>
              <a:rPr lang="nl-BE" dirty="0" err="1"/>
              <a:t>with</a:t>
            </a:r>
            <a:r>
              <a:rPr lang="nl-BE" dirty="0"/>
              <a:t> </a:t>
            </a:r>
            <a:r>
              <a:rPr lang="nl-BE" dirty="0" err="1"/>
              <a:t>numbers</a:t>
            </a:r>
            <a:endParaRPr lang="nl-BE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+, -, *, /, //, %</a:t>
            </a:r>
          </a:p>
          <a:p>
            <a:r>
              <a:rPr lang="nl-BE" dirty="0" err="1"/>
              <a:t>Comparing</a:t>
            </a:r>
            <a:r>
              <a:rPr lang="nl-BE" dirty="0"/>
              <a:t> </a:t>
            </a:r>
            <a:r>
              <a:rPr lang="nl-BE" dirty="0" err="1"/>
              <a:t>values</a:t>
            </a:r>
            <a:endParaRPr lang="nl-BE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&gt;, &lt;, ==, !=</a:t>
            </a:r>
          </a:p>
          <a:p>
            <a:endParaRPr lang="nl-BE" dirty="0"/>
          </a:p>
          <a:p>
            <a:r>
              <a:rPr lang="nl-BE" dirty="0"/>
              <a:t>Loops </a:t>
            </a:r>
            <a:r>
              <a:rPr lang="nl-BE" dirty="0" err="1"/>
              <a:t>that</a:t>
            </a:r>
            <a:r>
              <a:rPr lang="nl-BE" dirty="0"/>
              <a:t> are </a:t>
            </a:r>
            <a:r>
              <a:rPr lang="nl-BE" dirty="0" err="1"/>
              <a:t>indexed</a:t>
            </a:r>
            <a:r>
              <a:rPr lang="nl-BE" dirty="0"/>
              <a:t> </a:t>
            </a:r>
            <a:r>
              <a:rPr lang="nl-BE" dirty="0" err="1"/>
              <a:t>by</a:t>
            </a:r>
            <a:r>
              <a:rPr lang="nl-BE" dirty="0"/>
              <a:t> variables: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 err="1"/>
              <a:t>for</a:t>
            </a:r>
            <a:r>
              <a:rPr lang="nl-BE" dirty="0"/>
              <a:t> </a:t>
            </a:r>
            <a:r>
              <a:rPr lang="nl-BE" dirty="0" err="1"/>
              <a:t>variable</a:t>
            </a:r>
            <a:r>
              <a:rPr lang="nl-BE" dirty="0"/>
              <a:t> in range(</a:t>
            </a:r>
            <a:r>
              <a:rPr lang="nl-BE" dirty="0" err="1"/>
              <a:t>start,end</a:t>
            </a:r>
            <a:r>
              <a:rPr lang="nl-BE" dirty="0"/>
              <a:t>):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E3FE4-9B38-42E5-BD59-B6C878C2A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90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06219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432"/>
    </mc:Choice>
    <mc:Fallback xmlns="">
      <p:transition spd="slow" advTm="49432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Tijdelijke aanduiding voor afbeelding 2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" r="358"/>
          <a:stretch/>
        </p:blipFill>
        <p:spPr>
          <a:xfrm>
            <a:off x="-9246" y="-27384"/>
            <a:ext cx="9153245" cy="6852793"/>
          </a:xfrm>
          <a:prstGeom prst="rect">
            <a:avLst/>
          </a:prstGeom>
        </p:spPr>
      </p:pic>
      <p:pic>
        <p:nvPicPr>
          <p:cNvPr id="6" name="Tijdelijke aanduiding voor afbeelding 5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" b="246"/>
          <a:stretch>
            <a:fillRect/>
          </a:stretch>
        </p:blipFill>
        <p:spPr>
          <a:xfrm>
            <a:off x="-18000" y="5229200"/>
            <a:ext cx="9162000" cy="1662617"/>
          </a:xfrm>
        </p:spPr>
      </p:pic>
      <p:sp>
        <p:nvSpPr>
          <p:cNvPr id="4" name="Titel 3"/>
          <p:cNvSpPr>
            <a:spLocks noGrp="1"/>
          </p:cNvSpPr>
          <p:nvPr>
            <p:ph type="ctrTitle"/>
          </p:nvPr>
        </p:nvSpPr>
        <p:spPr>
          <a:xfrm>
            <a:off x="395536" y="1647776"/>
            <a:ext cx="8352928" cy="749812"/>
          </a:xfrm>
          <a:noFill/>
        </p:spPr>
        <p:txBody>
          <a:bodyPr/>
          <a:lstStyle/>
          <a:p>
            <a:pPr algn="ctr"/>
            <a:r>
              <a:rPr lang="en-GB" sz="4400" dirty="0"/>
              <a:t>Part 3 - Coding Decision Trees</a:t>
            </a:r>
            <a:endParaRPr lang="nl-BE" sz="4400" dirty="0"/>
          </a:p>
        </p:txBody>
      </p:sp>
    </p:spTree>
    <p:extLst>
      <p:ext uri="{BB962C8B-B14F-4D97-AF65-F5344CB8AC3E}">
        <p14:creationId xmlns:p14="http://schemas.microsoft.com/office/powerpoint/2010/main" val="384286115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F9D802-9A87-45D8-A13F-5F884871A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92</a:t>
            </a:fld>
            <a:endParaRPr lang="nl-NL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14CAB8D-2611-46B4-B559-92188FB0B3CB}"/>
              </a:ext>
            </a:extLst>
          </p:cNvPr>
          <p:cNvSpPr txBox="1">
            <a:spLocks/>
          </p:cNvSpPr>
          <p:nvPr/>
        </p:nvSpPr>
        <p:spPr>
          <a:xfrm>
            <a:off x="539552" y="2492896"/>
            <a:ext cx="8064896" cy="2016224"/>
          </a:xfrm>
          <a:prstGeom prst="rect">
            <a:avLst/>
          </a:prstGeom>
        </p:spPr>
        <p:txBody>
          <a:bodyPr vert="horz" lIns="0" tIns="36000" rIns="0" bIns="3600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Decision trees for regular use cases</a:t>
            </a:r>
          </a:p>
        </p:txBody>
      </p:sp>
    </p:spTree>
    <p:extLst>
      <p:ext uri="{BB962C8B-B14F-4D97-AF65-F5344CB8AC3E}">
        <p14:creationId xmlns:p14="http://schemas.microsoft.com/office/powerpoint/2010/main" val="220342698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22061-3148-9018-756E-A32141D2B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Example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A57C7-4928-57B2-DDAF-00F1DDD4F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Write a program that checks if a given year is a leap year or not. A leap year is divisible by 4, but not by 100, unless it is divisible by 400. E.g. 2004 and 2000 are leap years, but 1800 and 1900 not.</a:t>
            </a:r>
          </a:p>
          <a:p>
            <a:endParaRPr lang="en-US" sz="3200" dirty="0"/>
          </a:p>
          <a:p>
            <a:r>
              <a:rPr lang="en-US" sz="3200" dirty="0"/>
              <a:t>	y%4	:	remainder after division by 4</a:t>
            </a:r>
          </a:p>
          <a:p>
            <a:r>
              <a:rPr lang="en-US" sz="3200" dirty="0"/>
              <a:t>	y%4 == 0 :	True if y is a multiple of 4</a:t>
            </a:r>
          </a:p>
          <a:p>
            <a:endParaRPr lang="en-US" sz="3200" dirty="0"/>
          </a:p>
          <a:p>
            <a:r>
              <a:rPr lang="en-US" sz="3200" dirty="0"/>
              <a:t>7%4 == 3 	</a:t>
            </a:r>
            <a:r>
              <a:rPr lang="en-US" sz="3200" dirty="0">
                <a:sym typeface="Wingdings" panose="05000000000000000000" pitchFamily="2" charset="2"/>
              </a:rPr>
              <a:t> 7 not divisible by 4</a:t>
            </a:r>
          </a:p>
          <a:p>
            <a:r>
              <a:rPr lang="en-US" sz="3200" dirty="0">
                <a:sym typeface="Wingdings" panose="05000000000000000000" pitchFamily="2" charset="2"/>
              </a:rPr>
              <a:t>8%4 == 0	 8 divisible by 4</a:t>
            </a:r>
            <a:endParaRPr lang="en-US" sz="3200" dirty="0"/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BBBF93-076A-962E-2E9D-28CD358C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93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48832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9B6991-AAA0-4224-94B0-9F37F0B2A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94</a:t>
            </a:fld>
            <a:endParaRPr lang="nl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6621C6-B7EB-451D-92CE-105CEB7AD6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44" y="1628800"/>
            <a:ext cx="9059756" cy="3057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88311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9B6991-AAA0-4224-94B0-9F37F0B2A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95</a:t>
            </a:fld>
            <a:endParaRPr lang="nl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6621C6-B7EB-451D-92CE-105CEB7AD6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44" y="1628800"/>
            <a:ext cx="9059756" cy="305795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18F4CB1-2EE4-4F04-90C7-9FC6C5797B8F}"/>
              </a:ext>
            </a:extLst>
          </p:cNvPr>
          <p:cNvSpPr txBox="1"/>
          <p:nvPr/>
        </p:nvSpPr>
        <p:spPr>
          <a:xfrm>
            <a:off x="7668344" y="404664"/>
            <a:ext cx="1368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2004</a:t>
            </a:r>
            <a:endParaRPr lang="en-BE" sz="24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5CEDAD9-F3A3-4F97-ADFE-3EF462C00DD9}"/>
              </a:ext>
            </a:extLst>
          </p:cNvPr>
          <p:cNvSpPr/>
          <p:nvPr/>
        </p:nvSpPr>
        <p:spPr>
          <a:xfrm>
            <a:off x="3491880" y="1772816"/>
            <a:ext cx="864096" cy="504056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F000DE6-E331-4160-8C3A-D11E24973BDB}"/>
              </a:ext>
            </a:extLst>
          </p:cNvPr>
          <p:cNvSpPr/>
          <p:nvPr/>
        </p:nvSpPr>
        <p:spPr>
          <a:xfrm>
            <a:off x="2699792" y="2530613"/>
            <a:ext cx="864096" cy="504056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10423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9B6991-AAA0-4224-94B0-9F37F0B2A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96</a:t>
            </a:fld>
            <a:endParaRPr lang="nl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6621C6-B7EB-451D-92CE-105CEB7AD6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44" y="1628800"/>
            <a:ext cx="9059756" cy="305795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18F4CB1-2EE4-4F04-90C7-9FC6C5797B8F}"/>
              </a:ext>
            </a:extLst>
          </p:cNvPr>
          <p:cNvSpPr txBox="1"/>
          <p:nvPr/>
        </p:nvSpPr>
        <p:spPr>
          <a:xfrm>
            <a:off x="7668344" y="404664"/>
            <a:ext cx="1368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1900</a:t>
            </a:r>
            <a:endParaRPr lang="en-BE" sz="24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5CEDAD9-F3A3-4F97-ADFE-3EF462C00DD9}"/>
              </a:ext>
            </a:extLst>
          </p:cNvPr>
          <p:cNvSpPr/>
          <p:nvPr/>
        </p:nvSpPr>
        <p:spPr>
          <a:xfrm>
            <a:off x="3491880" y="1772816"/>
            <a:ext cx="864096" cy="504056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F000DE6-E331-4160-8C3A-D11E24973BDB}"/>
              </a:ext>
            </a:extLst>
          </p:cNvPr>
          <p:cNvSpPr/>
          <p:nvPr/>
        </p:nvSpPr>
        <p:spPr>
          <a:xfrm>
            <a:off x="5436096" y="2530613"/>
            <a:ext cx="864096" cy="504056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6F73BA1-DC22-4814-A4E8-B5B24F077258}"/>
              </a:ext>
            </a:extLst>
          </p:cNvPr>
          <p:cNvSpPr/>
          <p:nvPr/>
        </p:nvSpPr>
        <p:spPr>
          <a:xfrm>
            <a:off x="4788024" y="3284984"/>
            <a:ext cx="864096" cy="504056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63818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5F66F-97CC-4F2C-AA84-3720E02AA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97</a:t>
            </a:fld>
            <a:endParaRPr lang="nl-NL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B8A62EB-18FD-4177-B39E-17B27E0B2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0768" y="2950350"/>
            <a:ext cx="6462464" cy="6463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GB" altLang="en-BE" sz="3600" dirty="0"/>
              <a:t>Let’s code!</a:t>
            </a:r>
            <a:endParaRPr lang="en-BE" altLang="en-BE" sz="3600" dirty="0"/>
          </a:p>
        </p:txBody>
      </p:sp>
    </p:spTree>
    <p:extLst>
      <p:ext uri="{BB962C8B-B14F-4D97-AF65-F5344CB8AC3E}">
        <p14:creationId xmlns:p14="http://schemas.microsoft.com/office/powerpoint/2010/main" val="156735041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12CD5-8E94-41FA-812C-A137BE158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16631"/>
            <a:ext cx="8064896" cy="6486249"/>
          </a:xfrm>
        </p:spPr>
        <p:txBody>
          <a:bodyPr/>
          <a:lstStyle/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year = </a:t>
            </a:r>
            <a:r>
              <a:rPr lang="en-US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"year?"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(year % 4 !=0):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"not a leap year"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(year % 100 != 0):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"leap year"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(year % 400 != 0):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"not a leap year"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"leap year"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C0F3CD-C16A-4100-8312-AAE474AE9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98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4963162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0341D-0F14-41ED-A420-EB2813A8A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2492896"/>
            <a:ext cx="8064896" cy="2016224"/>
          </a:xfrm>
        </p:spPr>
        <p:txBody>
          <a:bodyPr/>
          <a:lstStyle/>
          <a:p>
            <a:pPr algn="ctr"/>
            <a:r>
              <a:rPr lang="en-US" dirty="0"/>
              <a:t>Decision trees in law practice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A8EC8-28A0-43F8-9AC0-C0D8699E8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196752"/>
            <a:ext cx="8496944" cy="489585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FE7969-0ED0-478D-A4F5-86E56B9F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99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4764063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0341D-0F14-41ED-A420-EB2813A8A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2492896"/>
            <a:ext cx="8064896" cy="2016224"/>
          </a:xfrm>
        </p:spPr>
        <p:txBody>
          <a:bodyPr/>
          <a:lstStyle/>
          <a:p>
            <a:pPr algn="ctr"/>
            <a:r>
              <a:rPr lang="en-US" dirty="0"/>
              <a:t>Case 1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A8EC8-28A0-43F8-9AC0-C0D8699E8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196752"/>
            <a:ext cx="8496944" cy="489585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FE7969-0ED0-478D-A4F5-86E56B9F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100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3299333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5F7F9-626A-4FF9-BFDB-E840653E1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101</a:t>
            </a:fld>
            <a:endParaRPr lang="nl-NL"/>
          </a:p>
        </p:txBody>
      </p:sp>
      <p:pic>
        <p:nvPicPr>
          <p:cNvPr id="8194" name="Picture 2" descr="Afbeeldingsresultaat voor gdpr flow diagram what is personal data">
            <a:extLst>
              <a:ext uri="{FF2B5EF4-FFF2-40B4-BE49-F238E27FC236}">
                <a16:creationId xmlns:a16="http://schemas.microsoft.com/office/drawing/2014/main" id="{CF892935-558F-4710-9848-29B0657EAC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-421680"/>
            <a:ext cx="5904656" cy="7739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C76171-5F02-4937-9CD9-9EBD6F294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Q7: GDPR </a:t>
            </a:r>
          </a:p>
        </p:txBody>
      </p:sp>
      <p:pic>
        <p:nvPicPr>
          <p:cNvPr id="3" name="Afbeelding 6">
            <a:extLst>
              <a:ext uri="{FF2B5EF4-FFF2-40B4-BE49-F238E27FC236}">
                <a16:creationId xmlns:a16="http://schemas.microsoft.com/office/drawing/2014/main" id="{D3A050EB-E36F-035A-2FC5-024CD5FDBD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021288"/>
            <a:ext cx="9162000" cy="835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24384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0341D-0F14-41ED-A420-EB2813A8A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2492896"/>
            <a:ext cx="8064896" cy="2016224"/>
          </a:xfrm>
        </p:spPr>
        <p:txBody>
          <a:bodyPr/>
          <a:lstStyle/>
          <a:p>
            <a:pPr algn="ctr"/>
            <a:r>
              <a:rPr lang="en-US" dirty="0"/>
              <a:t>Case 2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A8EC8-28A0-43F8-9AC0-C0D8699E8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197446"/>
            <a:ext cx="8496944" cy="489585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FE7969-0ED0-478D-A4F5-86E56B9F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102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613276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1284A-F6BE-4E8F-8511-04759C857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Q8 - Unfair contract terms</a:t>
            </a:r>
          </a:p>
        </p:txBody>
      </p:sp>
      <p:sp>
        <p:nvSpPr>
          <p:cNvPr id="41" name="Content Placeholder 40">
            <a:extLst>
              <a:ext uri="{FF2B5EF4-FFF2-40B4-BE49-F238E27FC236}">
                <a16:creationId xmlns:a16="http://schemas.microsoft.com/office/drawing/2014/main" id="{E95771BD-58D1-4E80-BA06-394A03DD7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Tx/>
              <a:buChar char="-"/>
            </a:pPr>
            <a:r>
              <a:rPr lang="en-US" sz="2400" dirty="0"/>
              <a:t>Directive 93/13 (the Unfair Contract Terms Directive) bans the use of certain terms in contracts between traders and consumers</a:t>
            </a:r>
          </a:p>
          <a:p>
            <a:pPr marL="457200" indent="-457200">
              <a:buFontTx/>
              <a:buChar char="-"/>
            </a:pPr>
            <a:r>
              <a:rPr lang="en-US" sz="2400" dirty="0"/>
              <a:t>Key provisions:</a:t>
            </a:r>
          </a:p>
          <a:p>
            <a:pPr lvl="3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1CF148-9E67-47A5-A598-6BC978431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103</a:t>
            </a:fld>
            <a:endParaRPr lang="nl-NL"/>
          </a:p>
        </p:txBody>
      </p:sp>
      <p:pic>
        <p:nvPicPr>
          <p:cNvPr id="13" name="Picture 12" descr="Text&#10;&#10;Description automatically generated">
            <a:extLst>
              <a:ext uri="{FF2B5EF4-FFF2-40B4-BE49-F238E27FC236}">
                <a16:creationId xmlns:a16="http://schemas.microsoft.com/office/drawing/2014/main" id="{CDC160B2-9920-4F68-820C-0F18978194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4235" y="2781451"/>
            <a:ext cx="4080463" cy="3201689"/>
          </a:xfrm>
          <a:prstGeom prst="rect">
            <a:avLst/>
          </a:prstGeom>
        </p:spPr>
      </p:pic>
      <p:pic>
        <p:nvPicPr>
          <p:cNvPr id="15" name="Picture 14" descr="Text, letter&#10;&#10;Description automatically generated">
            <a:extLst>
              <a:ext uri="{FF2B5EF4-FFF2-40B4-BE49-F238E27FC236}">
                <a16:creationId xmlns:a16="http://schemas.microsoft.com/office/drawing/2014/main" id="{C80D88A0-860F-4945-88BB-49E683A823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3" y="3927032"/>
            <a:ext cx="4062027" cy="2058667"/>
          </a:xfrm>
          <a:prstGeom prst="rect">
            <a:avLst/>
          </a:prstGeom>
        </p:spPr>
      </p:pic>
      <p:pic>
        <p:nvPicPr>
          <p:cNvPr id="17" name="Picture 16" descr="Text, letter&#10;&#10;Description automatically generated">
            <a:extLst>
              <a:ext uri="{FF2B5EF4-FFF2-40B4-BE49-F238E27FC236}">
                <a16:creationId xmlns:a16="http://schemas.microsoft.com/office/drawing/2014/main" id="{9B5E87AE-26D3-41AB-9051-46384E2764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16" y="2784930"/>
            <a:ext cx="4080463" cy="961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7593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1284A-F6BE-4E8F-8511-04759C857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Q8 - Unfair contract terms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1CF148-9E67-47A5-A598-6BC978431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104</a:t>
            </a:fld>
            <a:endParaRPr lang="nl-NL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FD973A0-9476-49A4-9EEF-6EB4778F9A0D}"/>
              </a:ext>
            </a:extLst>
          </p:cNvPr>
          <p:cNvGrpSpPr/>
          <p:nvPr/>
        </p:nvGrpSpPr>
        <p:grpSpPr>
          <a:xfrm>
            <a:off x="618443" y="1052737"/>
            <a:ext cx="7838680" cy="5205615"/>
            <a:chOff x="618443" y="1052737"/>
            <a:chExt cx="7838680" cy="520561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9AFCE79-9A7C-42B3-A6F4-990AF8D7CAF0}"/>
                </a:ext>
              </a:extLst>
            </p:cNvPr>
            <p:cNvSpPr/>
            <p:nvPr/>
          </p:nvSpPr>
          <p:spPr>
            <a:xfrm>
              <a:off x="2915816" y="1052737"/>
              <a:ext cx="3096344" cy="487511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solidFill>
                    <a:schemeClr val="bg1"/>
                  </a:solidFill>
                </a:rPr>
                <a:t>Is a term in a bilateral contract unfair in the sense of Directive 93/13?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B667E66-3E5C-4CCE-9420-1F8D62CADD34}"/>
                </a:ext>
              </a:extLst>
            </p:cNvPr>
            <p:cNvSpPr/>
            <p:nvPr/>
          </p:nvSpPr>
          <p:spPr>
            <a:xfrm>
              <a:off x="3444544" y="1970478"/>
              <a:ext cx="2016224" cy="411280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solidFill>
                    <a:schemeClr val="tx1"/>
                  </a:solidFill>
                </a:rPr>
                <a:t>Is one party to the contract a consumer?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B9187C6D-A555-4AA5-B579-C704CE659895}"/>
                </a:ext>
              </a:extLst>
            </p:cNvPr>
            <p:cNvCxnSpPr>
              <a:cxnSpLocks/>
            </p:cNvCxnSpPr>
            <p:nvPr/>
          </p:nvCxnSpPr>
          <p:spPr>
            <a:xfrm>
              <a:off x="4463988" y="1512373"/>
              <a:ext cx="0" cy="44859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Connector: Elbow 11">
              <a:extLst>
                <a:ext uri="{FF2B5EF4-FFF2-40B4-BE49-F238E27FC236}">
                  <a16:creationId xmlns:a16="http://schemas.microsoft.com/office/drawing/2014/main" id="{610EABF5-FE00-41BC-A579-A4AABE2972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60768" y="2181047"/>
              <a:ext cx="756084" cy="878"/>
            </a:xfrm>
            <a:prstGeom prst="bentConnector3">
              <a:avLst>
                <a:gd name="adj1" fmla="val 50000"/>
              </a:avLst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6106027-AE5D-4DAA-8662-151211FBDE83}"/>
                </a:ext>
              </a:extLst>
            </p:cNvPr>
            <p:cNvSpPr txBox="1"/>
            <p:nvPr/>
          </p:nvSpPr>
          <p:spPr>
            <a:xfrm>
              <a:off x="5460768" y="1899119"/>
              <a:ext cx="4888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No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BAA5BBE9-7C68-4FE1-82E0-EE87E7B4B8E0}"/>
                </a:ext>
              </a:extLst>
            </p:cNvPr>
            <p:cNvSpPr/>
            <p:nvPr/>
          </p:nvSpPr>
          <p:spPr>
            <a:xfrm>
              <a:off x="6216852" y="1886287"/>
              <a:ext cx="1584176" cy="562327"/>
            </a:xfrm>
            <a:prstGeom prst="round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The directive does not apply to this contract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C42C26F-949F-4DC2-9808-BCC30F4B53BE}"/>
                </a:ext>
              </a:extLst>
            </p:cNvPr>
            <p:cNvSpPr txBox="1"/>
            <p:nvPr/>
          </p:nvSpPr>
          <p:spPr>
            <a:xfrm>
              <a:off x="5520457" y="2758328"/>
              <a:ext cx="4888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Yes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3015255C-695D-420B-8DA3-BB23AECC94D9}"/>
                </a:ext>
              </a:extLst>
            </p:cNvPr>
            <p:cNvCxnSpPr/>
            <p:nvPr/>
          </p:nvCxnSpPr>
          <p:spPr>
            <a:xfrm>
              <a:off x="4476556" y="2381758"/>
              <a:ext cx="0" cy="43205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FFBDB58-48DA-4BEA-AACA-8987D3807060}"/>
                </a:ext>
              </a:extLst>
            </p:cNvPr>
            <p:cNvSpPr/>
            <p:nvPr/>
          </p:nvSpPr>
          <p:spPr>
            <a:xfrm>
              <a:off x="3455876" y="2820698"/>
              <a:ext cx="2016224" cy="420376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solidFill>
                    <a:schemeClr val="tx1"/>
                  </a:solidFill>
                </a:rPr>
                <a:t>Is the other party to the contract a consumer?</a:t>
              </a:r>
            </a:p>
          </p:txBody>
        </p:sp>
        <p:cxnSp>
          <p:nvCxnSpPr>
            <p:cNvPr id="27" name="Connector: Elbow 26">
              <a:extLst>
                <a:ext uri="{FF2B5EF4-FFF2-40B4-BE49-F238E27FC236}">
                  <a16:creationId xmlns:a16="http://schemas.microsoft.com/office/drawing/2014/main" id="{95A578C0-B01C-402D-8DD2-115154ECC88B}"/>
                </a:ext>
              </a:extLst>
            </p:cNvPr>
            <p:cNvCxnSpPr>
              <a:cxnSpLocks/>
              <a:stCxn id="26" idx="3"/>
              <a:endCxn id="19" idx="2"/>
            </p:cNvCxnSpPr>
            <p:nvPr/>
          </p:nvCxnSpPr>
          <p:spPr>
            <a:xfrm flipV="1">
              <a:off x="5472100" y="2448614"/>
              <a:ext cx="1536840" cy="582272"/>
            </a:xfrm>
            <a:prstGeom prst="bentConnector2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E77FD34-1046-459E-BFD2-216A2DF2E8C2}"/>
                </a:ext>
              </a:extLst>
            </p:cNvPr>
            <p:cNvSpPr txBox="1"/>
            <p:nvPr/>
          </p:nvSpPr>
          <p:spPr>
            <a:xfrm>
              <a:off x="4478196" y="2483025"/>
              <a:ext cx="4888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Yes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238B8DB-029E-4718-8425-5B3DFB23E8D9}"/>
                </a:ext>
              </a:extLst>
            </p:cNvPr>
            <p:cNvSpPr txBox="1"/>
            <p:nvPr/>
          </p:nvSpPr>
          <p:spPr>
            <a:xfrm>
              <a:off x="4482994" y="3270433"/>
              <a:ext cx="4888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No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99CEE03-DD0B-49EE-92D1-AB750EC9C8E0}"/>
                </a:ext>
              </a:extLst>
            </p:cNvPr>
            <p:cNvSpPr/>
            <p:nvPr/>
          </p:nvSpPr>
          <p:spPr>
            <a:xfrm>
              <a:off x="1043608" y="1412776"/>
              <a:ext cx="1415482" cy="2003435"/>
            </a:xfrm>
            <a:prstGeom prst="rect">
              <a:avLst/>
            </a:prstGeom>
            <a:solidFill>
              <a:schemeClr val="bg1"/>
            </a:solidFill>
            <a:ln w="9525"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i="1" dirty="0">
                  <a:solidFill>
                    <a:schemeClr val="tx1"/>
                  </a:solidFill>
                </a:rPr>
                <a:t>A consumer is </a:t>
              </a:r>
              <a:r>
                <a:rPr lang="en-US" sz="1200" i="1" dirty="0">
                  <a:solidFill>
                    <a:schemeClr val="tx1"/>
                  </a:solidFill>
                </a:rPr>
                <a:t>any natural person who is acting for purposes which are outside his trade, business or profession</a:t>
              </a:r>
              <a:endParaRPr lang="en-GB" sz="1200" i="1" dirty="0">
                <a:solidFill>
                  <a:schemeClr val="tx1"/>
                </a:solidFill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5301AF7E-2E13-43A7-8E7B-B0917A9AAF30}"/>
                </a:ext>
              </a:extLst>
            </p:cNvPr>
            <p:cNvCxnSpPr>
              <a:cxnSpLocks/>
              <a:stCxn id="26" idx="2"/>
            </p:cNvCxnSpPr>
            <p:nvPr/>
          </p:nvCxnSpPr>
          <p:spPr>
            <a:xfrm>
              <a:off x="4463988" y="3241074"/>
              <a:ext cx="12568" cy="35694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A6A6AA51-7D57-4245-BBD0-48C61B4BCB76}"/>
                </a:ext>
              </a:extLst>
            </p:cNvPr>
            <p:cNvSpPr/>
            <p:nvPr/>
          </p:nvSpPr>
          <p:spPr>
            <a:xfrm>
              <a:off x="6872947" y="5424365"/>
              <a:ext cx="1584176" cy="644793"/>
            </a:xfrm>
            <a:prstGeom prst="round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The term is not unfair </a:t>
              </a:r>
              <a:r>
                <a:rPr lang="en-GB" sz="1200" dirty="0">
                  <a:solidFill>
                    <a:schemeClr val="bg1"/>
                  </a:solidFill>
                </a:rPr>
                <a:t>in the sense of Directive 93/13</a:t>
              </a:r>
              <a:endParaRPr lang="en-GB" sz="1200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818FDEA-B082-4F3A-B592-C397D20FFC56}"/>
                </a:ext>
              </a:extLst>
            </p:cNvPr>
            <p:cNvSpPr/>
            <p:nvPr/>
          </p:nvSpPr>
          <p:spPr>
            <a:xfrm>
              <a:off x="2799904" y="3582165"/>
              <a:ext cx="3305504" cy="501164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solidFill>
                    <a:schemeClr val="tx1"/>
                  </a:solidFill>
                </a:rPr>
                <a:t>Is the term individually negotiated (i.e. does it concern the</a:t>
              </a:r>
              <a:r>
                <a:rPr lang="en-US" sz="1200" dirty="0">
                  <a:solidFill>
                    <a:schemeClr val="tx1"/>
                  </a:solidFill>
                </a:rPr>
                <a:t> main subject of the contract)</a:t>
              </a:r>
              <a:r>
                <a:rPr lang="en-GB" sz="1200" dirty="0">
                  <a:solidFill>
                    <a:schemeClr val="tx1"/>
                  </a:solidFill>
                </a:rPr>
                <a:t>?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74A9441A-9AC9-4115-9214-19797F84F8AF}"/>
                </a:ext>
              </a:extLst>
            </p:cNvPr>
            <p:cNvCxnSpPr>
              <a:cxnSpLocks/>
              <a:stCxn id="44" idx="2"/>
              <a:endCxn id="41" idx="0"/>
            </p:cNvCxnSpPr>
            <p:nvPr/>
          </p:nvCxnSpPr>
          <p:spPr>
            <a:xfrm flipH="1">
              <a:off x="4480093" y="4979351"/>
              <a:ext cx="2901" cy="44100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426A6AEC-10CA-416E-ADCF-C1835668B43C}"/>
                </a:ext>
              </a:extLst>
            </p:cNvPr>
            <p:cNvSpPr/>
            <p:nvPr/>
          </p:nvSpPr>
          <p:spPr>
            <a:xfrm>
              <a:off x="618443" y="4877458"/>
              <a:ext cx="1584176" cy="644793"/>
            </a:xfrm>
            <a:prstGeom prst="round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The term is unfair in the sense of Directive 93/13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3AFF480-20FC-4966-9E37-F41B64A93E7D}"/>
                </a:ext>
              </a:extLst>
            </p:cNvPr>
            <p:cNvSpPr txBox="1"/>
            <p:nvPr/>
          </p:nvSpPr>
          <p:spPr>
            <a:xfrm>
              <a:off x="6129943" y="3585466"/>
              <a:ext cx="4888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Yes</a:t>
              </a: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B05645C1-139B-4567-A835-001C58F780F0}"/>
                </a:ext>
              </a:extLst>
            </p:cNvPr>
            <p:cNvCxnSpPr/>
            <p:nvPr/>
          </p:nvCxnSpPr>
          <p:spPr>
            <a:xfrm>
              <a:off x="4482994" y="4069413"/>
              <a:ext cx="0" cy="43205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34C99AD-84EA-487B-84FC-7B806D3A28D1}"/>
                </a:ext>
              </a:extLst>
            </p:cNvPr>
            <p:cNvSpPr txBox="1"/>
            <p:nvPr/>
          </p:nvSpPr>
          <p:spPr>
            <a:xfrm>
              <a:off x="4490145" y="4099365"/>
              <a:ext cx="4888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No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D9D2F2A-9850-4D46-9D57-D0976DF521A4}"/>
                </a:ext>
              </a:extLst>
            </p:cNvPr>
            <p:cNvSpPr/>
            <p:nvPr/>
          </p:nvSpPr>
          <p:spPr>
            <a:xfrm>
              <a:off x="3063282" y="4502158"/>
              <a:ext cx="2839423" cy="477193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solidFill>
                    <a:schemeClr val="tx1"/>
                  </a:solidFill>
                </a:rPr>
                <a:t>Does the term fall within the categories listed in the annex to the Directive?</a:t>
              </a:r>
            </a:p>
          </p:txBody>
        </p:sp>
        <p:cxnSp>
          <p:nvCxnSpPr>
            <p:cNvPr id="31" name="Connector: Elbow 30">
              <a:extLst>
                <a:ext uri="{FF2B5EF4-FFF2-40B4-BE49-F238E27FC236}">
                  <a16:creationId xmlns:a16="http://schemas.microsoft.com/office/drawing/2014/main" id="{D40CAC50-255E-40BB-9E40-5D3EDF84948D}"/>
                </a:ext>
              </a:extLst>
            </p:cNvPr>
            <p:cNvCxnSpPr>
              <a:cxnSpLocks/>
              <a:stCxn id="34" idx="3"/>
            </p:cNvCxnSpPr>
            <p:nvPr/>
          </p:nvCxnSpPr>
          <p:spPr>
            <a:xfrm flipV="1">
              <a:off x="6105408" y="2483025"/>
              <a:ext cx="1454679" cy="1349722"/>
            </a:xfrm>
            <a:prstGeom prst="bentConnector3">
              <a:avLst>
                <a:gd name="adj1" fmla="val 99735"/>
              </a:avLst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089FCC4-6762-4924-BB8B-A00FBF4E8244}"/>
                </a:ext>
              </a:extLst>
            </p:cNvPr>
            <p:cNvSpPr txBox="1"/>
            <p:nvPr/>
          </p:nvSpPr>
          <p:spPr>
            <a:xfrm>
              <a:off x="2648569" y="4422457"/>
              <a:ext cx="4888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Yes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7542C5B-5D85-4B7E-B768-DF2C05E666C7}"/>
                </a:ext>
              </a:extLst>
            </p:cNvPr>
            <p:cNvSpPr/>
            <p:nvPr/>
          </p:nvSpPr>
          <p:spPr>
            <a:xfrm>
              <a:off x="2830242" y="5420359"/>
              <a:ext cx="3299701" cy="837993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GB" sz="1200" dirty="0">
                  <a:solidFill>
                    <a:schemeClr val="tx1"/>
                  </a:solidFill>
                </a:rPr>
                <a:t>Is the term </a:t>
              </a:r>
              <a:r>
                <a:rPr lang="en-US" sz="1200" dirty="0">
                  <a:solidFill>
                    <a:schemeClr val="tx1"/>
                  </a:solidFill>
                </a:rPr>
                <a:t>contrary to the requirement of good faith and does it cause a significant imbalance in the parties’ rights and obligations arising under the contract, to the detriment of the consumer?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47" name="Connector: Elbow 46">
              <a:extLst>
                <a:ext uri="{FF2B5EF4-FFF2-40B4-BE49-F238E27FC236}">
                  <a16:creationId xmlns:a16="http://schemas.microsoft.com/office/drawing/2014/main" id="{9C623D0A-8F87-4D26-9174-EE250FC3CB2B}"/>
                </a:ext>
              </a:extLst>
            </p:cNvPr>
            <p:cNvCxnSpPr>
              <a:cxnSpLocks/>
              <a:stCxn id="41" idx="3"/>
            </p:cNvCxnSpPr>
            <p:nvPr/>
          </p:nvCxnSpPr>
          <p:spPr>
            <a:xfrm flipV="1">
              <a:off x="6129943" y="5839355"/>
              <a:ext cx="733142" cy="1"/>
            </a:xfrm>
            <a:prstGeom prst="bentConnector3">
              <a:avLst>
                <a:gd name="adj1" fmla="val 50000"/>
              </a:avLst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Connector: Elbow 55">
              <a:extLst>
                <a:ext uri="{FF2B5EF4-FFF2-40B4-BE49-F238E27FC236}">
                  <a16:creationId xmlns:a16="http://schemas.microsoft.com/office/drawing/2014/main" id="{3DD8D507-2F13-4490-B45C-A17819767685}"/>
                </a:ext>
              </a:extLst>
            </p:cNvPr>
            <p:cNvCxnSpPr>
              <a:cxnSpLocks/>
              <a:stCxn id="41" idx="1"/>
              <a:endCxn id="39" idx="2"/>
            </p:cNvCxnSpPr>
            <p:nvPr/>
          </p:nvCxnSpPr>
          <p:spPr>
            <a:xfrm rot="10800000">
              <a:off x="1410532" y="5522252"/>
              <a:ext cx="1419711" cy="317105"/>
            </a:xfrm>
            <a:prstGeom prst="bentConnector2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Connector: Elbow 58">
              <a:extLst>
                <a:ext uri="{FF2B5EF4-FFF2-40B4-BE49-F238E27FC236}">
                  <a16:creationId xmlns:a16="http://schemas.microsoft.com/office/drawing/2014/main" id="{074C0E28-A1D4-4026-A7C3-456195383CAC}"/>
                </a:ext>
              </a:extLst>
            </p:cNvPr>
            <p:cNvCxnSpPr>
              <a:cxnSpLocks/>
              <a:endCxn id="39" idx="0"/>
            </p:cNvCxnSpPr>
            <p:nvPr/>
          </p:nvCxnSpPr>
          <p:spPr>
            <a:xfrm rot="10800000" flipV="1">
              <a:off x="1410532" y="4740754"/>
              <a:ext cx="1652751" cy="136703"/>
            </a:xfrm>
            <a:prstGeom prst="bentConnector2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7A4042C-FC92-4BF2-A41C-C1FDE283FD07}"/>
                </a:ext>
              </a:extLst>
            </p:cNvPr>
            <p:cNvSpPr txBox="1"/>
            <p:nvPr/>
          </p:nvSpPr>
          <p:spPr>
            <a:xfrm>
              <a:off x="2404124" y="5563319"/>
              <a:ext cx="4888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Yes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7FAC3BA-2A6E-4CC8-8842-B917BFC117D3}"/>
                </a:ext>
              </a:extLst>
            </p:cNvPr>
            <p:cNvSpPr txBox="1"/>
            <p:nvPr/>
          </p:nvSpPr>
          <p:spPr>
            <a:xfrm>
              <a:off x="6129943" y="5576318"/>
              <a:ext cx="4888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No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5D825099-0F1E-437D-BD1F-66A79F68A12D}"/>
                </a:ext>
              </a:extLst>
            </p:cNvPr>
            <p:cNvSpPr txBox="1"/>
            <p:nvPr/>
          </p:nvSpPr>
          <p:spPr>
            <a:xfrm>
              <a:off x="4490578" y="5059052"/>
              <a:ext cx="4888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No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443563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83075-71B2-4E7C-B57A-C493C3486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Summary Part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615C5-CFF8-404D-9B0D-35DA22E283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196751"/>
            <a:ext cx="8352928" cy="5406129"/>
          </a:xfrm>
        </p:spPr>
        <p:txBody>
          <a:bodyPr/>
          <a:lstStyle/>
          <a:p>
            <a:r>
              <a:rPr lang="nl-BE" dirty="0" err="1"/>
              <a:t>Coding</a:t>
            </a:r>
            <a:r>
              <a:rPr lang="nl-BE" dirty="0"/>
              <a:t> </a:t>
            </a:r>
            <a:r>
              <a:rPr lang="nl-BE" dirty="0" err="1"/>
              <a:t>decision</a:t>
            </a:r>
            <a:r>
              <a:rPr lang="nl-BE" dirty="0"/>
              <a:t> trees: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First </a:t>
            </a:r>
            <a:r>
              <a:rPr lang="nl-BE" dirty="0" err="1"/>
              <a:t>problem</a:t>
            </a:r>
            <a:r>
              <a:rPr lang="nl-BE" dirty="0"/>
              <a:t> analysis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 err="1"/>
              <a:t>Then</a:t>
            </a:r>
            <a:r>
              <a:rPr lang="nl-BE" dirty="0"/>
              <a:t> </a:t>
            </a:r>
            <a:r>
              <a:rPr lang="nl-BE" dirty="0" err="1"/>
              <a:t>coding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logic</a:t>
            </a:r>
          </a:p>
          <a:p>
            <a:endParaRPr lang="nl-BE" dirty="0"/>
          </a:p>
          <a:p>
            <a:r>
              <a:rPr lang="nl-BE" dirty="0" err="1"/>
              <a:t>Current</a:t>
            </a:r>
            <a:r>
              <a:rPr lang="nl-BE" dirty="0"/>
              <a:t> </a:t>
            </a:r>
            <a:r>
              <a:rPr lang="nl-BE" dirty="0" err="1"/>
              <a:t>developments</a:t>
            </a:r>
            <a:r>
              <a:rPr lang="nl-BE" dirty="0"/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Using </a:t>
            </a:r>
            <a:r>
              <a:rPr lang="nl-BE" dirty="0" err="1"/>
              <a:t>generative</a:t>
            </a:r>
            <a:r>
              <a:rPr lang="nl-BE" dirty="0"/>
              <a:t> AI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write</a:t>
            </a:r>
            <a:r>
              <a:rPr lang="nl-BE" dirty="0"/>
              <a:t> code</a:t>
            </a:r>
          </a:p>
          <a:p>
            <a:pPr marL="673200" lvl="1" indent="-457200">
              <a:buFont typeface="Arial" panose="020B0604020202020204" pitchFamily="34" charset="0"/>
              <a:buChar char="•"/>
            </a:pPr>
            <a:r>
              <a:rPr lang="nl-BE" dirty="0" err="1"/>
              <a:t>Need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know</a:t>
            </a:r>
            <a:r>
              <a:rPr lang="nl-BE" dirty="0"/>
              <a:t> </a:t>
            </a:r>
            <a:r>
              <a:rPr lang="nl-BE" dirty="0" err="1"/>
              <a:t>how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phrase</a:t>
            </a:r>
            <a:r>
              <a:rPr lang="nl-BE" dirty="0"/>
              <a:t> (</a:t>
            </a:r>
            <a:r>
              <a:rPr lang="nl-BE" dirty="0" err="1"/>
              <a:t>divide</a:t>
            </a:r>
            <a:r>
              <a:rPr lang="nl-BE" dirty="0"/>
              <a:t> in </a:t>
            </a:r>
            <a:r>
              <a:rPr lang="nl-BE" dirty="0" err="1"/>
              <a:t>blocks</a:t>
            </a:r>
            <a:r>
              <a:rPr lang="nl-BE" dirty="0"/>
              <a:t>)</a:t>
            </a:r>
          </a:p>
          <a:p>
            <a:pPr marL="673200" lvl="1" indent="-457200">
              <a:buFont typeface="Arial" panose="020B0604020202020204" pitchFamily="34" charset="0"/>
              <a:buChar char="•"/>
            </a:pPr>
            <a:r>
              <a:rPr lang="nl-BE" dirty="0"/>
              <a:t>Understand code </a:t>
            </a:r>
            <a:r>
              <a:rPr lang="nl-BE" dirty="0" err="1"/>
              <a:t>and</a:t>
            </a:r>
            <a:r>
              <a:rPr lang="nl-BE" dirty="0"/>
              <a:t> make small </a:t>
            </a:r>
            <a:r>
              <a:rPr lang="nl-BE" dirty="0" err="1"/>
              <a:t>modifications</a:t>
            </a:r>
            <a:endParaRPr lang="nl-BE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E3FE4-9B38-42E5-BD59-B6C878C2A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105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79760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432"/>
    </mc:Choice>
    <mc:Fallback xmlns="">
      <p:transition spd="slow" advTm="49432"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A6D1E-EE4E-A392-9E91-CAFD7BFD4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Summary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64733-2CA8-F13D-0ACA-3E65AC3A7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Python has </a:t>
            </a:r>
            <a:r>
              <a:rPr lang="nl-BE" dirty="0" err="1"/>
              <a:t>many</a:t>
            </a:r>
            <a:r>
              <a:rPr lang="nl-BE" dirty="0"/>
              <a:t> </a:t>
            </a:r>
            <a:r>
              <a:rPr lang="nl-BE" dirty="0" err="1"/>
              <a:t>powerful</a:t>
            </a:r>
            <a:r>
              <a:rPr lang="nl-BE" dirty="0"/>
              <a:t> </a:t>
            </a:r>
            <a:r>
              <a:rPr lang="nl-BE" dirty="0" err="1"/>
              <a:t>libraries</a:t>
            </a:r>
            <a:r>
              <a:rPr lang="nl-BE" dirty="0"/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Easy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use</a:t>
            </a:r>
            <a:r>
              <a:rPr lang="nl-BE" dirty="0"/>
              <a:t> : </a:t>
            </a:r>
            <a:r>
              <a:rPr lang="nl-BE" i="1" dirty="0"/>
              <a:t>import [name of </a:t>
            </a:r>
            <a:r>
              <a:rPr lang="nl-BE" i="1" dirty="0" err="1"/>
              <a:t>library</a:t>
            </a:r>
            <a:r>
              <a:rPr lang="nl-BE" i="1" dirty="0"/>
              <a:t>]</a:t>
            </a:r>
          </a:p>
          <a:p>
            <a:endParaRPr lang="nl-BE" dirty="0"/>
          </a:p>
          <a:p>
            <a:r>
              <a:rPr lang="nl-BE" dirty="0" err="1"/>
              <a:t>Learn</a:t>
            </a:r>
            <a:r>
              <a:rPr lang="nl-BE" dirty="0"/>
              <a:t> more?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Online courses; e.g. : </a:t>
            </a:r>
            <a:r>
              <a:rPr lang="nl-BE" dirty="0">
                <a:hlinkClick r:id="rId2"/>
              </a:rPr>
              <a:t>https://snakify.org/</a:t>
            </a:r>
            <a:endParaRPr lang="nl-BE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 err="1"/>
              <a:t>You</a:t>
            </a:r>
            <a:r>
              <a:rPr lang="nl-BE" dirty="0"/>
              <a:t> </a:t>
            </a:r>
            <a:r>
              <a:rPr lang="nl-BE" dirty="0" err="1"/>
              <a:t>can</a:t>
            </a:r>
            <a:r>
              <a:rPr lang="nl-BE" dirty="0"/>
              <a:t> </a:t>
            </a:r>
            <a:r>
              <a:rPr lang="nl-BE" dirty="0" err="1"/>
              <a:t>use</a:t>
            </a:r>
            <a:r>
              <a:rPr lang="nl-BE" dirty="0"/>
              <a:t> </a:t>
            </a:r>
            <a:r>
              <a:rPr lang="nl-BE" dirty="0" err="1"/>
              <a:t>genAI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assist </a:t>
            </a:r>
            <a:r>
              <a:rPr lang="nl-BE" dirty="0" err="1"/>
              <a:t>your</a:t>
            </a:r>
            <a:r>
              <a:rPr lang="nl-BE" dirty="0"/>
              <a:t> code </a:t>
            </a:r>
            <a:r>
              <a:rPr lang="nl-BE" dirty="0" err="1"/>
              <a:t>writing</a:t>
            </a:r>
            <a:endParaRPr lang="nl-BE" dirty="0"/>
          </a:p>
          <a:p>
            <a:pPr marL="673200" lvl="1" indent="-457200">
              <a:buFont typeface="Arial" panose="020B0604020202020204" pitchFamily="34" charset="0"/>
              <a:buChar char="•"/>
            </a:pPr>
            <a:r>
              <a:rPr lang="nl-BE" dirty="0"/>
              <a:t>Debug </a:t>
            </a:r>
            <a:r>
              <a:rPr lang="nl-BE" dirty="0" err="1"/>
              <a:t>your</a:t>
            </a:r>
            <a:r>
              <a:rPr lang="nl-BE" dirty="0"/>
              <a:t> code, </a:t>
            </a:r>
            <a:r>
              <a:rPr lang="nl-BE" dirty="0" err="1"/>
              <a:t>write</a:t>
            </a:r>
            <a:r>
              <a:rPr lang="nl-BE" dirty="0"/>
              <a:t> tests</a:t>
            </a:r>
          </a:p>
          <a:p>
            <a:pPr marL="673200" lvl="1" indent="-457200">
              <a:buFont typeface="Arial" panose="020B0604020202020204" pitchFamily="34" charset="0"/>
              <a:buChar char="•"/>
            </a:pPr>
            <a:r>
              <a:rPr lang="nl-BE" dirty="0" err="1"/>
              <a:t>Use</a:t>
            </a:r>
            <a:r>
              <a:rPr lang="nl-BE" dirty="0"/>
              <a:t> </a:t>
            </a:r>
            <a:r>
              <a:rPr lang="nl-BE" dirty="0" err="1"/>
              <a:t>it</a:t>
            </a:r>
            <a:r>
              <a:rPr lang="nl-BE" dirty="0"/>
              <a:t> </a:t>
            </a:r>
            <a:r>
              <a:rPr lang="nl-BE" dirty="0" err="1"/>
              <a:t>for</a:t>
            </a:r>
            <a:r>
              <a:rPr lang="nl-BE" dirty="0"/>
              <a:t> boring, </a:t>
            </a:r>
            <a:r>
              <a:rPr lang="nl-BE" dirty="0" err="1"/>
              <a:t>repetitive</a:t>
            </a:r>
            <a:r>
              <a:rPr lang="nl-BE" dirty="0"/>
              <a:t> </a:t>
            </a:r>
            <a:r>
              <a:rPr lang="nl-BE" dirty="0" err="1"/>
              <a:t>tasks</a:t>
            </a:r>
            <a:endParaRPr lang="nl-BE" dirty="0"/>
          </a:p>
          <a:p>
            <a:pPr marL="673200" lvl="1" indent="-457200">
              <a:buFont typeface="Arial" panose="020B0604020202020204" pitchFamily="34" charset="0"/>
              <a:buChar char="•"/>
            </a:pPr>
            <a:r>
              <a:rPr lang="nl-BE" dirty="0" err="1"/>
              <a:t>Develop</a:t>
            </a:r>
            <a:r>
              <a:rPr lang="nl-BE" dirty="0"/>
              <a:t> </a:t>
            </a:r>
            <a:r>
              <a:rPr lang="nl-BE" dirty="0" err="1"/>
              <a:t>an</a:t>
            </a:r>
            <a:r>
              <a:rPr lang="nl-BE" dirty="0"/>
              <a:t> interface </a:t>
            </a:r>
            <a:r>
              <a:rPr lang="nl-BE" dirty="0" err="1"/>
              <a:t>for</a:t>
            </a:r>
            <a:r>
              <a:rPr lang="nl-BE" dirty="0"/>
              <a:t> </a:t>
            </a:r>
            <a:r>
              <a:rPr lang="nl-BE" dirty="0" err="1"/>
              <a:t>your</a:t>
            </a:r>
            <a:r>
              <a:rPr lang="nl-BE" dirty="0"/>
              <a:t> program</a:t>
            </a:r>
          </a:p>
          <a:p>
            <a:pPr marL="673200" lvl="1" indent="-457200">
              <a:buFont typeface="Arial" panose="020B0604020202020204" pitchFamily="34" charset="0"/>
              <a:buChar char="•"/>
            </a:pPr>
            <a:r>
              <a:rPr lang="nl-BE" dirty="0" err="1"/>
              <a:t>Suggest</a:t>
            </a:r>
            <a:r>
              <a:rPr lang="nl-BE" dirty="0"/>
              <a:t> </a:t>
            </a:r>
            <a:r>
              <a:rPr lang="nl-BE" dirty="0" err="1"/>
              <a:t>libraries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use</a:t>
            </a:r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03BEAF-4AC0-A77B-BA20-F318C7F1D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106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1994151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93946-913B-663F-F833-78818CE04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107</a:t>
            </a:fld>
            <a:endParaRPr lang="nl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BB92F5-9C22-9E7E-B295-01B7F9D92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028" y="0"/>
            <a:ext cx="66779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68393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ijdelijke aanduiding voor afbeelding 2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" r="358"/>
          <a:stretch/>
        </p:blipFill>
        <p:spPr/>
      </p:pic>
      <p:pic>
        <p:nvPicPr>
          <p:cNvPr id="28" name="Afbeelding 27" descr="logo_UA_U_wit.eps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733" r="-1"/>
          <a:stretch/>
        </p:blipFill>
        <p:spPr>
          <a:xfrm>
            <a:off x="3229004" y="823913"/>
            <a:ext cx="2685991" cy="1803391"/>
          </a:xfrm>
          <a:prstGeom prst="rect">
            <a:avLst/>
          </a:prstGeom>
        </p:spPr>
      </p:pic>
      <p:pic>
        <p:nvPicPr>
          <p:cNvPr id="4" name="Picture Placeholder 3"/>
          <p:cNvPicPr>
            <a:picLocks noGrp="1" noChangeAspect="1"/>
          </p:cNvPicPr>
          <p:nvPr>
            <p:ph type="pic" sz="quarter" idx="13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" b="19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6401272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9|2.2|5.2|4.2"/>
</p:tagLst>
</file>

<file path=ppt/theme/theme1.xml><?xml version="1.0" encoding="utf-8"?>
<a:theme xmlns:a="http://schemas.openxmlformats.org/drawingml/2006/main" name="Kantoorthema">
  <a:themeElements>
    <a:clrScheme name="UA">
      <a:dk1>
        <a:sysClr val="windowText" lastClr="000000"/>
      </a:dk1>
      <a:lt1>
        <a:sysClr val="window" lastClr="FFFFFF"/>
      </a:lt1>
      <a:dk2>
        <a:srgbClr val="004466"/>
      </a:dk2>
      <a:lt2>
        <a:srgbClr val="BBCCCC"/>
      </a:lt2>
      <a:accent1>
        <a:srgbClr val="004466"/>
      </a:accent1>
      <a:accent2>
        <a:srgbClr val="881133"/>
      </a:accent2>
      <a:accent3>
        <a:srgbClr val="889999"/>
      </a:accent3>
      <a:accent4>
        <a:srgbClr val="3399CC"/>
      </a:accent4>
      <a:accent5>
        <a:srgbClr val="DD9911"/>
      </a:accent5>
      <a:accent6>
        <a:srgbClr val="AAAA00"/>
      </a:accent6>
      <a:hlink>
        <a:srgbClr val="004466"/>
      </a:hlink>
      <a:folHlink>
        <a:srgbClr val="881133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Control xmlns="http://schemas.microsoft.com/VisualStudio/2011/storyboarding/control">
  <Id Name="bc537ae7-eafc-496e-8663-898e09642a75" Revision="1" Stencil="System.MyShapes" StencilVersion="1.0"/>
</Control>
</file>

<file path=customXml/itemProps1.xml><?xml version="1.0" encoding="utf-8"?>
<ds:datastoreItem xmlns:ds="http://schemas.openxmlformats.org/officeDocument/2006/customXml" ds:itemID="{7F515F82-9A60-414D-9665-6B7F30CFB78E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2912</Words>
  <Application>Microsoft Office PowerPoint</Application>
  <PresentationFormat>On-screen Show (4:3)</PresentationFormat>
  <Paragraphs>906</Paragraphs>
  <Slides>108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108</vt:i4>
      </vt:variant>
    </vt:vector>
  </HeadingPairs>
  <TitlesOfParts>
    <vt:vector size="113" baseType="lpstr">
      <vt:lpstr>Arial</vt:lpstr>
      <vt:lpstr>Calibri</vt:lpstr>
      <vt:lpstr>Courier New</vt:lpstr>
      <vt:lpstr>Wingdings</vt:lpstr>
      <vt:lpstr>Kantoorthema</vt:lpstr>
      <vt:lpstr>Hands-on session: programming</vt:lpstr>
      <vt:lpstr>Goal of this lecture</vt:lpstr>
      <vt:lpstr>Goal of this lecture</vt:lpstr>
      <vt:lpstr>We Will Use Google Colab</vt:lpstr>
      <vt:lpstr>Part 1 – Basic Constructions</vt:lpstr>
      <vt:lpstr>In the first part we will write …</vt:lpstr>
      <vt:lpstr>The instructions:</vt:lpstr>
      <vt:lpstr>Quick question</vt:lpstr>
      <vt:lpstr>Quick question</vt:lpstr>
      <vt:lpstr>Assignment #1                (q1.py)</vt:lpstr>
      <vt:lpstr>Solution Assignment #1</vt:lpstr>
      <vt:lpstr>We are repeating ourselves …</vt:lpstr>
      <vt:lpstr>Repetition loop</vt:lpstr>
      <vt:lpstr>New functions</vt:lpstr>
      <vt:lpstr>Example: Repetition Loop</vt:lpstr>
      <vt:lpstr>Assignments 2a &amp; 2b</vt:lpstr>
      <vt:lpstr>Solution #2a</vt:lpstr>
      <vt:lpstr>Solution #2a</vt:lpstr>
      <vt:lpstr>Solution #2a</vt:lpstr>
      <vt:lpstr>Solution #2a</vt:lpstr>
      <vt:lpstr>Solution #2a</vt:lpstr>
      <vt:lpstr>Solution #2a</vt:lpstr>
      <vt:lpstr>Solution #2a : less code!</vt:lpstr>
      <vt:lpstr>Solution #2a :  less code</vt:lpstr>
      <vt:lpstr>Solution #2a :  less code</vt:lpstr>
      <vt:lpstr>Solution #2a :  less code</vt:lpstr>
      <vt:lpstr>Solution #2a :  less code</vt:lpstr>
      <vt:lpstr>Solution #2a :  less code</vt:lpstr>
      <vt:lpstr>Solution #2a :  less code</vt:lpstr>
      <vt:lpstr>Solution #2a :  less code</vt:lpstr>
      <vt:lpstr>Solution #2a :  less code</vt:lpstr>
      <vt:lpstr>Solution #2a :  less code</vt:lpstr>
      <vt:lpstr>Solution #2a :  less code</vt:lpstr>
      <vt:lpstr>Solution #2a :  less code</vt:lpstr>
      <vt:lpstr>Solution #2a :  less code</vt:lpstr>
      <vt:lpstr>Solution #2a :  less code</vt:lpstr>
      <vt:lpstr>Solution #2a :  less code</vt:lpstr>
      <vt:lpstr>Solution #2a :  less code</vt:lpstr>
      <vt:lpstr>Solution #2a :  less code</vt:lpstr>
      <vt:lpstr>Assignment #2c    (q2c.py)</vt:lpstr>
      <vt:lpstr>Solution #2c</vt:lpstr>
      <vt:lpstr>Solving Arbitrary Mazes</vt:lpstr>
      <vt:lpstr>if – elif - else</vt:lpstr>
      <vt:lpstr>if – elif - else</vt:lpstr>
      <vt:lpstr>Assignment #3 a   q3a.py</vt:lpstr>
      <vt:lpstr>Solution #3a</vt:lpstr>
      <vt:lpstr>Assignment #3 b   q3b.py</vt:lpstr>
      <vt:lpstr>The next slides are extra for those interested in a generic solution for any maze*   * with entrance and exit at the exterior wall</vt:lpstr>
      <vt:lpstr>Righthand rule</vt:lpstr>
      <vt:lpstr>Righthand rule</vt:lpstr>
      <vt:lpstr>Righthand rule</vt:lpstr>
      <vt:lpstr>Righthand rule</vt:lpstr>
      <vt:lpstr>Righthand rule</vt:lpstr>
      <vt:lpstr>Righthand rule</vt:lpstr>
      <vt:lpstr>Righthand rule</vt:lpstr>
      <vt:lpstr>Righthand rule</vt:lpstr>
      <vt:lpstr>Righthand rule</vt:lpstr>
      <vt:lpstr>Righthand rule</vt:lpstr>
      <vt:lpstr>Righthand rule</vt:lpstr>
      <vt:lpstr>Righthand rule</vt:lpstr>
      <vt:lpstr>Assignment #4  - together  q4.py</vt:lpstr>
      <vt:lpstr>Solution #4</vt:lpstr>
      <vt:lpstr>Summary Part 1</vt:lpstr>
      <vt:lpstr>PowerPoint Presentation</vt:lpstr>
      <vt:lpstr>Part 2 - Variables</vt:lpstr>
      <vt:lpstr>Part 2 - Variables</vt:lpstr>
      <vt:lpstr>Variables - Example</vt:lpstr>
      <vt:lpstr>Exercise 5 – Generation</vt:lpstr>
      <vt:lpstr>Example : interest rate</vt:lpstr>
      <vt:lpstr>Reference – operations</vt:lpstr>
      <vt:lpstr>Payment Table</vt:lpstr>
      <vt:lpstr>Payment Table</vt:lpstr>
      <vt:lpstr>Payment Table</vt:lpstr>
      <vt:lpstr>Payment Table</vt:lpstr>
      <vt:lpstr>Payment Table</vt:lpstr>
      <vt:lpstr>Payment Table</vt:lpstr>
      <vt:lpstr>Payment Table</vt:lpstr>
      <vt:lpstr>Payment Table</vt:lpstr>
      <vt:lpstr>Payment Table</vt:lpstr>
      <vt:lpstr>Payment Table</vt:lpstr>
      <vt:lpstr>Payment Table</vt:lpstr>
      <vt:lpstr>Payment Table</vt:lpstr>
      <vt:lpstr>Payment Table</vt:lpstr>
      <vt:lpstr>Payment Table</vt:lpstr>
      <vt:lpstr>Payment Table</vt:lpstr>
      <vt:lpstr>Payment Table</vt:lpstr>
      <vt:lpstr>Payment Table</vt:lpstr>
      <vt:lpstr>Note: for versus while</vt:lpstr>
      <vt:lpstr>Exercise 6 – interest rate</vt:lpstr>
      <vt:lpstr>Summary Part 2</vt:lpstr>
      <vt:lpstr>Part 3 - Coding Decision Trees</vt:lpstr>
      <vt:lpstr>PowerPoint Presentation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Decision trees in law practice </vt:lpstr>
      <vt:lpstr>Case 1 </vt:lpstr>
      <vt:lpstr>Q7: GDPR </vt:lpstr>
      <vt:lpstr>Case 2 </vt:lpstr>
      <vt:lpstr>Q8 - Unfair contract terms</vt:lpstr>
      <vt:lpstr>Q8 - Unfair contract terms</vt:lpstr>
      <vt:lpstr>Summary Part 3</vt:lpstr>
      <vt:lpstr>Summary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2013-10-11T12:12:31Z</dcterms:created>
  <dcterms:modified xsi:type="dcterms:W3CDTF">2026-03-12T09:04:53Z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